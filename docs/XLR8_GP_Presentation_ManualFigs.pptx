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583515" cy="6858000"/>
          </a:xfrm>
          <a:prstGeom prst="rect">
            <a:avLst/>
          </a:prstGeom>
          <a:solidFill>
            <a:srgbClr val="08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48A9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98564"/>
            <a:ext cx="12191695" cy="59436"/>
          </a:xfrm>
          <a:prstGeom prst="rect">
            <a:avLst/>
          </a:prstGeom>
          <a:solidFill>
            <a:srgbClr val="50F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56032" y="256032"/>
            <a:ext cx="685800" cy="54864"/>
          </a:xfrm>
          <a:prstGeom prst="rect">
            <a:avLst/>
          </a:prstGeom>
          <a:solidFill>
            <a:srgbClr val="50F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56032" y="256032"/>
            <a:ext cx="54864" cy="685800"/>
          </a:xfrm>
          <a:prstGeom prst="rect">
            <a:avLst/>
          </a:prstGeom>
          <a:solidFill>
            <a:srgbClr val="50F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249863" y="5916168"/>
            <a:ext cx="685800" cy="54864"/>
          </a:xfrm>
          <a:prstGeom prst="rect">
            <a:avLst/>
          </a:prstGeom>
          <a:solidFill>
            <a:srgbClr val="48A9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880799" y="5916168"/>
            <a:ext cx="54864" cy="685800"/>
          </a:xfrm>
          <a:prstGeom prst="rect">
            <a:avLst/>
          </a:prstGeom>
          <a:solidFill>
            <a:srgbClr val="48A9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688775" y="164592"/>
            <a:ext cx="502920" cy="29260"/>
          </a:xfrm>
          <a:prstGeom prst="rect">
            <a:avLst/>
          </a:prstGeom>
          <a:solidFill>
            <a:srgbClr val="48A9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1066983" y="676656"/>
            <a:ext cx="1124712" cy="27889"/>
          </a:xfrm>
          <a:prstGeom prst="rect">
            <a:avLst/>
          </a:prstGeom>
          <a:solidFill>
            <a:srgbClr val="143C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0445191" y="1188720"/>
            <a:ext cx="1746504" cy="26517"/>
          </a:xfrm>
          <a:prstGeom prst="rect">
            <a:avLst/>
          </a:prstGeom>
          <a:solidFill>
            <a:srgbClr val="48A9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9823399" y="1700784"/>
            <a:ext cx="2368296" cy="25146"/>
          </a:xfrm>
          <a:prstGeom prst="rect">
            <a:avLst/>
          </a:prstGeom>
          <a:solidFill>
            <a:srgbClr val="48A9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9201607" y="2212848"/>
            <a:ext cx="2990088" cy="23774"/>
          </a:xfrm>
          <a:prstGeom prst="rect">
            <a:avLst/>
          </a:prstGeom>
          <a:solidFill>
            <a:srgbClr val="143C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579815" y="2724912"/>
            <a:ext cx="3611880" cy="22402"/>
          </a:xfrm>
          <a:prstGeom prst="rect">
            <a:avLst/>
          </a:prstGeom>
          <a:solidFill>
            <a:srgbClr val="48A9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958023" y="3236976"/>
            <a:ext cx="4233672" cy="21031"/>
          </a:xfrm>
          <a:prstGeom prst="rect">
            <a:avLst/>
          </a:prstGeom>
          <a:solidFill>
            <a:srgbClr val="48A9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336231" y="3749040"/>
            <a:ext cx="4855464" cy="19659"/>
          </a:xfrm>
          <a:prstGeom prst="rect">
            <a:avLst/>
          </a:prstGeom>
          <a:solidFill>
            <a:srgbClr val="143C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714439" y="4261104"/>
            <a:ext cx="5477256" cy="18288"/>
          </a:xfrm>
          <a:prstGeom prst="rect">
            <a:avLst/>
          </a:prstGeom>
          <a:solidFill>
            <a:srgbClr val="48A9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092647" y="4773168"/>
            <a:ext cx="6099048" cy="16916"/>
          </a:xfrm>
          <a:prstGeom prst="rect">
            <a:avLst/>
          </a:prstGeom>
          <a:solidFill>
            <a:srgbClr val="48A9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470855" y="5285232"/>
            <a:ext cx="6720840" cy="15544"/>
          </a:xfrm>
          <a:prstGeom prst="rect">
            <a:avLst/>
          </a:prstGeom>
          <a:solidFill>
            <a:srgbClr val="143C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849063" y="5797296"/>
            <a:ext cx="7342632" cy="14173"/>
          </a:xfrm>
          <a:prstGeom prst="rect">
            <a:avLst/>
          </a:prstGeom>
          <a:solidFill>
            <a:srgbClr val="48A9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227271" y="6309360"/>
            <a:ext cx="7964424" cy="12801"/>
          </a:xfrm>
          <a:prstGeom prst="rect">
            <a:avLst/>
          </a:prstGeom>
          <a:solidFill>
            <a:srgbClr val="48A9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57200" y="6291072"/>
            <a:ext cx="100584" cy="100584"/>
          </a:xfrm>
          <a:prstGeom prst="rect">
            <a:avLst/>
          </a:prstGeom>
          <a:solidFill>
            <a:srgbClr val="50F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31520" y="6291072"/>
            <a:ext cx="100584" cy="100584"/>
          </a:xfrm>
          <a:prstGeom prst="rect">
            <a:avLst/>
          </a:prstGeom>
          <a:solidFill>
            <a:srgbClr val="50F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005840" y="6291072"/>
            <a:ext cx="100584" cy="100584"/>
          </a:xfrm>
          <a:prstGeom prst="rect">
            <a:avLst/>
          </a:prstGeom>
          <a:solidFill>
            <a:srgbClr val="50F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1280160" y="6291072"/>
            <a:ext cx="100584" cy="100584"/>
          </a:xfrm>
          <a:prstGeom prst="rect">
            <a:avLst/>
          </a:prstGeom>
          <a:solidFill>
            <a:srgbClr val="50F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1554480" y="6291072"/>
            <a:ext cx="100584" cy="100584"/>
          </a:xfrm>
          <a:prstGeom prst="rect">
            <a:avLst/>
          </a:prstGeom>
          <a:solidFill>
            <a:srgbClr val="50F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1828800" y="6291072"/>
            <a:ext cx="100584" cy="100584"/>
          </a:xfrm>
          <a:prstGeom prst="rect">
            <a:avLst/>
          </a:prstGeom>
          <a:solidFill>
            <a:srgbClr val="50F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2103120" y="6291072"/>
            <a:ext cx="100584" cy="100584"/>
          </a:xfrm>
          <a:prstGeom prst="rect">
            <a:avLst/>
          </a:prstGeom>
          <a:solidFill>
            <a:srgbClr val="50F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38912" y="411480"/>
            <a:ext cx="50292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800" b="1" i="0">
                <a:solidFill>
                  <a:srgbClr val="50FA1E"/>
                </a:solidFill>
                <a:latin typeface="Segoe UI"/>
              </a:rPr>
              <a:t>XLR8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38912" y="1920240"/>
            <a:ext cx="5029200" cy="64008"/>
          </a:xfrm>
          <a:prstGeom prst="rect">
            <a:avLst/>
          </a:prstGeom>
          <a:solidFill>
            <a:srgbClr val="50F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38912" y="2121408"/>
            <a:ext cx="6217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0" i="0">
                <a:solidFill>
                  <a:srgbClr val="88AABB"/>
                </a:solidFill>
                <a:latin typeface="Segoe UI"/>
              </a:rPr>
              <a:t>Design and Implementation of a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38912" y="2606040"/>
            <a:ext cx="621792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FAF9F6"/>
                </a:solidFill>
                <a:latin typeface="Segoe UI"/>
              </a:rPr>
              <a:t>ShuffleNet V2 Accelerator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38912" y="3474720"/>
            <a:ext cx="62179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48A9C9"/>
                </a:solidFill>
                <a:latin typeface="Segoe UI"/>
              </a:rPr>
              <a:t>using RTL and HLS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38912" y="4297680"/>
            <a:ext cx="5486400" cy="34747"/>
          </a:xfrm>
          <a:prstGeom prst="rect">
            <a:avLst/>
          </a:prstGeom>
          <a:solidFill>
            <a:srgbClr val="48A9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38912" y="4434840"/>
            <a:ext cx="5943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88AABB"/>
                </a:solidFill>
                <a:latin typeface="Segoe UI"/>
              </a:rPr>
              <a:t>Graduation Project Discussion  |  Faculty of Engineering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38912" y="4828032"/>
            <a:ext cx="5943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88AABB"/>
                </a:solidFill>
                <a:latin typeface="Segoe UI"/>
              </a:rPr>
              <a:t>Academic Year 2025 â€“ 2026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38912" y="5440680"/>
            <a:ext cx="4572000" cy="548640"/>
          </a:xfrm>
          <a:prstGeom prst="rect">
            <a:avLst/>
          </a:prstGeom>
          <a:solidFill>
            <a:srgbClr val="102A44"/>
          </a:solidFill>
          <a:ln w="19050">
            <a:solidFill>
              <a:srgbClr val="48A9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02920" y="5495544"/>
            <a:ext cx="443484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8A9C9"/>
                </a:solidFill>
                <a:latin typeface="Segoe UI"/>
              </a:rPr>
              <a:t>  Target :  Xilinx Zynq UltraScale+  ZU19EG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48A9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50F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551615" y="54864"/>
            <a:ext cx="594360" cy="20116"/>
          </a:xfrm>
          <a:prstGeom prst="rect">
            <a:avLst/>
          </a:prstGeom>
          <a:solidFill>
            <a:srgbClr val="48A9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1167567" y="173736"/>
            <a:ext cx="978408" cy="19019"/>
          </a:xfrm>
          <a:prstGeom prst="rect">
            <a:avLst/>
          </a:prstGeom>
          <a:solidFill>
            <a:srgbClr val="1E52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0783519" y="292608"/>
            <a:ext cx="1362456" cy="17922"/>
          </a:xfrm>
          <a:prstGeom prst="rect">
            <a:avLst/>
          </a:prstGeom>
          <a:solidFill>
            <a:srgbClr val="48A9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0399471" y="411480"/>
            <a:ext cx="1746504" cy="16824"/>
          </a:xfrm>
          <a:prstGeom prst="rect">
            <a:avLst/>
          </a:prstGeom>
          <a:solidFill>
            <a:srgbClr val="1E52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0015423" y="530352"/>
            <a:ext cx="2130552" cy="15727"/>
          </a:xfrm>
          <a:prstGeom prst="rect">
            <a:avLst/>
          </a:prstGeom>
          <a:solidFill>
            <a:srgbClr val="48A9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9631375" y="649224"/>
            <a:ext cx="2514600" cy="14630"/>
          </a:xfrm>
          <a:prstGeom prst="rect">
            <a:avLst/>
          </a:prstGeom>
          <a:solidFill>
            <a:srgbClr val="1E52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9247327" y="768096"/>
            <a:ext cx="2898648" cy="13533"/>
          </a:xfrm>
          <a:prstGeom prst="rect">
            <a:avLst/>
          </a:prstGeom>
          <a:solidFill>
            <a:srgbClr val="48A9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863279" y="886968"/>
            <a:ext cx="3282696" cy="12435"/>
          </a:xfrm>
          <a:prstGeom prst="rect">
            <a:avLst/>
          </a:prstGeom>
          <a:solidFill>
            <a:srgbClr val="1E52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479231" y="1005840"/>
            <a:ext cx="3666744" cy="11338"/>
          </a:xfrm>
          <a:prstGeom prst="rect">
            <a:avLst/>
          </a:prstGeom>
          <a:solidFill>
            <a:srgbClr val="48A9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095184" y="1124712"/>
            <a:ext cx="4050791" cy="10241"/>
          </a:xfrm>
          <a:prstGeom prst="rect">
            <a:avLst/>
          </a:prstGeom>
          <a:solidFill>
            <a:srgbClr val="1E52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720" y="6783020"/>
            <a:ext cx="594360" cy="20116"/>
          </a:xfrm>
          <a:prstGeom prst="rect">
            <a:avLst/>
          </a:prstGeom>
          <a:solidFill>
            <a:srgbClr val="48A9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5720" y="6674389"/>
            <a:ext cx="978408" cy="19019"/>
          </a:xfrm>
          <a:prstGeom prst="rect">
            <a:avLst/>
          </a:prstGeom>
          <a:solidFill>
            <a:srgbClr val="1E52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5720" y="6565758"/>
            <a:ext cx="1362456" cy="17922"/>
          </a:xfrm>
          <a:prstGeom prst="rect">
            <a:avLst/>
          </a:prstGeom>
          <a:solidFill>
            <a:srgbClr val="48A9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5720" y="6457128"/>
            <a:ext cx="1746504" cy="16824"/>
          </a:xfrm>
          <a:prstGeom prst="rect">
            <a:avLst/>
          </a:prstGeom>
          <a:solidFill>
            <a:srgbClr val="1E52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5720" y="6348497"/>
            <a:ext cx="2130552" cy="15727"/>
          </a:xfrm>
          <a:prstGeom prst="rect">
            <a:avLst/>
          </a:prstGeom>
          <a:solidFill>
            <a:srgbClr val="48A9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5720" y="6239867"/>
            <a:ext cx="2514600" cy="14630"/>
          </a:xfrm>
          <a:prstGeom prst="rect">
            <a:avLst/>
          </a:prstGeom>
          <a:solidFill>
            <a:srgbClr val="1E52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5720" y="6131235"/>
            <a:ext cx="2898648" cy="13533"/>
          </a:xfrm>
          <a:prstGeom prst="rect">
            <a:avLst/>
          </a:prstGeom>
          <a:solidFill>
            <a:srgbClr val="48A9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5720" y="6022606"/>
            <a:ext cx="3282696" cy="12435"/>
          </a:xfrm>
          <a:prstGeom prst="rect">
            <a:avLst/>
          </a:prstGeom>
          <a:solidFill>
            <a:srgbClr val="1E52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0" y="137160"/>
            <a:ext cx="121916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AF9F6"/>
                </a:solidFill>
                <a:latin typeface="Segoe UI"/>
              </a:rPr>
              <a:t>What We Built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65760" y="1005840"/>
            <a:ext cx="3840480" cy="1463040"/>
          </a:xfrm>
          <a:prstGeom prst="rect">
            <a:avLst/>
          </a:prstGeom>
          <a:solidFill>
            <a:srgbClr val="102A44"/>
          </a:solidFill>
          <a:ln w="25400">
            <a:solidFill>
              <a:srgbClr val="50FA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365760" y="1005840"/>
            <a:ext cx="3840480" cy="91440"/>
          </a:xfrm>
          <a:prstGeom prst="rect">
            <a:avLst/>
          </a:prstGeom>
          <a:solidFill>
            <a:srgbClr val="50F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65760" y="1143000"/>
            <a:ext cx="3840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 i="0">
                <a:solidFill>
                  <a:srgbClr val="50FA1E"/>
                </a:solidFill>
                <a:latin typeface="Segoe UI"/>
              </a:rPr>
              <a:t>1,216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5760" y="201168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FAF9F6"/>
                </a:solidFill>
                <a:latin typeface="Segoe UI"/>
              </a:rPr>
              <a:t>fps throughput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617720" y="1005840"/>
            <a:ext cx="3840480" cy="1463040"/>
          </a:xfrm>
          <a:prstGeom prst="rect">
            <a:avLst/>
          </a:prstGeom>
          <a:solidFill>
            <a:srgbClr val="102A44"/>
          </a:solidFill>
          <a:ln w="25400">
            <a:solidFill>
              <a:srgbClr val="48A9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617720" y="1005840"/>
            <a:ext cx="3840480" cy="91440"/>
          </a:xfrm>
          <a:prstGeom prst="rect">
            <a:avLst/>
          </a:prstGeom>
          <a:solidFill>
            <a:srgbClr val="48A9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617720" y="1143000"/>
            <a:ext cx="3840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 i="0">
                <a:solidFill>
                  <a:srgbClr val="48A9C9"/>
                </a:solidFill>
                <a:latin typeface="Segoe UI"/>
              </a:rPr>
              <a:t>78.76%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617720" y="201168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FAF9F6"/>
                </a:solidFill>
                <a:latin typeface="Segoe UI"/>
              </a:rPr>
              <a:t>DSP utilization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65760" y="2651760"/>
            <a:ext cx="3840480" cy="1463040"/>
          </a:xfrm>
          <a:prstGeom prst="rect">
            <a:avLst/>
          </a:prstGeom>
          <a:solidFill>
            <a:srgbClr val="102A44"/>
          </a:solidFill>
          <a:ln w="25400">
            <a:solidFill>
              <a:srgbClr val="50FA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365760" y="2651760"/>
            <a:ext cx="3840480" cy="91440"/>
          </a:xfrm>
          <a:prstGeom prst="rect">
            <a:avLst/>
          </a:prstGeom>
          <a:solidFill>
            <a:srgbClr val="50F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65760" y="2788920"/>
            <a:ext cx="3840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 i="0">
                <a:solidFill>
                  <a:srgbClr val="50FA1E"/>
                </a:solidFill>
                <a:latin typeface="Segoe UI"/>
              </a:rPr>
              <a:t>6.426 W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65760" y="365760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FAF9F6"/>
                </a:solidFill>
                <a:latin typeface="Segoe UI"/>
              </a:rPr>
              <a:t>total power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617720" y="2651760"/>
            <a:ext cx="3840480" cy="1463040"/>
          </a:xfrm>
          <a:prstGeom prst="rect">
            <a:avLst/>
          </a:prstGeom>
          <a:solidFill>
            <a:srgbClr val="102A44"/>
          </a:solidFill>
          <a:ln w="25400">
            <a:solidFill>
              <a:srgbClr val="48A9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4617720" y="2651760"/>
            <a:ext cx="3840480" cy="91440"/>
          </a:xfrm>
          <a:prstGeom prst="rect">
            <a:avLst/>
          </a:prstGeom>
          <a:solidFill>
            <a:srgbClr val="48A9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617720" y="2788920"/>
            <a:ext cx="3840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 i="0">
                <a:solidFill>
                  <a:srgbClr val="48A9C9"/>
                </a:solidFill>
                <a:latin typeface="Segoe UI"/>
              </a:rPr>
              <a:t>0.00529 J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617720" y="365760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FAF9F6"/>
                </a:solidFill>
                <a:latin typeface="Segoe UI"/>
              </a:rPr>
              <a:t>energy per frame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65760" y="4297680"/>
            <a:ext cx="3840480" cy="1463040"/>
          </a:xfrm>
          <a:prstGeom prst="rect">
            <a:avLst/>
          </a:prstGeom>
          <a:solidFill>
            <a:srgbClr val="102A44"/>
          </a:solidFill>
          <a:ln w="25400">
            <a:solidFill>
              <a:srgbClr val="50FA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365760" y="4297680"/>
            <a:ext cx="3840480" cy="91440"/>
          </a:xfrm>
          <a:prstGeom prst="rect">
            <a:avLst/>
          </a:prstGeom>
          <a:solidFill>
            <a:srgbClr val="50F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65760" y="4434840"/>
            <a:ext cx="3840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 i="0">
                <a:solidFill>
                  <a:srgbClr val="50FA1E"/>
                </a:solidFill>
                <a:latin typeface="Segoe UI"/>
              </a:rPr>
              <a:t>+0.125 ns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65760" y="530352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FAF9F6"/>
                </a:solidFill>
                <a:latin typeface="Segoe UI"/>
              </a:rPr>
              <a:t>WNS â€” timing closed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617720" y="4297680"/>
            <a:ext cx="3840480" cy="1463040"/>
          </a:xfrm>
          <a:prstGeom prst="rect">
            <a:avLst/>
          </a:prstGeom>
          <a:solidFill>
            <a:srgbClr val="102A44"/>
          </a:solidFill>
          <a:ln w="25400">
            <a:solidFill>
              <a:srgbClr val="48A9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4617720" y="4297680"/>
            <a:ext cx="3840480" cy="91440"/>
          </a:xfrm>
          <a:prstGeom prst="rect">
            <a:avLst/>
          </a:prstGeom>
          <a:solidFill>
            <a:srgbClr val="48A9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617720" y="4434840"/>
            <a:ext cx="3840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 i="0">
                <a:solidFill>
                  <a:srgbClr val="48A9C9"/>
                </a:solidFill>
                <a:latin typeface="Segoe UI"/>
              </a:rPr>
              <a:t>29x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617720" y="530352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FAF9F6"/>
                </a:solidFill>
                <a:latin typeface="Segoe UI"/>
              </a:rPr>
              <a:t>more efficient than HLS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65760" y="6263640"/>
            <a:ext cx="1146017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1">
                <a:solidFill>
                  <a:srgbClr val="88AABB"/>
                </a:solidFill>
                <a:latin typeface="Segoe UI"/>
              </a:rPr>
              <a:t>One custom FPGA accelerator. ShuffleNet V2. Zynq UltraScale+ ZU19EG.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98448"/>
          </a:xfrm>
          <a:prstGeom prst="rect">
            <a:avLst/>
          </a:prstGeom>
          <a:solidFill>
            <a:srgbClr val="10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1298448"/>
          </a:xfrm>
          <a:prstGeom prst="rect">
            <a:avLst/>
          </a:prstGeom>
          <a:solidFill>
            <a:srgbClr val="48A9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298448"/>
            <a:ext cx="12191695" cy="41148"/>
          </a:xfrm>
          <a:prstGeom prst="rect">
            <a:avLst/>
          </a:prstGeom>
          <a:solidFill>
            <a:srgbClr val="48A9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48A9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816852"/>
            <a:ext cx="12191695" cy="41148"/>
          </a:xfrm>
          <a:prstGeom prst="rect">
            <a:avLst/>
          </a:prstGeom>
          <a:solidFill>
            <a:srgbClr val="50F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551615" y="54864"/>
            <a:ext cx="594360" cy="20116"/>
          </a:xfrm>
          <a:prstGeom prst="rect">
            <a:avLst/>
          </a:prstGeom>
          <a:solidFill>
            <a:srgbClr val="48A9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167567" y="173736"/>
            <a:ext cx="978408" cy="19019"/>
          </a:xfrm>
          <a:prstGeom prst="rect">
            <a:avLst/>
          </a:prstGeom>
          <a:solidFill>
            <a:srgbClr val="1E52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0783519" y="292608"/>
            <a:ext cx="1362456" cy="17922"/>
          </a:xfrm>
          <a:prstGeom prst="rect">
            <a:avLst/>
          </a:prstGeom>
          <a:solidFill>
            <a:srgbClr val="48A9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0399471" y="411480"/>
            <a:ext cx="1746504" cy="16824"/>
          </a:xfrm>
          <a:prstGeom prst="rect">
            <a:avLst/>
          </a:prstGeom>
          <a:solidFill>
            <a:srgbClr val="1E52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0015423" y="530352"/>
            <a:ext cx="2130552" cy="15727"/>
          </a:xfrm>
          <a:prstGeom prst="rect">
            <a:avLst/>
          </a:prstGeom>
          <a:solidFill>
            <a:srgbClr val="48A9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9631375" y="649224"/>
            <a:ext cx="2514600" cy="14630"/>
          </a:xfrm>
          <a:prstGeom prst="rect">
            <a:avLst/>
          </a:prstGeom>
          <a:solidFill>
            <a:srgbClr val="1E52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9247327" y="768096"/>
            <a:ext cx="2898648" cy="13533"/>
          </a:xfrm>
          <a:prstGeom prst="rect">
            <a:avLst/>
          </a:prstGeom>
          <a:solidFill>
            <a:srgbClr val="48A9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863279" y="886968"/>
            <a:ext cx="3282696" cy="12435"/>
          </a:xfrm>
          <a:prstGeom prst="rect">
            <a:avLst/>
          </a:prstGeom>
          <a:solidFill>
            <a:srgbClr val="1E52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20040" y="155448"/>
            <a:ext cx="11734495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AF9F6"/>
                </a:solidFill>
                <a:latin typeface="Segoe UI"/>
              </a:rPr>
              <a:t>Team XLR8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" y="877824"/>
            <a:ext cx="1173449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1">
                <a:solidFill>
                  <a:srgbClr val="48A9C9"/>
                </a:solidFill>
                <a:latin typeface="Segoe UI"/>
              </a:rPr>
              <a:t>Graduation Project Members â€” 2025 / 2026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1119" y="1572768"/>
            <a:ext cx="2651760" cy="4160520"/>
          </a:xfrm>
          <a:prstGeom prst="rect">
            <a:avLst/>
          </a:prstGeom>
          <a:solidFill>
            <a:srgbClr val="102A44"/>
          </a:solidFill>
          <a:ln w="19050">
            <a:solidFill>
              <a:srgbClr val="48A9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71119" y="1572768"/>
            <a:ext cx="2651760" cy="118872"/>
          </a:xfrm>
          <a:prstGeom prst="rect">
            <a:avLst/>
          </a:prstGeom>
          <a:solidFill>
            <a:srgbClr val="48A9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301087" y="1773936"/>
            <a:ext cx="402336" cy="402336"/>
          </a:xfrm>
          <a:prstGeom prst="rect">
            <a:avLst/>
          </a:prstGeom>
          <a:solidFill>
            <a:srgbClr val="50F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337663" y="1801368"/>
            <a:ext cx="32918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000000"/>
                </a:solidFill>
                <a:latin typeface="Segoe UI"/>
              </a:rPr>
              <a:t>1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92326" y="2029968"/>
            <a:ext cx="1609344" cy="1609344"/>
          </a:xfrm>
          <a:prstGeom prst="rect">
            <a:avLst/>
          </a:prstGeom>
          <a:solidFill>
            <a:srgbClr val="081C2E"/>
          </a:solidFill>
          <a:ln w="12700">
            <a:solidFill>
              <a:srgbClr val="48A9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19759" y="2578608"/>
            <a:ext cx="157276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88AABB"/>
                </a:solidFill>
                <a:latin typeface="Segoe UI"/>
              </a:rPr>
              <a:t>[ PHOTO ]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80847" y="3813048"/>
            <a:ext cx="2432304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AF9F6"/>
                </a:solidFill>
                <a:latin typeface="Segoe UI"/>
              </a:rPr>
              <a:t>Ahmed Ahmed Nageeb
Ahmed Elbermawy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80847" y="4864608"/>
            <a:ext cx="2432304" cy="658368"/>
          </a:xfrm>
          <a:prstGeom prst="rect">
            <a:avLst/>
          </a:prstGeom>
          <a:solidFill>
            <a:srgbClr val="08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35711" y="4910328"/>
            <a:ext cx="2322576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1">
                <a:solidFill>
                  <a:srgbClr val="48A9C9"/>
                </a:solidFill>
                <a:latin typeface="Segoe UI"/>
              </a:rPr>
              <a:t>RTL Architecture
&amp; Project Lead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270351" y="1572768"/>
            <a:ext cx="2651760" cy="4160520"/>
          </a:xfrm>
          <a:prstGeom prst="rect">
            <a:avLst/>
          </a:prstGeom>
          <a:solidFill>
            <a:srgbClr val="102A44"/>
          </a:solidFill>
          <a:ln w="19050">
            <a:solidFill>
              <a:srgbClr val="48A9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270351" y="1572768"/>
            <a:ext cx="2651760" cy="118872"/>
          </a:xfrm>
          <a:prstGeom prst="rect">
            <a:avLst/>
          </a:prstGeom>
          <a:solidFill>
            <a:srgbClr val="48A9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300319" y="1773936"/>
            <a:ext cx="402336" cy="402336"/>
          </a:xfrm>
          <a:prstGeom prst="rect">
            <a:avLst/>
          </a:prstGeom>
          <a:solidFill>
            <a:srgbClr val="50F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336895" y="1801368"/>
            <a:ext cx="32918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000000"/>
                </a:solidFill>
                <a:latin typeface="Segoe UI"/>
              </a:rPr>
              <a:t>2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791558" y="2029968"/>
            <a:ext cx="1609344" cy="1609344"/>
          </a:xfrm>
          <a:prstGeom prst="rect">
            <a:avLst/>
          </a:prstGeom>
          <a:solidFill>
            <a:srgbClr val="081C2E"/>
          </a:solidFill>
          <a:ln w="12700">
            <a:solidFill>
              <a:srgbClr val="48A9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818991" y="2578608"/>
            <a:ext cx="157276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88AABB"/>
                </a:solidFill>
                <a:latin typeface="Segoe UI"/>
              </a:rPr>
              <a:t>[ PHOTO ]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380079" y="3813048"/>
            <a:ext cx="2432304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AF9F6"/>
                </a:solidFill>
                <a:latin typeface="Segoe UI"/>
              </a:rPr>
              <a:t>Yousef Abdulrahman
Abdulnabi Abdulrahman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380079" y="4864608"/>
            <a:ext cx="2432304" cy="658368"/>
          </a:xfrm>
          <a:prstGeom prst="rect">
            <a:avLst/>
          </a:prstGeom>
          <a:solidFill>
            <a:srgbClr val="08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434943" y="4910328"/>
            <a:ext cx="2322576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1">
                <a:solidFill>
                  <a:srgbClr val="48A9C9"/>
                </a:solidFill>
                <a:latin typeface="Segoe UI"/>
              </a:rPr>
              <a:t>HLS Design
&amp; Verification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269583" y="1572768"/>
            <a:ext cx="2651760" cy="4160520"/>
          </a:xfrm>
          <a:prstGeom prst="rect">
            <a:avLst/>
          </a:prstGeom>
          <a:solidFill>
            <a:srgbClr val="102A44"/>
          </a:solidFill>
          <a:ln w="19050">
            <a:solidFill>
              <a:srgbClr val="48A9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269583" y="1572768"/>
            <a:ext cx="2651760" cy="118872"/>
          </a:xfrm>
          <a:prstGeom prst="rect">
            <a:avLst/>
          </a:prstGeom>
          <a:solidFill>
            <a:srgbClr val="48A9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8299551" y="1773936"/>
            <a:ext cx="402336" cy="402336"/>
          </a:xfrm>
          <a:prstGeom prst="rect">
            <a:avLst/>
          </a:prstGeom>
          <a:solidFill>
            <a:srgbClr val="50F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336127" y="1801368"/>
            <a:ext cx="32918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000000"/>
                </a:solidFill>
                <a:latin typeface="Segoe UI"/>
              </a:rPr>
              <a:t>3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790790" y="2029968"/>
            <a:ext cx="1609344" cy="1609344"/>
          </a:xfrm>
          <a:prstGeom prst="rect">
            <a:avLst/>
          </a:prstGeom>
          <a:solidFill>
            <a:srgbClr val="081C2E"/>
          </a:solidFill>
          <a:ln w="12700">
            <a:solidFill>
              <a:srgbClr val="48A9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818223" y="2578608"/>
            <a:ext cx="157276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88AABB"/>
                </a:solidFill>
                <a:latin typeface="Segoe UI"/>
              </a:rPr>
              <a:t>[ PHOTO ]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379311" y="3813048"/>
            <a:ext cx="2432304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AF9F6"/>
                </a:solidFill>
                <a:latin typeface="Segoe UI"/>
              </a:rPr>
              <a:t>Mohamed Ahmed
Roshdy Saad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379311" y="4864608"/>
            <a:ext cx="2432304" cy="658368"/>
          </a:xfrm>
          <a:prstGeom prst="rect">
            <a:avLst/>
          </a:prstGeom>
          <a:solidFill>
            <a:srgbClr val="08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434175" y="4910328"/>
            <a:ext cx="2322576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1">
                <a:solidFill>
                  <a:srgbClr val="48A9C9"/>
                </a:solidFill>
                <a:latin typeface="Segoe UI"/>
              </a:rPr>
              <a:t>Software Model
&amp; Toolchain</a:t>
            </a:r>
          </a:p>
        </p:txBody>
      </p:sp>
      <p:sp>
        <p:nvSpPr>
          <p:cNvPr id="44" name="Rectangle 43"/>
          <p:cNvSpPr/>
          <p:nvPr/>
        </p:nvSpPr>
        <p:spPr>
          <a:xfrm>
            <a:off x="9268815" y="1572768"/>
            <a:ext cx="2651760" cy="4160520"/>
          </a:xfrm>
          <a:prstGeom prst="rect">
            <a:avLst/>
          </a:prstGeom>
          <a:solidFill>
            <a:srgbClr val="102A44"/>
          </a:solidFill>
          <a:ln w="19050">
            <a:solidFill>
              <a:srgbClr val="48A9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9268815" y="1572768"/>
            <a:ext cx="2651760" cy="118872"/>
          </a:xfrm>
          <a:prstGeom prst="rect">
            <a:avLst/>
          </a:prstGeom>
          <a:solidFill>
            <a:srgbClr val="48A9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11298783" y="1773936"/>
            <a:ext cx="402336" cy="402336"/>
          </a:xfrm>
          <a:prstGeom prst="rect">
            <a:avLst/>
          </a:prstGeom>
          <a:solidFill>
            <a:srgbClr val="50F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1335359" y="1801368"/>
            <a:ext cx="32918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000000"/>
                </a:solidFill>
                <a:latin typeface="Segoe UI"/>
              </a:rPr>
              <a:t>4</a:t>
            </a:r>
          </a:p>
        </p:txBody>
      </p:sp>
      <p:sp>
        <p:nvSpPr>
          <p:cNvPr id="48" name="Rectangle 47"/>
          <p:cNvSpPr/>
          <p:nvPr/>
        </p:nvSpPr>
        <p:spPr>
          <a:xfrm>
            <a:off x="9790022" y="2029968"/>
            <a:ext cx="1609344" cy="1609344"/>
          </a:xfrm>
          <a:prstGeom prst="rect">
            <a:avLst/>
          </a:prstGeom>
          <a:solidFill>
            <a:srgbClr val="081C2E"/>
          </a:solidFill>
          <a:ln w="12700">
            <a:solidFill>
              <a:srgbClr val="48A9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817455" y="2578608"/>
            <a:ext cx="157276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88AABB"/>
                </a:solidFill>
                <a:latin typeface="Segoe UI"/>
              </a:rPr>
              <a:t>[ PHOTO ]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378543" y="3813048"/>
            <a:ext cx="2432304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AF9F6"/>
                </a:solidFill>
                <a:latin typeface="Segoe UI"/>
              </a:rPr>
              <a:t>Basmala Hatem
Abdullah Mostafa</a:t>
            </a:r>
          </a:p>
        </p:txBody>
      </p:sp>
      <p:sp>
        <p:nvSpPr>
          <p:cNvPr id="51" name="Rectangle 50"/>
          <p:cNvSpPr/>
          <p:nvPr/>
        </p:nvSpPr>
        <p:spPr>
          <a:xfrm>
            <a:off x="9378543" y="4864608"/>
            <a:ext cx="2432304" cy="658368"/>
          </a:xfrm>
          <a:prstGeom prst="rect">
            <a:avLst/>
          </a:prstGeom>
          <a:solidFill>
            <a:srgbClr val="08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9433407" y="4910328"/>
            <a:ext cx="2322576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1">
                <a:solidFill>
                  <a:srgbClr val="48A9C9"/>
                </a:solidFill>
                <a:latin typeface="Segoe UI"/>
              </a:rPr>
              <a:t>Documentation
&amp; Analysis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14400" y="6364224"/>
            <a:ext cx="10362895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1">
                <a:solidFill>
                  <a:srgbClr val="50FA1E"/>
                </a:solidFill>
                <a:latin typeface="Segoe UI"/>
              </a:rPr>
              <a:t>"Speed is our design principle."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98448"/>
          </a:xfrm>
          <a:prstGeom prst="rect">
            <a:avLst/>
          </a:prstGeom>
          <a:solidFill>
            <a:srgbClr val="10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1298448"/>
          </a:xfrm>
          <a:prstGeom prst="rect">
            <a:avLst/>
          </a:prstGeom>
          <a:solidFill>
            <a:srgbClr val="48A9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298448"/>
            <a:ext cx="12191695" cy="41148"/>
          </a:xfrm>
          <a:prstGeom prst="rect">
            <a:avLst/>
          </a:prstGeom>
          <a:solidFill>
            <a:srgbClr val="48A9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48A9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816852"/>
            <a:ext cx="12191695" cy="41148"/>
          </a:xfrm>
          <a:prstGeom prst="rect">
            <a:avLst/>
          </a:prstGeom>
          <a:solidFill>
            <a:srgbClr val="50F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551615" y="6783020"/>
            <a:ext cx="594360" cy="20116"/>
          </a:xfrm>
          <a:prstGeom prst="rect">
            <a:avLst/>
          </a:prstGeom>
          <a:solidFill>
            <a:srgbClr val="48A9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167567" y="6674389"/>
            <a:ext cx="978408" cy="19019"/>
          </a:xfrm>
          <a:prstGeom prst="rect">
            <a:avLst/>
          </a:prstGeom>
          <a:solidFill>
            <a:srgbClr val="1E52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0783519" y="6565758"/>
            <a:ext cx="1362456" cy="17922"/>
          </a:xfrm>
          <a:prstGeom prst="rect">
            <a:avLst/>
          </a:prstGeom>
          <a:solidFill>
            <a:srgbClr val="48A9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0399471" y="6457128"/>
            <a:ext cx="1746504" cy="16824"/>
          </a:xfrm>
          <a:prstGeom prst="rect">
            <a:avLst/>
          </a:prstGeom>
          <a:solidFill>
            <a:srgbClr val="1E52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0015423" y="6348497"/>
            <a:ext cx="2130552" cy="15727"/>
          </a:xfrm>
          <a:prstGeom prst="rect">
            <a:avLst/>
          </a:prstGeom>
          <a:solidFill>
            <a:srgbClr val="48A9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0" y="1298448"/>
            <a:ext cx="91440" cy="5285232"/>
          </a:xfrm>
          <a:prstGeom prst="rect">
            <a:avLst/>
          </a:prstGeom>
          <a:solidFill>
            <a:srgbClr val="48A9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20040" y="155448"/>
            <a:ext cx="11734495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AF9F6"/>
                </a:solidFill>
                <a:latin typeface="Segoe UI"/>
              </a:rPr>
              <a:t>Presentation Outline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" y="877824"/>
            <a:ext cx="1173449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1">
                <a:solidFill>
                  <a:srgbClr val="48A9C9"/>
                </a:solidFill>
                <a:latin typeface="Segoe UI"/>
              </a:rPr>
              <a:t>What we will cover today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1463040"/>
            <a:ext cx="5577840" cy="457200"/>
          </a:xfrm>
          <a:prstGeom prst="rect">
            <a:avLst/>
          </a:prstGeom>
          <a:solidFill>
            <a:srgbClr val="48A9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57200" y="1463040"/>
            <a:ext cx="54864" cy="457200"/>
          </a:xfrm>
          <a:prstGeom prst="rect">
            <a:avLst/>
          </a:prstGeom>
          <a:solidFill>
            <a:srgbClr val="50F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66928" y="1527048"/>
            <a:ext cx="5349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0000"/>
                </a:solidFill>
                <a:latin typeface="Segoe UI"/>
              </a:rPr>
              <a:t>  Act I â€” Introduction &amp; Design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1965960"/>
            <a:ext cx="5577840" cy="457200"/>
          </a:xfrm>
          <a:prstGeom prst="rect">
            <a:avLst/>
          </a:prstGeom>
          <a:solidFill>
            <a:srgbClr val="08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57200" y="1965960"/>
            <a:ext cx="54864" cy="457200"/>
          </a:xfrm>
          <a:prstGeom prst="rect">
            <a:avLst/>
          </a:prstGeom>
          <a:solidFill>
            <a:srgbClr val="48A9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66928" y="2029968"/>
            <a:ext cx="5349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AF9F6"/>
                </a:solidFill>
                <a:latin typeface="Segoe UI"/>
              </a:rPr>
              <a:t>  1.   The Edge AI Challenge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2468880"/>
            <a:ext cx="5577840" cy="457200"/>
          </a:xfrm>
          <a:prstGeom prst="rect">
            <a:avLst/>
          </a:prstGeom>
          <a:solidFill>
            <a:srgbClr val="10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57200" y="2468880"/>
            <a:ext cx="54864" cy="457200"/>
          </a:xfrm>
          <a:prstGeom prst="rect">
            <a:avLst/>
          </a:prstGeom>
          <a:solidFill>
            <a:srgbClr val="48A9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66928" y="2532888"/>
            <a:ext cx="5349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AF9F6"/>
                </a:solidFill>
                <a:latin typeface="Segoe UI"/>
              </a:rPr>
              <a:t>  2.   Our Platform &amp; Model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2971800"/>
            <a:ext cx="5577840" cy="457200"/>
          </a:xfrm>
          <a:prstGeom prst="rect">
            <a:avLst/>
          </a:prstGeom>
          <a:solidFill>
            <a:srgbClr val="08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57200" y="2971800"/>
            <a:ext cx="54864" cy="457200"/>
          </a:xfrm>
          <a:prstGeom prst="rect">
            <a:avLst/>
          </a:prstGeom>
          <a:solidFill>
            <a:srgbClr val="48A9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66928" y="3035808"/>
            <a:ext cx="5349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AF9F6"/>
                </a:solidFill>
                <a:latin typeface="Segoe UI"/>
              </a:rPr>
              <a:t>  3.   Q6.8 Quantization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7200" y="3474720"/>
            <a:ext cx="5577840" cy="457200"/>
          </a:xfrm>
          <a:prstGeom prst="rect">
            <a:avLst/>
          </a:prstGeom>
          <a:solidFill>
            <a:srgbClr val="10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57200" y="3474720"/>
            <a:ext cx="54864" cy="457200"/>
          </a:xfrm>
          <a:prstGeom prst="rect">
            <a:avLst/>
          </a:prstGeom>
          <a:solidFill>
            <a:srgbClr val="48A9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66928" y="3538728"/>
            <a:ext cx="5349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AF9F6"/>
                </a:solidFill>
                <a:latin typeface="Segoe UI"/>
              </a:rPr>
              <a:t>  4.   Hardware Architecture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57200" y="3977640"/>
            <a:ext cx="5577840" cy="457200"/>
          </a:xfrm>
          <a:prstGeom prst="rect">
            <a:avLst/>
          </a:prstGeom>
          <a:solidFill>
            <a:srgbClr val="08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57200" y="3977640"/>
            <a:ext cx="54864" cy="457200"/>
          </a:xfrm>
          <a:prstGeom prst="rect">
            <a:avLst/>
          </a:prstGeom>
          <a:solidFill>
            <a:srgbClr val="48A9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66928" y="4041648"/>
            <a:ext cx="5349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AF9F6"/>
                </a:solidFill>
                <a:latin typeface="Segoe UI"/>
              </a:rPr>
              <a:t>  5.   Verification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446520" y="1463040"/>
            <a:ext cx="5577840" cy="457200"/>
          </a:xfrm>
          <a:prstGeom prst="rect">
            <a:avLst/>
          </a:prstGeom>
          <a:solidFill>
            <a:srgbClr val="48A9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446520" y="1463040"/>
            <a:ext cx="54864" cy="457200"/>
          </a:xfrm>
          <a:prstGeom prst="rect">
            <a:avLst/>
          </a:prstGeom>
          <a:solidFill>
            <a:srgbClr val="50F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556248" y="1527048"/>
            <a:ext cx="5349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0000"/>
                </a:solidFill>
                <a:latin typeface="Segoe UI"/>
              </a:rPr>
              <a:t>  Act II â€” Results &amp; Conclusion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446520" y="1965960"/>
            <a:ext cx="5577840" cy="457200"/>
          </a:xfrm>
          <a:prstGeom prst="rect">
            <a:avLst/>
          </a:prstGeom>
          <a:solidFill>
            <a:srgbClr val="08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446520" y="1965960"/>
            <a:ext cx="54864" cy="457200"/>
          </a:xfrm>
          <a:prstGeom prst="rect">
            <a:avLst/>
          </a:prstGeom>
          <a:solidFill>
            <a:srgbClr val="48A9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556248" y="2029968"/>
            <a:ext cx="5349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AF9F6"/>
                </a:solidFill>
                <a:latin typeface="Segoe UI"/>
              </a:rPr>
              <a:t>  6.   Synthesis Results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446520" y="2468880"/>
            <a:ext cx="5577840" cy="457200"/>
          </a:xfrm>
          <a:prstGeom prst="rect">
            <a:avLst/>
          </a:prstGeom>
          <a:solidFill>
            <a:srgbClr val="10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6446520" y="2468880"/>
            <a:ext cx="54864" cy="457200"/>
          </a:xfrm>
          <a:prstGeom prst="rect">
            <a:avLst/>
          </a:prstGeom>
          <a:solidFill>
            <a:srgbClr val="48A9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556248" y="2532888"/>
            <a:ext cx="5349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AF9F6"/>
                </a:solidFill>
                <a:latin typeface="Segoe UI"/>
              </a:rPr>
              <a:t>  7.   RTL vs HLS Comparison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446520" y="2971800"/>
            <a:ext cx="5577840" cy="457200"/>
          </a:xfrm>
          <a:prstGeom prst="rect">
            <a:avLst/>
          </a:prstGeom>
          <a:solidFill>
            <a:srgbClr val="08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6446520" y="2971800"/>
            <a:ext cx="54864" cy="457200"/>
          </a:xfrm>
          <a:prstGeom prst="rect">
            <a:avLst/>
          </a:prstGeom>
          <a:solidFill>
            <a:srgbClr val="48A9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556248" y="3035808"/>
            <a:ext cx="5349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AF9F6"/>
                </a:solidFill>
                <a:latin typeface="Segoe UI"/>
              </a:rPr>
              <a:t>  8.   Hardware Demo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446520" y="3474720"/>
            <a:ext cx="5577840" cy="457200"/>
          </a:xfrm>
          <a:prstGeom prst="rect">
            <a:avLst/>
          </a:prstGeom>
          <a:solidFill>
            <a:srgbClr val="10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6446520" y="3474720"/>
            <a:ext cx="54864" cy="457200"/>
          </a:xfrm>
          <a:prstGeom prst="rect">
            <a:avLst/>
          </a:prstGeom>
          <a:solidFill>
            <a:srgbClr val="48A9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556248" y="3538728"/>
            <a:ext cx="5349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AF9F6"/>
                </a:solidFill>
                <a:latin typeface="Segoe UI"/>
              </a:rPr>
              <a:t>  9.   Conclusion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446520" y="3977640"/>
            <a:ext cx="5577840" cy="457200"/>
          </a:xfrm>
          <a:prstGeom prst="rect">
            <a:avLst/>
          </a:prstGeom>
          <a:solidFill>
            <a:srgbClr val="08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6446520" y="3977640"/>
            <a:ext cx="54864" cy="457200"/>
          </a:xfrm>
          <a:prstGeom prst="rect">
            <a:avLst/>
          </a:prstGeom>
          <a:solidFill>
            <a:srgbClr val="48A9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556248" y="4041648"/>
            <a:ext cx="5349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AF9F6"/>
                </a:solidFill>
                <a:latin typeface="Segoe UI"/>
              </a:rPr>
              <a:t>  10.  Q&amp;A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48A9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07708"/>
            <a:ext cx="12191695" cy="50292"/>
          </a:xfrm>
          <a:prstGeom prst="rect">
            <a:avLst/>
          </a:prstGeom>
          <a:solidFill>
            <a:srgbClr val="50F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551615" y="54864"/>
            <a:ext cx="594360" cy="20116"/>
          </a:xfrm>
          <a:prstGeom prst="rect">
            <a:avLst/>
          </a:prstGeom>
          <a:solidFill>
            <a:srgbClr val="48A9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1167567" y="173736"/>
            <a:ext cx="978408" cy="19019"/>
          </a:xfrm>
          <a:prstGeom prst="rect">
            <a:avLst/>
          </a:prstGeom>
          <a:solidFill>
            <a:srgbClr val="1E52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0783519" y="292608"/>
            <a:ext cx="1362456" cy="17922"/>
          </a:xfrm>
          <a:prstGeom prst="rect">
            <a:avLst/>
          </a:prstGeom>
          <a:solidFill>
            <a:srgbClr val="48A9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0399471" y="411480"/>
            <a:ext cx="1746504" cy="16824"/>
          </a:xfrm>
          <a:prstGeom prst="rect">
            <a:avLst/>
          </a:prstGeom>
          <a:solidFill>
            <a:srgbClr val="1E52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0015423" y="530352"/>
            <a:ext cx="2130552" cy="15727"/>
          </a:xfrm>
          <a:prstGeom prst="rect">
            <a:avLst/>
          </a:prstGeom>
          <a:solidFill>
            <a:srgbClr val="48A9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9631375" y="649224"/>
            <a:ext cx="2514600" cy="14630"/>
          </a:xfrm>
          <a:prstGeom prst="rect">
            <a:avLst/>
          </a:prstGeom>
          <a:solidFill>
            <a:srgbClr val="1E52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9247327" y="768096"/>
            <a:ext cx="2898648" cy="13533"/>
          </a:xfrm>
          <a:prstGeom prst="rect">
            <a:avLst/>
          </a:prstGeom>
          <a:solidFill>
            <a:srgbClr val="48A9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863279" y="886968"/>
            <a:ext cx="3282696" cy="12435"/>
          </a:xfrm>
          <a:prstGeom prst="rect">
            <a:avLst/>
          </a:prstGeom>
          <a:solidFill>
            <a:srgbClr val="1E52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479231" y="1005840"/>
            <a:ext cx="3666744" cy="11338"/>
          </a:xfrm>
          <a:prstGeom prst="rect">
            <a:avLst/>
          </a:prstGeom>
          <a:solidFill>
            <a:srgbClr val="48A9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095184" y="1124712"/>
            <a:ext cx="4050791" cy="10241"/>
          </a:xfrm>
          <a:prstGeom prst="rect">
            <a:avLst/>
          </a:prstGeom>
          <a:solidFill>
            <a:srgbClr val="1E52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711135" y="1243584"/>
            <a:ext cx="4434840" cy="9144"/>
          </a:xfrm>
          <a:prstGeom prst="rect">
            <a:avLst/>
          </a:prstGeom>
          <a:solidFill>
            <a:srgbClr val="48A9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5720" y="6783020"/>
            <a:ext cx="594360" cy="20116"/>
          </a:xfrm>
          <a:prstGeom prst="rect">
            <a:avLst/>
          </a:prstGeom>
          <a:solidFill>
            <a:srgbClr val="48A9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5720" y="6674389"/>
            <a:ext cx="978408" cy="19019"/>
          </a:xfrm>
          <a:prstGeom prst="rect">
            <a:avLst/>
          </a:prstGeom>
          <a:solidFill>
            <a:srgbClr val="1E52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5720" y="6565758"/>
            <a:ext cx="1362456" cy="17922"/>
          </a:xfrm>
          <a:prstGeom prst="rect">
            <a:avLst/>
          </a:prstGeom>
          <a:solidFill>
            <a:srgbClr val="48A9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5720" y="6457128"/>
            <a:ext cx="1746504" cy="16824"/>
          </a:xfrm>
          <a:prstGeom prst="rect">
            <a:avLst/>
          </a:prstGeom>
          <a:solidFill>
            <a:srgbClr val="1E52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5720" y="6348497"/>
            <a:ext cx="2130552" cy="15727"/>
          </a:xfrm>
          <a:prstGeom prst="rect">
            <a:avLst/>
          </a:prstGeom>
          <a:solidFill>
            <a:srgbClr val="48A9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5720" y="6239867"/>
            <a:ext cx="2514600" cy="14630"/>
          </a:xfrm>
          <a:prstGeom prst="rect">
            <a:avLst/>
          </a:prstGeom>
          <a:solidFill>
            <a:srgbClr val="1E52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5720" y="6131235"/>
            <a:ext cx="2898648" cy="13533"/>
          </a:xfrm>
          <a:prstGeom prst="rect">
            <a:avLst/>
          </a:prstGeom>
          <a:solidFill>
            <a:srgbClr val="48A9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5720" y="6022606"/>
            <a:ext cx="3282696" cy="12435"/>
          </a:xfrm>
          <a:prstGeom prst="rect">
            <a:avLst/>
          </a:prstGeom>
          <a:solidFill>
            <a:srgbClr val="1E52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47472" y="256032"/>
            <a:ext cx="137160" cy="137160"/>
          </a:xfrm>
          <a:prstGeom prst="rect">
            <a:avLst/>
          </a:prstGeom>
          <a:solidFill>
            <a:srgbClr val="50F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40080" y="256032"/>
            <a:ext cx="137160" cy="137160"/>
          </a:xfrm>
          <a:prstGeom prst="rect">
            <a:avLst/>
          </a:prstGeom>
          <a:solidFill>
            <a:srgbClr val="48A9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32688" y="256032"/>
            <a:ext cx="137160" cy="137160"/>
          </a:xfrm>
          <a:prstGeom prst="rect">
            <a:avLst/>
          </a:prstGeom>
          <a:solidFill>
            <a:srgbClr val="48A9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1225295" y="256032"/>
            <a:ext cx="137160" cy="137160"/>
          </a:xfrm>
          <a:prstGeom prst="rect">
            <a:avLst/>
          </a:prstGeom>
          <a:solidFill>
            <a:srgbClr val="48A9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1517904" y="256032"/>
            <a:ext cx="137160" cy="137160"/>
          </a:xfrm>
          <a:prstGeom prst="rect">
            <a:avLst/>
          </a:prstGeom>
          <a:solidFill>
            <a:srgbClr val="48A9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0" y="685800"/>
            <a:ext cx="12191695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200" b="1" i="0">
                <a:solidFill>
                  <a:srgbClr val="102A44"/>
                </a:solidFill>
                <a:latin typeface="Segoe UI"/>
              </a:rPr>
              <a:t>ACT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0" y="1600200"/>
            <a:ext cx="12191695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0" b="1" i="0">
                <a:solidFill>
                  <a:srgbClr val="081C2E"/>
                </a:solidFill>
                <a:latin typeface="Segoe UI"/>
              </a:rPr>
              <a:t>1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560320" y="3703320"/>
            <a:ext cx="7068312" cy="59436"/>
          </a:xfrm>
          <a:prstGeom prst="rect">
            <a:avLst/>
          </a:prstGeom>
          <a:solidFill>
            <a:srgbClr val="48A9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017520" y="3767328"/>
            <a:ext cx="6153912" cy="27432"/>
          </a:xfrm>
          <a:prstGeom prst="rect">
            <a:avLst/>
          </a:prstGeom>
          <a:solidFill>
            <a:srgbClr val="50F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0" y="3931920"/>
            <a:ext cx="12191695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 i="0">
                <a:solidFill>
                  <a:srgbClr val="FAF9F6"/>
                </a:solidFill>
                <a:latin typeface="Segoe UI"/>
              </a:rPr>
              <a:t>INTRODUCTION &amp; DESIGN JOURNEY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011680" y="4956048"/>
            <a:ext cx="8168335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1">
                <a:solidFill>
                  <a:srgbClr val="88AABB"/>
                </a:solidFill>
                <a:latin typeface="Segoe UI"/>
              </a:rPr>
              <a:t>From the first transistor to real-time AI inference on FPGA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017520"/>
          </a:xfrm>
          <a:prstGeom prst="rect">
            <a:avLst/>
          </a:prstGeom>
          <a:solidFill>
            <a:srgbClr val="08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48A9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3017520"/>
            <a:ext cx="12191695" cy="64008"/>
          </a:xfrm>
          <a:prstGeom prst="rect">
            <a:avLst/>
          </a:prstGeom>
          <a:solidFill>
            <a:srgbClr val="48A9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3081528"/>
            <a:ext cx="12191695" cy="29260"/>
          </a:xfrm>
          <a:prstGeom prst="rect">
            <a:avLst/>
          </a:prstGeom>
          <a:solidFill>
            <a:srgbClr val="50F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716975" y="45720"/>
            <a:ext cx="3200400" cy="2606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5500" b="1" i="0">
                <a:solidFill>
                  <a:srgbClr val="102A44"/>
                </a:solidFill>
                <a:latin typeface="Segoe UI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02920"/>
            <a:ext cx="8076895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 i="0">
                <a:solidFill>
                  <a:srgbClr val="FAF9F6"/>
                </a:solidFill>
                <a:latin typeface="Segoe UI"/>
              </a:rPr>
              <a:t>The Edge AI Challenge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468880"/>
            <a:ext cx="108200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1">
                <a:solidFill>
                  <a:srgbClr val="48A9C9"/>
                </a:solidFill>
                <a:latin typeface="Segoe UI"/>
              </a:rPr>
              <a:t>Why cloud AI fails at the edge â€” and what it takes to fix it</a:t>
            </a:r>
          </a:p>
        </p:txBody>
      </p:sp>
      <p:sp>
        <p:nvSpPr>
          <p:cNvPr id="9" name="Rectangle 8"/>
          <p:cNvSpPr/>
          <p:nvPr/>
        </p:nvSpPr>
        <p:spPr>
          <a:xfrm>
            <a:off x="11551615" y="6783020"/>
            <a:ext cx="594360" cy="20116"/>
          </a:xfrm>
          <a:prstGeom prst="rect">
            <a:avLst/>
          </a:prstGeom>
          <a:solidFill>
            <a:srgbClr val="48A9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1167567" y="6674389"/>
            <a:ext cx="978408" cy="19019"/>
          </a:xfrm>
          <a:prstGeom prst="rect">
            <a:avLst/>
          </a:prstGeom>
          <a:solidFill>
            <a:srgbClr val="1E52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0783519" y="6565758"/>
            <a:ext cx="1362456" cy="17922"/>
          </a:xfrm>
          <a:prstGeom prst="rect">
            <a:avLst/>
          </a:prstGeom>
          <a:solidFill>
            <a:srgbClr val="48A9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0399471" y="6457128"/>
            <a:ext cx="1746504" cy="16824"/>
          </a:xfrm>
          <a:prstGeom prst="rect">
            <a:avLst/>
          </a:prstGeom>
          <a:solidFill>
            <a:srgbClr val="1E52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0015423" y="6348497"/>
            <a:ext cx="2130552" cy="15727"/>
          </a:xfrm>
          <a:prstGeom prst="rect">
            <a:avLst/>
          </a:prstGeom>
          <a:solidFill>
            <a:srgbClr val="48A9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9631375" y="6239867"/>
            <a:ext cx="2514600" cy="14630"/>
          </a:xfrm>
          <a:prstGeom prst="rect">
            <a:avLst/>
          </a:prstGeom>
          <a:solidFill>
            <a:srgbClr val="1E52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9247327" y="6131235"/>
            <a:ext cx="2898648" cy="13533"/>
          </a:xfrm>
          <a:prstGeom prst="rect">
            <a:avLst/>
          </a:prstGeom>
          <a:solidFill>
            <a:srgbClr val="48A9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863279" y="6022606"/>
            <a:ext cx="3282696" cy="12435"/>
          </a:xfrm>
          <a:prstGeom prst="rect">
            <a:avLst/>
          </a:prstGeom>
          <a:solidFill>
            <a:srgbClr val="1E52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479231" y="5913974"/>
            <a:ext cx="3666744" cy="11338"/>
          </a:xfrm>
          <a:prstGeom prst="rect">
            <a:avLst/>
          </a:prstGeom>
          <a:solidFill>
            <a:srgbClr val="48A9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0" y="6812280"/>
            <a:ext cx="12191695" cy="45720"/>
          </a:xfrm>
          <a:prstGeom prst="rect">
            <a:avLst/>
          </a:prstGeom>
          <a:solidFill>
            <a:srgbClr val="50F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84048" y="6016752"/>
            <a:ext cx="228600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50FA1E"/>
                </a:solidFill>
                <a:latin typeface="Segoe UI"/>
              </a:rPr>
              <a:t>XLR8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98448"/>
          </a:xfrm>
          <a:prstGeom prst="rect">
            <a:avLst/>
          </a:prstGeom>
          <a:solidFill>
            <a:srgbClr val="10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1298448"/>
          </a:xfrm>
          <a:prstGeom prst="rect">
            <a:avLst/>
          </a:prstGeom>
          <a:solidFill>
            <a:srgbClr val="48A9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298448"/>
            <a:ext cx="12191695" cy="41148"/>
          </a:xfrm>
          <a:prstGeom prst="rect">
            <a:avLst/>
          </a:prstGeom>
          <a:solidFill>
            <a:srgbClr val="48A9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48A9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816852"/>
            <a:ext cx="12191695" cy="41148"/>
          </a:xfrm>
          <a:prstGeom prst="rect">
            <a:avLst/>
          </a:prstGeom>
          <a:solidFill>
            <a:srgbClr val="50F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551615" y="54864"/>
            <a:ext cx="594360" cy="20116"/>
          </a:xfrm>
          <a:prstGeom prst="rect">
            <a:avLst/>
          </a:prstGeom>
          <a:solidFill>
            <a:srgbClr val="48A9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167567" y="173736"/>
            <a:ext cx="978408" cy="19019"/>
          </a:xfrm>
          <a:prstGeom prst="rect">
            <a:avLst/>
          </a:prstGeom>
          <a:solidFill>
            <a:srgbClr val="1E52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0783519" y="292608"/>
            <a:ext cx="1362456" cy="17922"/>
          </a:xfrm>
          <a:prstGeom prst="rect">
            <a:avLst/>
          </a:prstGeom>
          <a:solidFill>
            <a:srgbClr val="48A9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0399471" y="411480"/>
            <a:ext cx="1746504" cy="16824"/>
          </a:xfrm>
          <a:prstGeom prst="rect">
            <a:avLst/>
          </a:prstGeom>
          <a:solidFill>
            <a:srgbClr val="1E52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0015423" y="530352"/>
            <a:ext cx="2130552" cy="15727"/>
          </a:xfrm>
          <a:prstGeom prst="rect">
            <a:avLst/>
          </a:prstGeom>
          <a:solidFill>
            <a:srgbClr val="48A9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0" y="1298448"/>
            <a:ext cx="91440" cy="5285232"/>
          </a:xfrm>
          <a:prstGeom prst="rect">
            <a:avLst/>
          </a:prstGeom>
          <a:solidFill>
            <a:srgbClr val="48A9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74320" y="192024"/>
            <a:ext cx="685800" cy="347472"/>
          </a:xfrm>
          <a:prstGeom prst="rect">
            <a:avLst/>
          </a:prstGeom>
          <a:solidFill>
            <a:srgbClr val="48A9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74320" y="192024"/>
            <a:ext cx="685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00000"/>
                </a:solidFill>
                <a:latin typeface="Segoe UI"/>
              </a:rPr>
              <a:t>1.1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33271" y="155448"/>
            <a:ext cx="10865815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AF9F6"/>
                </a:solidFill>
                <a:latin typeface="Segoe UI"/>
              </a:rPr>
              <a:t>VLSI + AI: 60 Years of Convergence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33271" y="923544"/>
            <a:ext cx="108658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48A9C9"/>
                </a:solidFill>
                <a:latin typeface="Segoe UI"/>
              </a:rPr>
              <a:t>Two independent revolutions that collided in the 2010s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1417320"/>
            <a:ext cx="5394960" cy="49834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700" b="0">
                <a:solidFill>
                  <a:srgbClr val="FAF9F6"/>
                </a:solidFill>
                <a:latin typeface="Segoe UI"/>
              </a:rPr>
              <a:t>â–¸  1958 â€” Jack Kilby invents the IC: 6 transistors on germanium</a:t>
            </a:r>
          </a:p>
          <a:p>
            <a:pPr>
              <a:spcBef>
                <a:spcPts val="500"/>
              </a:spcBef>
            </a:pPr>
            <a:r>
              <a:rPr sz="1700" b="0">
                <a:solidFill>
                  <a:srgbClr val="FAF9F6"/>
                </a:solidFill>
                <a:latin typeface="Segoe UI"/>
              </a:rPr>
              <a:t>â–¸  Moore's Law (1965): transistor count doubles every ~18 months</a:t>
            </a:r>
          </a:p>
          <a:p>
            <a:pPr>
              <a:spcBef>
                <a:spcPts val="500"/>
              </a:spcBef>
            </a:pPr>
            <a:r>
              <a:rPr sz="1700" b="1">
                <a:solidFill>
                  <a:srgbClr val="48A9C9"/>
                </a:solidFill>
                <a:latin typeface="Segoe UI"/>
              </a:rPr>
              <a:t>â–¸  2023 â€” Apple M3: 19 billion transistors on a single chip</a:t>
            </a:r>
          </a:p>
          <a:p>
            <a:pPr>
              <a:spcBef>
                <a:spcPts val="500"/>
              </a:spcBef>
            </a:pPr>
            <a:r>
              <a:rPr sz="1700" b="0">
                <a:solidFill>
                  <a:srgbClr val="FAF9F6"/>
                </a:solidFill>
                <a:latin typeface="Segoe UI"/>
              </a:rPr>
              <a:t>â–¸  1957 â€” Rosenblatt's Perceptron: the first artificial neuron</a:t>
            </a:r>
          </a:p>
          <a:p>
            <a:pPr>
              <a:spcBef>
                <a:spcPts val="500"/>
              </a:spcBef>
            </a:pPr>
            <a:r>
              <a:rPr sz="1700" b="1">
                <a:solidFill>
                  <a:srgbClr val="48A9C9"/>
                </a:solidFill>
                <a:latin typeface="Segoe UI"/>
              </a:rPr>
              <a:t>â–¸  2012 â€” AlexNet wins ImageNet with a GPU: the AI breakthrough moment</a:t>
            </a:r>
          </a:p>
          <a:p>
            <a:pPr>
              <a:spcBef>
                <a:spcPts val="500"/>
              </a:spcBef>
            </a:pPr>
            <a:r>
              <a:rPr sz="1700" b="0">
                <a:solidFill>
                  <a:srgbClr val="FAF9F6"/>
                </a:solidFill>
                <a:latin typeface="Segoe UI"/>
              </a:rPr>
              <a:t>â–¸  Today â€” AI compute demand grows 10Ã— per year; hardware barely keeps up</a:t>
            </a:r>
          </a:p>
          <a:p>
            <a:pPr>
              <a:spcBef>
                <a:spcPts val="500"/>
              </a:spcBef>
            </a:pPr>
            <a:r>
              <a:rPr sz="1700" b="1">
                <a:solidFill>
                  <a:srgbClr val="50FA1E"/>
                </a:solidFill>
                <a:latin typeface="Segoe UI"/>
              </a:rPr>
              <a:t>â–¸  The answer is custom hardware â€” FPGAs are the programmable path to it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035040" y="1389888"/>
            <a:ext cx="5989320" cy="4937760"/>
          </a:xfrm>
          <a:prstGeom prst="rect">
            <a:avLst/>
          </a:prstGeom>
          <a:solidFill>
            <a:srgbClr val="1A301A"/>
          </a:solidFill>
          <a:ln w="25400">
            <a:solidFill>
              <a:srgbClr val="2860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071616" y="1426464"/>
            <a:ext cx="5916168" cy="4864608"/>
          </a:xfrm>
          <a:prstGeom prst="rect">
            <a:avLst/>
          </a:prstGeom>
          <a:solidFill>
            <a:srgbClr val="1A301A"/>
          </a:solidFill>
          <a:ln w="6350">
            <a:solidFill>
              <a:srgbClr val="88AA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035040" y="2278684"/>
            <a:ext cx="5989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50FA1E"/>
                </a:solidFill>
                <a:latin typeface="Segoe UI"/>
              </a:rPr>
              <a:t>[ INSERT FIGURE ]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99632" y="2644444"/>
            <a:ext cx="5660136" cy="4160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FAF9F6"/>
                </a:solidFill>
                <a:latin typeface="Segoe UI"/>
              </a:rPr>
              <a:t>VLSI + AI dual timeline
Line chart (log scale Y): transistor count 1971â€“2023 with chip labels (Intel 4004, Core2, Apple M3). Green diamond markers for AI milestones: Perceptron (1957), Backprop (1986), AlexNet (2012), Transformer (2017), LLMs (2023). Era shading for SSI/MSI/LSI/VLSI/ULSI.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98448"/>
          </a:xfrm>
          <a:prstGeom prst="rect">
            <a:avLst/>
          </a:prstGeom>
          <a:solidFill>
            <a:srgbClr val="10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1298448"/>
          </a:xfrm>
          <a:prstGeom prst="rect">
            <a:avLst/>
          </a:prstGeom>
          <a:solidFill>
            <a:srgbClr val="48A9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298448"/>
            <a:ext cx="12191695" cy="41148"/>
          </a:xfrm>
          <a:prstGeom prst="rect">
            <a:avLst/>
          </a:prstGeom>
          <a:solidFill>
            <a:srgbClr val="48A9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48A9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816852"/>
            <a:ext cx="12191695" cy="41148"/>
          </a:xfrm>
          <a:prstGeom prst="rect">
            <a:avLst/>
          </a:prstGeom>
          <a:solidFill>
            <a:srgbClr val="50F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551615" y="6783020"/>
            <a:ext cx="594360" cy="20116"/>
          </a:xfrm>
          <a:prstGeom prst="rect">
            <a:avLst/>
          </a:prstGeom>
          <a:solidFill>
            <a:srgbClr val="48A9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167567" y="6674389"/>
            <a:ext cx="978408" cy="19019"/>
          </a:xfrm>
          <a:prstGeom prst="rect">
            <a:avLst/>
          </a:prstGeom>
          <a:solidFill>
            <a:srgbClr val="1E52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0783519" y="6565758"/>
            <a:ext cx="1362456" cy="17922"/>
          </a:xfrm>
          <a:prstGeom prst="rect">
            <a:avLst/>
          </a:prstGeom>
          <a:solidFill>
            <a:srgbClr val="48A9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0399471" y="6457128"/>
            <a:ext cx="1746504" cy="16824"/>
          </a:xfrm>
          <a:prstGeom prst="rect">
            <a:avLst/>
          </a:prstGeom>
          <a:solidFill>
            <a:srgbClr val="1E52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0015423" y="6348497"/>
            <a:ext cx="2130552" cy="15727"/>
          </a:xfrm>
          <a:prstGeom prst="rect">
            <a:avLst/>
          </a:prstGeom>
          <a:solidFill>
            <a:srgbClr val="48A9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74320" y="192024"/>
            <a:ext cx="685800" cy="347472"/>
          </a:xfrm>
          <a:prstGeom prst="rect">
            <a:avLst/>
          </a:prstGeom>
          <a:solidFill>
            <a:srgbClr val="48A9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74320" y="192024"/>
            <a:ext cx="685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00000"/>
                </a:solidFill>
                <a:latin typeface="Segoe UI"/>
              </a:rPr>
              <a:t>1.2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33271" y="155448"/>
            <a:ext cx="10865815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AF9F6"/>
                </a:solidFill>
                <a:latin typeface="Segoe UI"/>
              </a:rPr>
              <a:t>Power vs. Performance â€” The Edge AI Constraint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33271" y="923544"/>
            <a:ext cx="1086581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48A9C9"/>
                </a:solidFill>
                <a:latin typeface="Segoe UI"/>
              </a:rPr>
              <a:t>Cloud GPUs are overkill. Embedded ARM is too slow. FPGAs hit the sweet spot.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4320" y="1353312"/>
            <a:ext cx="11643055" cy="4983481"/>
          </a:xfrm>
          <a:prstGeom prst="rect">
            <a:avLst/>
          </a:prstGeom>
          <a:solidFill>
            <a:srgbClr val="1A301A"/>
          </a:solidFill>
          <a:ln w="25400">
            <a:solidFill>
              <a:srgbClr val="2860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10896" y="1389888"/>
            <a:ext cx="11569903" cy="4910329"/>
          </a:xfrm>
          <a:prstGeom prst="rect">
            <a:avLst/>
          </a:prstGeom>
          <a:solidFill>
            <a:srgbClr val="1A301A"/>
          </a:solidFill>
          <a:ln w="6350">
            <a:solidFill>
              <a:srgbClr val="88AA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74320" y="2250338"/>
            <a:ext cx="1164305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50FA1E"/>
                </a:solidFill>
                <a:latin typeface="Segoe UI"/>
              </a:rPr>
              <a:t>[ INSERT FIGURE ]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8912" y="2616098"/>
            <a:ext cx="11313871" cy="42062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FAF9F6"/>
                </a:solidFill>
                <a:latin typeface="Segoe UI"/>
              </a:rPr>
              <a:t>Scatter plot (log-log): Power (W) vs Throughput (fps). Points: ARM A53 (gray), Jetson NX (blue), GTX 1080 (gray), Our FPGA ZU19EG (green, highlighted with white border). Diagonal dashed lines for 10/100/1000 fps/W efficiency. Shows FPGA wins the throughput-per-watt tradeoff.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98448"/>
          </a:xfrm>
          <a:prstGeom prst="rect">
            <a:avLst/>
          </a:prstGeom>
          <a:solidFill>
            <a:srgbClr val="10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1298448"/>
          </a:xfrm>
          <a:prstGeom prst="rect">
            <a:avLst/>
          </a:prstGeom>
          <a:solidFill>
            <a:srgbClr val="48A9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298448"/>
            <a:ext cx="12191695" cy="41148"/>
          </a:xfrm>
          <a:prstGeom prst="rect">
            <a:avLst/>
          </a:prstGeom>
          <a:solidFill>
            <a:srgbClr val="48A9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48A9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816852"/>
            <a:ext cx="12191695" cy="41148"/>
          </a:xfrm>
          <a:prstGeom prst="rect">
            <a:avLst/>
          </a:prstGeom>
          <a:solidFill>
            <a:srgbClr val="50F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551615" y="54864"/>
            <a:ext cx="594360" cy="20116"/>
          </a:xfrm>
          <a:prstGeom prst="rect">
            <a:avLst/>
          </a:prstGeom>
          <a:solidFill>
            <a:srgbClr val="48A9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167567" y="173736"/>
            <a:ext cx="978408" cy="19019"/>
          </a:xfrm>
          <a:prstGeom prst="rect">
            <a:avLst/>
          </a:prstGeom>
          <a:solidFill>
            <a:srgbClr val="1E52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0783519" y="292608"/>
            <a:ext cx="1362456" cy="17922"/>
          </a:xfrm>
          <a:prstGeom prst="rect">
            <a:avLst/>
          </a:prstGeom>
          <a:solidFill>
            <a:srgbClr val="48A9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0399471" y="411480"/>
            <a:ext cx="1746504" cy="16824"/>
          </a:xfrm>
          <a:prstGeom prst="rect">
            <a:avLst/>
          </a:prstGeom>
          <a:solidFill>
            <a:srgbClr val="1E52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0015423" y="530352"/>
            <a:ext cx="2130552" cy="15727"/>
          </a:xfrm>
          <a:prstGeom prst="rect">
            <a:avLst/>
          </a:prstGeom>
          <a:solidFill>
            <a:srgbClr val="48A9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0" y="1298448"/>
            <a:ext cx="91440" cy="5285232"/>
          </a:xfrm>
          <a:prstGeom prst="rect">
            <a:avLst/>
          </a:prstGeom>
          <a:solidFill>
            <a:srgbClr val="48A9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74320" y="192024"/>
            <a:ext cx="685800" cy="347472"/>
          </a:xfrm>
          <a:prstGeom prst="rect">
            <a:avLst/>
          </a:prstGeom>
          <a:solidFill>
            <a:srgbClr val="48A9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74320" y="192024"/>
            <a:ext cx="685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00000"/>
                </a:solidFill>
                <a:latin typeface="Segoe UI"/>
              </a:rPr>
              <a:t>1.3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33271" y="155448"/>
            <a:ext cx="10865815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AF9F6"/>
                </a:solidFill>
                <a:latin typeface="Segoe UI"/>
              </a:rPr>
              <a:t>Why Cloud AI Fails at the Edge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33271" y="923544"/>
            <a:ext cx="108658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48A9C9"/>
                </a:solidFill>
                <a:latin typeface="Segoe UI"/>
              </a:rPr>
              <a:t>The embedded edge demands intelligence without the infrastructure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1417320"/>
            <a:ext cx="11533327" cy="49834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700" b="0">
                <a:solidFill>
                  <a:srgbClr val="FAF9F6"/>
                </a:solidFill>
                <a:latin typeface="Segoe UI"/>
              </a:rPr>
              <a:t>â–¸  Latency: 50â€“500 ms round trip â€” useless for real-time control or robotics</a:t>
            </a:r>
          </a:p>
          <a:p>
            <a:pPr>
              <a:spcBef>
                <a:spcPts val="500"/>
              </a:spcBef>
            </a:pPr>
            <a:r>
              <a:rPr sz="1700" b="0">
                <a:solidFill>
                  <a:srgbClr val="FAF9F6"/>
                </a:solidFill>
                <a:latin typeface="Segoe UI"/>
              </a:rPr>
              <a:t>â–¸  Privacy: raw video leaves the device and travels the internet</a:t>
            </a:r>
          </a:p>
          <a:p>
            <a:pPr>
              <a:spcBef>
                <a:spcPts val="500"/>
              </a:spcBef>
            </a:pPr>
            <a:r>
              <a:rPr sz="1700" b="0">
                <a:solidFill>
                  <a:srgbClr val="FAF9F6"/>
                </a:solidFill>
                <a:latin typeface="Segoe UI"/>
              </a:rPr>
              <a:t>â–¸  Bandwidth: streaming HD to the cloud consumes significant network resources</a:t>
            </a:r>
          </a:p>
          <a:p>
            <a:pPr>
              <a:spcBef>
                <a:spcPts val="500"/>
              </a:spcBef>
            </a:pPr>
            <a:r>
              <a:rPr sz="1700" b="0">
                <a:solidFill>
                  <a:srgbClr val="FAF9F6"/>
                </a:solidFill>
                <a:latin typeface="Segoe UI"/>
              </a:rPr>
              <a:t>â–¸  Reliability: no connectivity = no AI â€” fails in tunnels, remote sites, factories</a:t>
            </a:r>
          </a:p>
          <a:p>
            <a:pPr>
              <a:spcBef>
                <a:spcPts val="500"/>
              </a:spcBef>
            </a:pPr>
            <a:r>
              <a:rPr sz="1700" b="0">
                <a:solidFill>
                  <a:srgbClr val="FAF9F6"/>
                </a:solidFill>
                <a:latin typeface="Segoe UI"/>
              </a:rPr>
              <a:t>â–¸  Power: a data-center GPU draws 300 W â€” impossible on a battery or embedded rail</a:t>
            </a:r>
          </a:p>
          <a:p>
            <a:pPr>
              <a:spcBef>
                <a:spcPts val="500"/>
              </a:spcBef>
            </a:pPr>
            <a:r>
              <a:rPr sz="1700" b="1">
                <a:solidFill>
                  <a:srgbClr val="50FA1E"/>
                </a:solidFill>
                <a:latin typeface="Segoe UI"/>
              </a:rPr>
              <a:t>â–¸  Edge AI â€” run the model locally, on the device itself:</a:t>
            </a:r>
          </a:p>
          <a:p>
            <a:pPr>
              <a:spcBef>
                <a:spcPts val="200"/>
              </a:spcBef>
            </a:pPr>
            <a:r>
              <a:rPr sz="1500" b="0">
                <a:solidFill>
                  <a:srgbClr val="88AABB"/>
                </a:solidFill>
                <a:latin typeface="Segoe UI"/>
              </a:rPr>
              <a:t>      â€¢  Sub-millisecond latency â€” data stays on device â€” works offline</a:t>
            </a:r>
          </a:p>
          <a:p>
            <a:pPr>
              <a:spcBef>
                <a:spcPts val="200"/>
              </a:spcBef>
            </a:pPr>
            <a:r>
              <a:rPr sz="1500" b="0">
                <a:solidFill>
                  <a:srgbClr val="88AABB"/>
                </a:solidFill>
                <a:latin typeface="Segoe UI"/>
              </a:rPr>
              <a:t>      â€¢  Requires a power budget of watts, not kilowatts</a:t>
            </a:r>
          </a:p>
          <a:p>
            <a:pPr>
              <a:spcBef>
                <a:spcPts val="500"/>
              </a:spcBef>
            </a:pPr>
            <a:r>
              <a:rPr sz="1700" b="1">
                <a:solidFill>
                  <a:srgbClr val="50FA1E"/>
                </a:solidFill>
                <a:latin typeface="Segoe UI"/>
              </a:rPr>
              <a:t>â–¸  Our solution: ShuffleNet V2 on Zynq UltraScale+ ZU19EG â€” 1,216 fps at 6.426 W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017520"/>
          </a:xfrm>
          <a:prstGeom prst="rect">
            <a:avLst/>
          </a:prstGeom>
          <a:solidFill>
            <a:srgbClr val="08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48A9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3017520"/>
            <a:ext cx="12191695" cy="64008"/>
          </a:xfrm>
          <a:prstGeom prst="rect">
            <a:avLst/>
          </a:prstGeom>
          <a:solidFill>
            <a:srgbClr val="48A9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3081528"/>
            <a:ext cx="12191695" cy="29260"/>
          </a:xfrm>
          <a:prstGeom prst="rect">
            <a:avLst/>
          </a:prstGeom>
          <a:solidFill>
            <a:srgbClr val="50F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716975" y="45720"/>
            <a:ext cx="3200400" cy="2606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5500" b="1" i="0">
                <a:solidFill>
                  <a:srgbClr val="102A44"/>
                </a:solidFill>
                <a:latin typeface="Segoe UI"/>
              </a:rPr>
              <a:t>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02920"/>
            <a:ext cx="8076895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 i="0">
                <a:solidFill>
                  <a:srgbClr val="FAF9F6"/>
                </a:solidFill>
                <a:latin typeface="Segoe UI"/>
              </a:rPr>
              <a:t>Platform &amp; Model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468880"/>
            <a:ext cx="108200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1">
                <a:solidFill>
                  <a:srgbClr val="48A9C9"/>
                </a:solidFill>
                <a:latin typeface="Segoe UI"/>
              </a:rPr>
              <a:t>Choosing the right hardware and the right neural network</a:t>
            </a:r>
          </a:p>
        </p:txBody>
      </p:sp>
      <p:sp>
        <p:nvSpPr>
          <p:cNvPr id="9" name="Rectangle 8"/>
          <p:cNvSpPr/>
          <p:nvPr/>
        </p:nvSpPr>
        <p:spPr>
          <a:xfrm>
            <a:off x="11551615" y="6783020"/>
            <a:ext cx="594360" cy="20116"/>
          </a:xfrm>
          <a:prstGeom prst="rect">
            <a:avLst/>
          </a:prstGeom>
          <a:solidFill>
            <a:srgbClr val="48A9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1167567" y="6674389"/>
            <a:ext cx="978408" cy="19019"/>
          </a:xfrm>
          <a:prstGeom prst="rect">
            <a:avLst/>
          </a:prstGeom>
          <a:solidFill>
            <a:srgbClr val="1E52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0783519" y="6565758"/>
            <a:ext cx="1362456" cy="17922"/>
          </a:xfrm>
          <a:prstGeom prst="rect">
            <a:avLst/>
          </a:prstGeom>
          <a:solidFill>
            <a:srgbClr val="48A9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0399471" y="6457128"/>
            <a:ext cx="1746504" cy="16824"/>
          </a:xfrm>
          <a:prstGeom prst="rect">
            <a:avLst/>
          </a:prstGeom>
          <a:solidFill>
            <a:srgbClr val="1E52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0015423" y="6348497"/>
            <a:ext cx="2130552" cy="15727"/>
          </a:xfrm>
          <a:prstGeom prst="rect">
            <a:avLst/>
          </a:prstGeom>
          <a:solidFill>
            <a:srgbClr val="48A9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9631375" y="6239867"/>
            <a:ext cx="2514600" cy="14630"/>
          </a:xfrm>
          <a:prstGeom prst="rect">
            <a:avLst/>
          </a:prstGeom>
          <a:solidFill>
            <a:srgbClr val="1E52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9247327" y="6131235"/>
            <a:ext cx="2898648" cy="13533"/>
          </a:xfrm>
          <a:prstGeom prst="rect">
            <a:avLst/>
          </a:prstGeom>
          <a:solidFill>
            <a:srgbClr val="48A9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863279" y="6022606"/>
            <a:ext cx="3282696" cy="12435"/>
          </a:xfrm>
          <a:prstGeom prst="rect">
            <a:avLst/>
          </a:prstGeom>
          <a:solidFill>
            <a:srgbClr val="1E52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479231" y="5913974"/>
            <a:ext cx="3666744" cy="11338"/>
          </a:xfrm>
          <a:prstGeom prst="rect">
            <a:avLst/>
          </a:prstGeom>
          <a:solidFill>
            <a:srgbClr val="48A9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0" y="6812280"/>
            <a:ext cx="12191695" cy="45720"/>
          </a:xfrm>
          <a:prstGeom prst="rect">
            <a:avLst/>
          </a:prstGeom>
          <a:solidFill>
            <a:srgbClr val="50F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84048" y="6016752"/>
            <a:ext cx="228600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50FA1E"/>
                </a:solidFill>
                <a:latin typeface="Segoe UI"/>
              </a:rPr>
              <a:t>XLR8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98448"/>
          </a:xfrm>
          <a:prstGeom prst="rect">
            <a:avLst/>
          </a:prstGeom>
          <a:solidFill>
            <a:srgbClr val="10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1298448"/>
          </a:xfrm>
          <a:prstGeom prst="rect">
            <a:avLst/>
          </a:prstGeom>
          <a:solidFill>
            <a:srgbClr val="48A9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298448"/>
            <a:ext cx="12191695" cy="41148"/>
          </a:xfrm>
          <a:prstGeom prst="rect">
            <a:avLst/>
          </a:prstGeom>
          <a:solidFill>
            <a:srgbClr val="48A9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48A9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816852"/>
            <a:ext cx="12191695" cy="41148"/>
          </a:xfrm>
          <a:prstGeom prst="rect">
            <a:avLst/>
          </a:prstGeom>
          <a:solidFill>
            <a:srgbClr val="50F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551615" y="6783020"/>
            <a:ext cx="594360" cy="20116"/>
          </a:xfrm>
          <a:prstGeom prst="rect">
            <a:avLst/>
          </a:prstGeom>
          <a:solidFill>
            <a:srgbClr val="48A9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167567" y="6674389"/>
            <a:ext cx="978408" cy="19019"/>
          </a:xfrm>
          <a:prstGeom prst="rect">
            <a:avLst/>
          </a:prstGeom>
          <a:solidFill>
            <a:srgbClr val="1E52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0783519" y="6565758"/>
            <a:ext cx="1362456" cy="17922"/>
          </a:xfrm>
          <a:prstGeom prst="rect">
            <a:avLst/>
          </a:prstGeom>
          <a:solidFill>
            <a:srgbClr val="48A9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0399471" y="6457128"/>
            <a:ext cx="1746504" cy="16824"/>
          </a:xfrm>
          <a:prstGeom prst="rect">
            <a:avLst/>
          </a:prstGeom>
          <a:solidFill>
            <a:srgbClr val="1E52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0015423" y="6348497"/>
            <a:ext cx="2130552" cy="15727"/>
          </a:xfrm>
          <a:prstGeom prst="rect">
            <a:avLst/>
          </a:prstGeom>
          <a:solidFill>
            <a:srgbClr val="48A9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74320" y="192024"/>
            <a:ext cx="685800" cy="347472"/>
          </a:xfrm>
          <a:prstGeom prst="rect">
            <a:avLst/>
          </a:prstGeom>
          <a:solidFill>
            <a:srgbClr val="48A9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74320" y="192024"/>
            <a:ext cx="685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00000"/>
                </a:solidFill>
                <a:latin typeface="Segoe UI"/>
              </a:rPr>
              <a:t>2.1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33271" y="155448"/>
            <a:ext cx="10865815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AF9F6"/>
                </a:solidFill>
                <a:latin typeface="Segoe UI"/>
              </a:rPr>
              <a:t>Our Platform â€” iWave ZU19EG SoC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33271" y="923544"/>
            <a:ext cx="1086581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48A9C9"/>
                </a:solidFill>
                <a:latin typeface="Segoe UI"/>
              </a:rPr>
              <a:t>ARM PS runs Linux and controls the system. Custom PL runs ShuffleNet at 100 MHz.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4320" y="1353312"/>
            <a:ext cx="11643055" cy="4983481"/>
          </a:xfrm>
          <a:prstGeom prst="rect">
            <a:avLst/>
          </a:prstGeom>
          <a:solidFill>
            <a:srgbClr val="1A301A"/>
          </a:solidFill>
          <a:ln w="25400">
            <a:solidFill>
              <a:srgbClr val="2860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10896" y="1389888"/>
            <a:ext cx="11569903" cy="4910329"/>
          </a:xfrm>
          <a:prstGeom prst="rect">
            <a:avLst/>
          </a:prstGeom>
          <a:solidFill>
            <a:srgbClr val="1A301A"/>
          </a:solidFill>
          <a:ln w="6350">
            <a:solidFill>
              <a:srgbClr val="88AA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74320" y="2250338"/>
            <a:ext cx="1164305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50FA1E"/>
                </a:solidFill>
                <a:latin typeface="Segoe UI"/>
              </a:rPr>
              <a:t>[ INSERT FIGURE ]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8912" y="2616098"/>
            <a:ext cx="11313871" cy="42062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FAF9F6"/>
                </a:solidFill>
                <a:latin typeface="Segoe UI"/>
              </a:rPr>
              <a:t>ZU19EG block diagram
Two nested rectangles: PS (left, blue border) containing ARM Cortex-A53 x4, DDR4, USB/GigE/UART, AXI Interconnect, Linux label. PL (right, green border) containing MMCM 100 MHz, AXI4-Lite Slave, ShuffleNet V2 Accelerator (Group1+2+3), resource count row (522K LUTs | 1,968 DSPs | 984 BRAM36K). Horizontal AXI arrow between PS and PL.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98448"/>
          </a:xfrm>
          <a:prstGeom prst="rect">
            <a:avLst/>
          </a:prstGeom>
          <a:solidFill>
            <a:srgbClr val="10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1298448"/>
          </a:xfrm>
          <a:prstGeom prst="rect">
            <a:avLst/>
          </a:prstGeom>
          <a:solidFill>
            <a:srgbClr val="48A9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298448"/>
            <a:ext cx="12191695" cy="41148"/>
          </a:xfrm>
          <a:prstGeom prst="rect">
            <a:avLst/>
          </a:prstGeom>
          <a:solidFill>
            <a:srgbClr val="48A9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48A9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816852"/>
            <a:ext cx="12191695" cy="41148"/>
          </a:xfrm>
          <a:prstGeom prst="rect">
            <a:avLst/>
          </a:prstGeom>
          <a:solidFill>
            <a:srgbClr val="50F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551615" y="54864"/>
            <a:ext cx="594360" cy="20116"/>
          </a:xfrm>
          <a:prstGeom prst="rect">
            <a:avLst/>
          </a:prstGeom>
          <a:solidFill>
            <a:srgbClr val="48A9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167567" y="173736"/>
            <a:ext cx="978408" cy="19019"/>
          </a:xfrm>
          <a:prstGeom prst="rect">
            <a:avLst/>
          </a:prstGeom>
          <a:solidFill>
            <a:srgbClr val="1E52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0783519" y="292608"/>
            <a:ext cx="1362456" cy="17922"/>
          </a:xfrm>
          <a:prstGeom prst="rect">
            <a:avLst/>
          </a:prstGeom>
          <a:solidFill>
            <a:srgbClr val="48A9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0399471" y="411480"/>
            <a:ext cx="1746504" cy="16824"/>
          </a:xfrm>
          <a:prstGeom prst="rect">
            <a:avLst/>
          </a:prstGeom>
          <a:solidFill>
            <a:srgbClr val="1E52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0015423" y="530352"/>
            <a:ext cx="2130552" cy="15727"/>
          </a:xfrm>
          <a:prstGeom prst="rect">
            <a:avLst/>
          </a:prstGeom>
          <a:solidFill>
            <a:srgbClr val="48A9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0" y="1298448"/>
            <a:ext cx="91440" cy="5285232"/>
          </a:xfrm>
          <a:prstGeom prst="rect">
            <a:avLst/>
          </a:prstGeom>
          <a:solidFill>
            <a:srgbClr val="48A9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74320" y="192024"/>
            <a:ext cx="685800" cy="347472"/>
          </a:xfrm>
          <a:prstGeom prst="rect">
            <a:avLst/>
          </a:prstGeom>
          <a:solidFill>
            <a:srgbClr val="48A9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74320" y="192024"/>
            <a:ext cx="685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00000"/>
                </a:solidFill>
                <a:latin typeface="Segoe UI"/>
              </a:rPr>
              <a:t>2.2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33271" y="155448"/>
            <a:ext cx="10865815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AF9F6"/>
                </a:solidFill>
                <a:latin typeface="Segoe UI"/>
              </a:rPr>
              <a:t>Why ShuffleNet V2?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1417320"/>
            <a:ext cx="5394960" cy="49834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700" b="0">
                <a:solidFill>
                  <a:srgbClr val="FAF9F6"/>
                </a:solidFill>
                <a:latin typeface="Segoe UI"/>
              </a:rPr>
              <a:t>â–¸  ShuffleNet V2 x1.0 (Ma et al., ECCV 2018) â€” designed for hardware efficiency:</a:t>
            </a:r>
          </a:p>
          <a:p>
            <a:pPr>
              <a:spcBef>
                <a:spcPts val="200"/>
              </a:spcBef>
            </a:pPr>
            <a:r>
              <a:rPr sz="1500" b="0">
                <a:solidFill>
                  <a:srgbClr val="88AABB"/>
                </a:solidFill>
                <a:latin typeface="Segoe UI"/>
              </a:rPr>
              <a:t>      â€¢  146 M MACs per 224Ã—224 image â€” lowest among competitive CNNs</a:t>
            </a:r>
          </a:p>
          <a:p>
            <a:pPr>
              <a:spcBef>
                <a:spcPts val="200"/>
              </a:spcBef>
            </a:pPr>
            <a:r>
              <a:rPr sz="1500" b="0">
                <a:solidFill>
                  <a:srgbClr val="88AABB"/>
                </a:solidFill>
                <a:latin typeface="Segoe UI"/>
              </a:rPr>
              <a:t>      â€¢  71.8% Top-1 accuracy on ImageNet (PyTorch pretrained)</a:t>
            </a:r>
          </a:p>
          <a:p>
            <a:pPr>
              <a:spcBef>
                <a:spcPts val="200"/>
              </a:spcBef>
            </a:pPr>
            <a:r>
              <a:rPr sz="1500" b="0">
                <a:solidFill>
                  <a:srgbClr val="88AABB"/>
                </a:solidFill>
                <a:latin typeface="Segoe UI"/>
              </a:rPr>
              <a:t>      â€¢  2.3 M parameters â€” fits entirely in on-chip BRAM</a:t>
            </a:r>
          </a:p>
          <a:p>
            <a:pPr>
              <a:spcBef>
                <a:spcPts val="500"/>
              </a:spcBef>
            </a:pPr>
            <a:r>
              <a:rPr sz="1700" b="0">
                <a:solidFill>
                  <a:srgbClr val="FAF9F6"/>
                </a:solidFill>
                <a:latin typeface="Segoe UI"/>
              </a:rPr>
              <a:t>â–¸  Why it maps perfectly to FPGA hardware:</a:t>
            </a:r>
          </a:p>
          <a:p>
            <a:pPr>
              <a:spcBef>
                <a:spcPts val="200"/>
              </a:spcBef>
            </a:pPr>
            <a:r>
              <a:rPr sz="1500" b="0">
                <a:solidFill>
                  <a:srgbClr val="88AABB"/>
                </a:solidFill>
                <a:latin typeface="Segoe UI"/>
              </a:rPr>
              <a:t>      â€¢  Equal channel widths minimize memory access cost (analytically proven)</a:t>
            </a:r>
          </a:p>
          <a:p>
            <a:pPr>
              <a:spcBef>
                <a:spcPts val="200"/>
              </a:spcBef>
            </a:pPr>
            <a:r>
              <a:rPr sz="1500" b="0">
                <a:solidFill>
                  <a:srgbClr val="88AABB"/>
                </a:solidFill>
                <a:latin typeface="Segoe UI"/>
              </a:rPr>
              <a:t>      â€¢  Depthwise separable convolutions map directly to our parallel filter units</a:t>
            </a:r>
          </a:p>
          <a:p>
            <a:pPr>
              <a:spcBef>
                <a:spcPts val="200"/>
              </a:spcBef>
            </a:pPr>
            <a:r>
              <a:rPr sz="1500" b="0">
                <a:solidFill>
                  <a:srgbClr val="88AABB"/>
                </a:solidFill>
                <a:latin typeface="Segoe UI"/>
              </a:rPr>
              <a:t>      â€¢  No batch normalization at inference (folded into weights) â€” simpler hardware</a:t>
            </a:r>
          </a:p>
          <a:p>
            <a:pPr>
              <a:spcBef>
                <a:spcPts val="200"/>
              </a:spcBef>
            </a:pPr>
            <a:r>
              <a:rPr sz="1500" b="0">
                <a:solidFill>
                  <a:srgbClr val="88AABB"/>
                </a:solidFill>
                <a:latin typeface="Segoe UI"/>
              </a:rPr>
              <a:t>      â€¢  Avoids element-wise add â€” uses concat instead (cheaper on FPGA)</a:t>
            </a:r>
          </a:p>
          <a:p>
            <a:pPr>
              <a:spcBef>
                <a:spcPts val="500"/>
              </a:spcBef>
            </a:pPr>
            <a:r>
              <a:rPr sz="1700" b="0">
                <a:solidFill>
                  <a:srgbClr val="48A9C9"/>
                </a:solidFill>
                <a:latin typeface="Segoe UI"/>
              </a:rPr>
              <a:t>â–¸  Full pipeline: Conv1 â†’ MaxPool â†’ 16 Shuffle Blocks â†’ Conv5 â†’ AvgPool â†’ FC â†’ Top-1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035040" y="1389888"/>
            <a:ext cx="5989320" cy="4937760"/>
          </a:xfrm>
          <a:prstGeom prst="rect">
            <a:avLst/>
          </a:prstGeom>
          <a:solidFill>
            <a:srgbClr val="1A301A"/>
          </a:solidFill>
          <a:ln w="25400">
            <a:solidFill>
              <a:srgbClr val="2860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071616" y="1426464"/>
            <a:ext cx="5916168" cy="4864608"/>
          </a:xfrm>
          <a:prstGeom prst="rect">
            <a:avLst/>
          </a:prstGeom>
          <a:solidFill>
            <a:srgbClr val="1A301A"/>
          </a:solidFill>
          <a:ln w="6350">
            <a:solidFill>
              <a:srgbClr val="88AA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035040" y="2278684"/>
            <a:ext cx="5989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50FA1E"/>
                </a:solidFill>
                <a:latin typeface="Segoe UI"/>
              </a:rPr>
              <a:t>[ INSERT FIGURE ]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99632" y="2644444"/>
            <a:ext cx="5660136" cy="4160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FAF9F6"/>
                </a:solidFill>
                <a:latin typeface="Segoe UI"/>
              </a:rPr>
              <a:t>ShuffleNet V2 full architecture diagram
Horizontal flow: Input box â†’ Conv3Ã—3 + MaxPool (GROUP 1, blue bracket) â†’ Stage 2 (4 blocks, 24â†’116 ch) + Stage 3 (8 blocks) + Stage 4 (4 blocks, â†’464 ch) (GROUP 2, green bracket) â†’ Conv5 + AvgPool+FC (GROUP 3, purple bracket) â†’ class output. Channel dimension annotations above each stage.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98448"/>
          </a:xfrm>
          <a:prstGeom prst="rect">
            <a:avLst/>
          </a:prstGeom>
          <a:solidFill>
            <a:srgbClr val="10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1298448"/>
          </a:xfrm>
          <a:prstGeom prst="rect">
            <a:avLst/>
          </a:prstGeom>
          <a:solidFill>
            <a:srgbClr val="48A9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298448"/>
            <a:ext cx="12191695" cy="41148"/>
          </a:xfrm>
          <a:prstGeom prst="rect">
            <a:avLst/>
          </a:prstGeom>
          <a:solidFill>
            <a:srgbClr val="48A9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48A9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816852"/>
            <a:ext cx="12191695" cy="41148"/>
          </a:xfrm>
          <a:prstGeom prst="rect">
            <a:avLst/>
          </a:prstGeom>
          <a:solidFill>
            <a:srgbClr val="50F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551615" y="6783020"/>
            <a:ext cx="594360" cy="20116"/>
          </a:xfrm>
          <a:prstGeom prst="rect">
            <a:avLst/>
          </a:prstGeom>
          <a:solidFill>
            <a:srgbClr val="48A9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167567" y="6674389"/>
            <a:ext cx="978408" cy="19019"/>
          </a:xfrm>
          <a:prstGeom prst="rect">
            <a:avLst/>
          </a:prstGeom>
          <a:solidFill>
            <a:srgbClr val="1E52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0783519" y="6565758"/>
            <a:ext cx="1362456" cy="17922"/>
          </a:xfrm>
          <a:prstGeom prst="rect">
            <a:avLst/>
          </a:prstGeom>
          <a:solidFill>
            <a:srgbClr val="48A9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0399471" y="6457128"/>
            <a:ext cx="1746504" cy="16824"/>
          </a:xfrm>
          <a:prstGeom prst="rect">
            <a:avLst/>
          </a:prstGeom>
          <a:solidFill>
            <a:srgbClr val="1E52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0015423" y="6348497"/>
            <a:ext cx="2130552" cy="15727"/>
          </a:xfrm>
          <a:prstGeom prst="rect">
            <a:avLst/>
          </a:prstGeom>
          <a:solidFill>
            <a:srgbClr val="48A9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74320" y="192024"/>
            <a:ext cx="685800" cy="347472"/>
          </a:xfrm>
          <a:prstGeom prst="rect">
            <a:avLst/>
          </a:prstGeom>
          <a:solidFill>
            <a:srgbClr val="48A9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74320" y="192024"/>
            <a:ext cx="685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00000"/>
                </a:solidFill>
                <a:latin typeface="Segoe UI"/>
              </a:rPr>
              <a:t>2.3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33271" y="155448"/>
            <a:ext cx="10865815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AF9F6"/>
                </a:solidFill>
                <a:latin typeface="Segoe UI"/>
              </a:rPr>
              <a:t>ShuffleNet V2 â€” Architecture Overview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33271" y="923544"/>
            <a:ext cx="1086581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48A9C9"/>
                </a:solidFill>
                <a:latin typeface="Segoe UI"/>
              </a:rPr>
              <a:t>3 hardware groups processing 3 different images concurrently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4320" y="1353312"/>
            <a:ext cx="11643055" cy="4983481"/>
          </a:xfrm>
          <a:prstGeom prst="rect">
            <a:avLst/>
          </a:prstGeom>
          <a:solidFill>
            <a:srgbClr val="1A301A"/>
          </a:solidFill>
          <a:ln w="25400">
            <a:solidFill>
              <a:srgbClr val="2860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10896" y="1389888"/>
            <a:ext cx="11569903" cy="4910329"/>
          </a:xfrm>
          <a:prstGeom prst="rect">
            <a:avLst/>
          </a:prstGeom>
          <a:solidFill>
            <a:srgbClr val="1A301A"/>
          </a:solidFill>
          <a:ln w="6350">
            <a:solidFill>
              <a:srgbClr val="88AA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74320" y="2250338"/>
            <a:ext cx="1164305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50FA1E"/>
                </a:solidFill>
                <a:latin typeface="Segoe UI"/>
              </a:rPr>
              <a:t>[ INSERT FIGURE ]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8912" y="2616098"/>
            <a:ext cx="11313871" cy="42062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FAF9F6"/>
                </a:solidFill>
                <a:latin typeface="Segoe UI"/>
              </a:rPr>
              <a:t>ShuffleNet V2 full architecture diagram (same as slide 2.2 but full-width version)
Horizontal flow: Input â†’ Conv3Ã—3/MaxPool (Group 1, blue) â†’ 3 stages of shuffle blocks (Group 2, green) â†’ Conv5/AvgPool/FC (Group 3, purple) â†’ class 0-999. Include feature map dimension labels (56Ã—56, 28Ã—28, 14Ã—14, 7Ã—7) above each stage.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98448"/>
          </a:xfrm>
          <a:prstGeom prst="rect">
            <a:avLst/>
          </a:prstGeom>
          <a:solidFill>
            <a:srgbClr val="10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1298448"/>
          </a:xfrm>
          <a:prstGeom prst="rect">
            <a:avLst/>
          </a:prstGeom>
          <a:solidFill>
            <a:srgbClr val="48A9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298448"/>
            <a:ext cx="12191695" cy="41148"/>
          </a:xfrm>
          <a:prstGeom prst="rect">
            <a:avLst/>
          </a:prstGeom>
          <a:solidFill>
            <a:srgbClr val="48A9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48A9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816852"/>
            <a:ext cx="12191695" cy="41148"/>
          </a:xfrm>
          <a:prstGeom prst="rect">
            <a:avLst/>
          </a:prstGeom>
          <a:solidFill>
            <a:srgbClr val="50F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551615" y="54864"/>
            <a:ext cx="594360" cy="20116"/>
          </a:xfrm>
          <a:prstGeom prst="rect">
            <a:avLst/>
          </a:prstGeom>
          <a:solidFill>
            <a:srgbClr val="48A9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167567" y="173736"/>
            <a:ext cx="978408" cy="19019"/>
          </a:xfrm>
          <a:prstGeom prst="rect">
            <a:avLst/>
          </a:prstGeom>
          <a:solidFill>
            <a:srgbClr val="1E52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0783519" y="292608"/>
            <a:ext cx="1362456" cy="17922"/>
          </a:xfrm>
          <a:prstGeom prst="rect">
            <a:avLst/>
          </a:prstGeom>
          <a:solidFill>
            <a:srgbClr val="48A9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0399471" y="411480"/>
            <a:ext cx="1746504" cy="16824"/>
          </a:xfrm>
          <a:prstGeom prst="rect">
            <a:avLst/>
          </a:prstGeom>
          <a:solidFill>
            <a:srgbClr val="1E52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0015423" y="530352"/>
            <a:ext cx="2130552" cy="15727"/>
          </a:xfrm>
          <a:prstGeom prst="rect">
            <a:avLst/>
          </a:prstGeom>
          <a:solidFill>
            <a:srgbClr val="48A9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0" y="1298448"/>
            <a:ext cx="91440" cy="5285232"/>
          </a:xfrm>
          <a:prstGeom prst="rect">
            <a:avLst/>
          </a:prstGeom>
          <a:solidFill>
            <a:srgbClr val="48A9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74320" y="192024"/>
            <a:ext cx="685800" cy="347472"/>
          </a:xfrm>
          <a:prstGeom prst="rect">
            <a:avLst/>
          </a:prstGeom>
          <a:solidFill>
            <a:srgbClr val="48A9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74320" y="192024"/>
            <a:ext cx="685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00000"/>
                </a:solidFill>
                <a:latin typeface="Segoe UI"/>
              </a:rPr>
              <a:t>2.4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33271" y="155448"/>
            <a:ext cx="10865815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AF9F6"/>
                </a:solidFill>
                <a:latin typeface="Segoe UI"/>
              </a:rPr>
              <a:t>Computational Profile â€” Where the MACs Live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1417320"/>
            <a:ext cx="5394960" cy="49834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700" b="0">
                <a:solidFill>
                  <a:srgbClr val="FAF9F6"/>
                </a:solidFill>
                <a:latin typeface="Segoe UI"/>
              </a:rPr>
              <a:t>â–¸  146 M total MACs per inference â€” distributed across all layers:</a:t>
            </a:r>
          </a:p>
          <a:p>
            <a:pPr>
              <a:spcBef>
                <a:spcPts val="200"/>
              </a:spcBef>
            </a:pPr>
            <a:r>
              <a:rPr sz="1500" b="0">
                <a:solidFill>
                  <a:srgbClr val="88AABB"/>
                </a:solidFill>
                <a:latin typeface="Segoe UI"/>
              </a:rPr>
              <a:t>      â€¢  Conv1 (3Ã—3): 43 M MACs â€” 24 parallel filter units process this stage</a:t>
            </a:r>
          </a:p>
          <a:p>
            <a:pPr>
              <a:spcBef>
                <a:spcPts val="200"/>
              </a:spcBef>
            </a:pPr>
            <a:r>
              <a:rPr sz="1500" b="0">
                <a:solidFill>
                  <a:srgbClr val="88AABB"/>
                </a:solidFill>
                <a:latin typeface="Segoe UI"/>
              </a:rPr>
              <a:t>      â€¢  Stage 2â€“4 (DW+PW): 72 M MACs â€” 58 parallel DW + 58 parallel PW filter units</a:t>
            </a:r>
          </a:p>
          <a:p>
            <a:pPr>
              <a:spcBef>
                <a:spcPts val="200"/>
              </a:spcBef>
            </a:pPr>
            <a:r>
              <a:rPr sz="1500" b="0">
                <a:solidFill>
                  <a:srgbClr val="88AABB"/>
                </a:solidFill>
                <a:latin typeface="Segoe UI"/>
              </a:rPr>
              <a:t>      â€¢  Conv5 + AvgPool + FC: 24 M MACs â€” Group 3, the pipeline bottleneck</a:t>
            </a:r>
          </a:p>
          <a:p>
            <a:pPr>
              <a:spcBef>
                <a:spcPts val="500"/>
              </a:spcBef>
            </a:pPr>
            <a:r>
              <a:rPr sz="1700" b="1">
                <a:solidFill>
                  <a:srgbClr val="50FA1E"/>
                </a:solidFill>
                <a:latin typeface="Segoe UI"/>
              </a:rPr>
              <a:t>â–¸  Group 3 (822 Î¼s) is the bottleneck â€” pipeline throughput = 1/822Î¼s = 1,216 fps</a:t>
            </a:r>
          </a:p>
          <a:p>
            <a:pPr>
              <a:spcBef>
                <a:spcPts val="500"/>
              </a:spcBef>
            </a:pPr>
            <a:r>
              <a:rPr sz="1700" b="0">
                <a:solidFill>
                  <a:srgbClr val="FAF9F6"/>
                </a:solidFill>
                <a:latin typeface="Segoe UI"/>
              </a:rPr>
              <a:t>â–¸  All hardware parallelism decisions flow from this analysis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035040" y="1389888"/>
            <a:ext cx="5989320" cy="4937760"/>
          </a:xfrm>
          <a:prstGeom prst="rect">
            <a:avLst/>
          </a:prstGeom>
          <a:solidFill>
            <a:srgbClr val="1A301A"/>
          </a:solidFill>
          <a:ln w="25400">
            <a:solidFill>
              <a:srgbClr val="2860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071616" y="1426464"/>
            <a:ext cx="5916168" cy="4864608"/>
          </a:xfrm>
          <a:prstGeom prst="rect">
            <a:avLst/>
          </a:prstGeom>
          <a:solidFill>
            <a:srgbClr val="1A301A"/>
          </a:solidFill>
          <a:ln w="6350">
            <a:solidFill>
              <a:srgbClr val="88AA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035040" y="2278684"/>
            <a:ext cx="5989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50FA1E"/>
                </a:solidFill>
                <a:latin typeface="Segoe UI"/>
              </a:rPr>
              <a:t>[ INSERT FIGURE ]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99632" y="2644444"/>
            <a:ext cx="5660136" cy="4160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FAF9F6"/>
                </a:solidFill>
                <a:latin typeface="Segoe UI"/>
              </a:rPr>
              <a:t>MAC count horizontal bar chart
Bars (horizontal): Conv1 (3Ã—3) = 43M GREEN, MaxPool = 0.8M gray, Stage2 DW+PW = 33M blue, Stage3 DW+PW = 38M blue, Stage4 DW+PW = 21M blue, Conv5 = 23M blue, FC = 1M gray. X-axis: MACs (millions). Title: "Computational Load per Layer â€” 146M total MACs".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017520"/>
          </a:xfrm>
          <a:prstGeom prst="rect">
            <a:avLst/>
          </a:prstGeom>
          <a:solidFill>
            <a:srgbClr val="08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48A9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3017520"/>
            <a:ext cx="12191695" cy="64008"/>
          </a:xfrm>
          <a:prstGeom prst="rect">
            <a:avLst/>
          </a:prstGeom>
          <a:solidFill>
            <a:srgbClr val="48A9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3081528"/>
            <a:ext cx="12191695" cy="29260"/>
          </a:xfrm>
          <a:prstGeom prst="rect">
            <a:avLst/>
          </a:prstGeom>
          <a:solidFill>
            <a:srgbClr val="50F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716975" y="45720"/>
            <a:ext cx="3200400" cy="2606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5500" b="1" i="0">
                <a:solidFill>
                  <a:srgbClr val="102A44"/>
                </a:solidFill>
                <a:latin typeface="Segoe UI"/>
              </a:rPr>
              <a:t>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02920"/>
            <a:ext cx="8076895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 i="0">
                <a:solidFill>
                  <a:srgbClr val="FAF9F6"/>
                </a:solidFill>
                <a:latin typeface="Segoe UI"/>
              </a:rPr>
              <a:t>Q6.8 Quantization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468880"/>
            <a:ext cx="108200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1">
                <a:solidFill>
                  <a:srgbClr val="48A9C9"/>
                </a:solidFill>
                <a:latin typeface="Segoe UI"/>
              </a:rPr>
              <a:t>Turning floating-point weights into pure integers</a:t>
            </a:r>
          </a:p>
        </p:txBody>
      </p:sp>
      <p:sp>
        <p:nvSpPr>
          <p:cNvPr id="9" name="Rectangle 8"/>
          <p:cNvSpPr/>
          <p:nvPr/>
        </p:nvSpPr>
        <p:spPr>
          <a:xfrm>
            <a:off x="11551615" y="6783020"/>
            <a:ext cx="594360" cy="20116"/>
          </a:xfrm>
          <a:prstGeom prst="rect">
            <a:avLst/>
          </a:prstGeom>
          <a:solidFill>
            <a:srgbClr val="48A9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1167567" y="6674389"/>
            <a:ext cx="978408" cy="19019"/>
          </a:xfrm>
          <a:prstGeom prst="rect">
            <a:avLst/>
          </a:prstGeom>
          <a:solidFill>
            <a:srgbClr val="1E52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0783519" y="6565758"/>
            <a:ext cx="1362456" cy="17922"/>
          </a:xfrm>
          <a:prstGeom prst="rect">
            <a:avLst/>
          </a:prstGeom>
          <a:solidFill>
            <a:srgbClr val="48A9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0399471" y="6457128"/>
            <a:ext cx="1746504" cy="16824"/>
          </a:xfrm>
          <a:prstGeom prst="rect">
            <a:avLst/>
          </a:prstGeom>
          <a:solidFill>
            <a:srgbClr val="1E52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0015423" y="6348497"/>
            <a:ext cx="2130552" cy="15727"/>
          </a:xfrm>
          <a:prstGeom prst="rect">
            <a:avLst/>
          </a:prstGeom>
          <a:solidFill>
            <a:srgbClr val="48A9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9631375" y="6239867"/>
            <a:ext cx="2514600" cy="14630"/>
          </a:xfrm>
          <a:prstGeom prst="rect">
            <a:avLst/>
          </a:prstGeom>
          <a:solidFill>
            <a:srgbClr val="1E52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9247327" y="6131235"/>
            <a:ext cx="2898648" cy="13533"/>
          </a:xfrm>
          <a:prstGeom prst="rect">
            <a:avLst/>
          </a:prstGeom>
          <a:solidFill>
            <a:srgbClr val="48A9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863279" y="6022606"/>
            <a:ext cx="3282696" cy="12435"/>
          </a:xfrm>
          <a:prstGeom prst="rect">
            <a:avLst/>
          </a:prstGeom>
          <a:solidFill>
            <a:srgbClr val="1E52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479231" y="5913974"/>
            <a:ext cx="3666744" cy="11338"/>
          </a:xfrm>
          <a:prstGeom prst="rect">
            <a:avLst/>
          </a:prstGeom>
          <a:solidFill>
            <a:srgbClr val="48A9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0" y="6812280"/>
            <a:ext cx="12191695" cy="45720"/>
          </a:xfrm>
          <a:prstGeom prst="rect">
            <a:avLst/>
          </a:prstGeom>
          <a:solidFill>
            <a:srgbClr val="50F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84048" y="6016752"/>
            <a:ext cx="228600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50FA1E"/>
                </a:solidFill>
                <a:latin typeface="Segoe UI"/>
              </a:rPr>
              <a:t>XLR8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98448"/>
          </a:xfrm>
          <a:prstGeom prst="rect">
            <a:avLst/>
          </a:prstGeom>
          <a:solidFill>
            <a:srgbClr val="10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1298448"/>
          </a:xfrm>
          <a:prstGeom prst="rect">
            <a:avLst/>
          </a:prstGeom>
          <a:solidFill>
            <a:srgbClr val="48A9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298448"/>
            <a:ext cx="12191695" cy="41148"/>
          </a:xfrm>
          <a:prstGeom prst="rect">
            <a:avLst/>
          </a:prstGeom>
          <a:solidFill>
            <a:srgbClr val="48A9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48A9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816852"/>
            <a:ext cx="12191695" cy="41148"/>
          </a:xfrm>
          <a:prstGeom prst="rect">
            <a:avLst/>
          </a:prstGeom>
          <a:solidFill>
            <a:srgbClr val="50F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551615" y="6783020"/>
            <a:ext cx="594360" cy="20116"/>
          </a:xfrm>
          <a:prstGeom prst="rect">
            <a:avLst/>
          </a:prstGeom>
          <a:solidFill>
            <a:srgbClr val="48A9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167567" y="6674389"/>
            <a:ext cx="978408" cy="19019"/>
          </a:xfrm>
          <a:prstGeom prst="rect">
            <a:avLst/>
          </a:prstGeom>
          <a:solidFill>
            <a:srgbClr val="1E52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0783519" y="6565758"/>
            <a:ext cx="1362456" cy="17922"/>
          </a:xfrm>
          <a:prstGeom prst="rect">
            <a:avLst/>
          </a:prstGeom>
          <a:solidFill>
            <a:srgbClr val="48A9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0399471" y="6457128"/>
            <a:ext cx="1746504" cy="16824"/>
          </a:xfrm>
          <a:prstGeom prst="rect">
            <a:avLst/>
          </a:prstGeom>
          <a:solidFill>
            <a:srgbClr val="1E52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0015423" y="6348497"/>
            <a:ext cx="2130552" cy="15727"/>
          </a:xfrm>
          <a:prstGeom prst="rect">
            <a:avLst/>
          </a:prstGeom>
          <a:solidFill>
            <a:srgbClr val="48A9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74320" y="192024"/>
            <a:ext cx="685800" cy="347472"/>
          </a:xfrm>
          <a:prstGeom prst="rect">
            <a:avLst/>
          </a:prstGeom>
          <a:solidFill>
            <a:srgbClr val="48A9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74320" y="192024"/>
            <a:ext cx="685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00000"/>
                </a:solidFill>
                <a:latin typeface="Segoe UI"/>
              </a:rPr>
              <a:t>3.1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33271" y="155448"/>
            <a:ext cx="10865815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AF9F6"/>
                </a:solidFill>
                <a:latin typeface="Segoe UI"/>
              </a:rPr>
              <a:t>Q6.8 Fixed-Point Format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33271" y="923544"/>
            <a:ext cx="1086581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48A9C9"/>
                </a:solidFill>
                <a:latin typeface="Segoe UI"/>
              </a:rPr>
              <a:t>15-bit signed: 1 sign + 6 integer + 8 fractional bits. No floating-point hardware needed.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4320" y="1353312"/>
            <a:ext cx="11643055" cy="4983481"/>
          </a:xfrm>
          <a:prstGeom prst="rect">
            <a:avLst/>
          </a:prstGeom>
          <a:solidFill>
            <a:srgbClr val="1A301A"/>
          </a:solidFill>
          <a:ln w="25400">
            <a:solidFill>
              <a:srgbClr val="2860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10896" y="1389888"/>
            <a:ext cx="11569903" cy="4910329"/>
          </a:xfrm>
          <a:prstGeom prst="rect">
            <a:avLst/>
          </a:prstGeom>
          <a:solidFill>
            <a:srgbClr val="1A301A"/>
          </a:solidFill>
          <a:ln w="6350">
            <a:solidFill>
              <a:srgbClr val="88AA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74320" y="2250338"/>
            <a:ext cx="1164305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50FA1E"/>
                </a:solidFill>
                <a:latin typeface="Segoe UI"/>
              </a:rPr>
              <a:t>[ INSERT FIGURE ]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8912" y="2616098"/>
            <a:ext cx="11313871" cy="42062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FAF9F6"/>
                </a:solidFill>
                <a:latin typeface="Segoe UI"/>
              </a:rPr>
              <a:t>Q6.8 bit-field diagram
15 equal-width boxes in a row, labelled S, 5, 4, 3, 2, 1, 0, -1, -2, -3, -4, -5, -6, -7, -8. Colors: S=black, bits 14-8 (integer)=blue, bits 7-0 (fractional)=green. Bit position numbers below each box (14 down to 0). Below: three double-headed arrows spanning Sign / 6-bit Integer / 8-bit Fractional with labels. Top text: "Q6.8 Fixed-Point Format â€” 15-bit signed (1+6+8)" and example: 3.14 â†’ 803 â†’ 803/256 = 3.137.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98448"/>
          </a:xfrm>
          <a:prstGeom prst="rect">
            <a:avLst/>
          </a:prstGeom>
          <a:solidFill>
            <a:srgbClr val="10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1298448"/>
          </a:xfrm>
          <a:prstGeom prst="rect">
            <a:avLst/>
          </a:prstGeom>
          <a:solidFill>
            <a:srgbClr val="48A9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298448"/>
            <a:ext cx="12191695" cy="41148"/>
          </a:xfrm>
          <a:prstGeom prst="rect">
            <a:avLst/>
          </a:prstGeom>
          <a:solidFill>
            <a:srgbClr val="48A9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48A9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816852"/>
            <a:ext cx="12191695" cy="41148"/>
          </a:xfrm>
          <a:prstGeom prst="rect">
            <a:avLst/>
          </a:prstGeom>
          <a:solidFill>
            <a:srgbClr val="50F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551615" y="54864"/>
            <a:ext cx="594360" cy="20116"/>
          </a:xfrm>
          <a:prstGeom prst="rect">
            <a:avLst/>
          </a:prstGeom>
          <a:solidFill>
            <a:srgbClr val="48A9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167567" y="173736"/>
            <a:ext cx="978408" cy="19019"/>
          </a:xfrm>
          <a:prstGeom prst="rect">
            <a:avLst/>
          </a:prstGeom>
          <a:solidFill>
            <a:srgbClr val="1E52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0783519" y="292608"/>
            <a:ext cx="1362456" cy="17922"/>
          </a:xfrm>
          <a:prstGeom prst="rect">
            <a:avLst/>
          </a:prstGeom>
          <a:solidFill>
            <a:srgbClr val="48A9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0399471" y="411480"/>
            <a:ext cx="1746504" cy="16824"/>
          </a:xfrm>
          <a:prstGeom prst="rect">
            <a:avLst/>
          </a:prstGeom>
          <a:solidFill>
            <a:srgbClr val="1E52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0015423" y="530352"/>
            <a:ext cx="2130552" cy="15727"/>
          </a:xfrm>
          <a:prstGeom prst="rect">
            <a:avLst/>
          </a:prstGeom>
          <a:solidFill>
            <a:srgbClr val="48A9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0" y="1298448"/>
            <a:ext cx="91440" cy="5285232"/>
          </a:xfrm>
          <a:prstGeom prst="rect">
            <a:avLst/>
          </a:prstGeom>
          <a:solidFill>
            <a:srgbClr val="48A9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74320" y="192024"/>
            <a:ext cx="685800" cy="347472"/>
          </a:xfrm>
          <a:prstGeom prst="rect">
            <a:avLst/>
          </a:prstGeom>
          <a:solidFill>
            <a:srgbClr val="48A9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74320" y="192024"/>
            <a:ext cx="685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00000"/>
                </a:solidFill>
                <a:latin typeface="Segoe UI"/>
              </a:rPr>
              <a:t>3.2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33271" y="155448"/>
            <a:ext cx="10865815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AF9F6"/>
                </a:solidFill>
                <a:latin typeface="Segoe UI"/>
              </a:rPr>
              <a:t>The Quantization Pipeline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33271" y="923544"/>
            <a:ext cx="108658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48A9C9"/>
                </a:solidFill>
                <a:latin typeface="Segoe UI"/>
              </a:rPr>
              <a:t>PyTorch â†’ BN-folding â†’ Q6.8 quantization â†’ bit-true Python â†’ RTL-ready hex weights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1417320"/>
            <a:ext cx="11533327" cy="49834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700" b="0">
                <a:solidFill>
                  <a:srgbClr val="FAF9F6"/>
                </a:solidFill>
                <a:latin typeface="Segoe UI"/>
              </a:rPr>
              <a:t>â–¸  Step 1 â€” Load pretrained weights from PyTorch (float32, 71.8% Top-1)</a:t>
            </a:r>
          </a:p>
          <a:p>
            <a:pPr>
              <a:spcBef>
                <a:spcPts val="500"/>
              </a:spcBef>
            </a:pPr>
            <a:r>
              <a:rPr sz="1700" b="0">
                <a:solidFill>
                  <a:srgbClr val="FAF9F6"/>
                </a:solidFill>
                <a:latin typeface="Segoe UI"/>
              </a:rPr>
              <a:t>â–¸  Step 2 â€” Batch Normalization Folding:</a:t>
            </a:r>
          </a:p>
          <a:p>
            <a:pPr>
              <a:spcBef>
                <a:spcPts val="200"/>
              </a:spcBef>
            </a:pPr>
            <a:r>
              <a:rPr sz="1400" b="0">
                <a:solidFill>
                  <a:srgbClr val="88AABB"/>
                </a:solidFill>
                <a:latin typeface="Segoe UI"/>
              </a:rPr>
              <a:t>      â€¢  Absorb BN scale/shift into preceding Conv: w' = wÃ—(Î³/Ïƒ),  b' = (bâˆ’Î¼)Ã—(Î³/Ïƒ)+Î²</a:t>
            </a:r>
          </a:p>
          <a:p>
            <a:pPr>
              <a:spcBef>
                <a:spcPts val="200"/>
              </a:spcBef>
            </a:pPr>
            <a:r>
              <a:rPr sz="1400" b="0">
                <a:solidFill>
                  <a:srgbClr val="88AABB"/>
                </a:solidFill>
                <a:latin typeface="Segoe UI"/>
              </a:rPr>
              <a:t>      â€¢  Result: only Conv + ReLU remain â€” no BN hardware needed at all</a:t>
            </a:r>
          </a:p>
          <a:p>
            <a:pPr>
              <a:spcBef>
                <a:spcPts val="500"/>
              </a:spcBef>
            </a:pPr>
            <a:r>
              <a:rPr sz="1700" b="0">
                <a:solidFill>
                  <a:srgbClr val="FAF9F6"/>
                </a:solidFill>
                <a:latin typeface="Segoe UI"/>
              </a:rPr>
              <a:t>â–¸  Step 3 â€” Q6.8 quantization: multiply by 256, round, clamp to 15-bit</a:t>
            </a:r>
          </a:p>
          <a:p>
            <a:pPr>
              <a:spcBef>
                <a:spcPts val="500"/>
              </a:spcBef>
            </a:pPr>
            <a:r>
              <a:rPr sz="1700" b="0">
                <a:solidFill>
                  <a:srgbClr val="FAF9F6"/>
                </a:solidFill>
                <a:latin typeface="Segoe UI"/>
              </a:rPr>
              <a:t>â–¸  Step 4 â€” Build a bit-true Python model that mirrors exact hardware arithmetic:</a:t>
            </a:r>
          </a:p>
          <a:p>
            <a:pPr>
              <a:spcBef>
                <a:spcPts val="200"/>
              </a:spcBef>
            </a:pPr>
            <a:r>
              <a:rPr sz="1400" b="0">
                <a:solidFill>
                  <a:srgbClr val="88AABB"/>
                </a:solidFill>
                <a:latin typeface="Segoe UI"/>
              </a:rPr>
              <a:t>      â€¢  Integer MACs, right-shift accumulation, saturating clamping, ReLU</a:t>
            </a:r>
          </a:p>
          <a:p>
            <a:pPr>
              <a:spcBef>
                <a:spcPts val="200"/>
              </a:spcBef>
            </a:pPr>
            <a:r>
              <a:rPr sz="1400" b="0">
                <a:solidFill>
                  <a:srgbClr val="88AABB"/>
                </a:solidFill>
                <a:latin typeface="Segoe UI"/>
              </a:rPr>
              <a:t>      â€¢  3 arithmetic bugs found and fixed during development (see Q&amp;A backup slides)</a:t>
            </a:r>
          </a:p>
          <a:p>
            <a:pPr>
              <a:spcBef>
                <a:spcPts val="500"/>
              </a:spcBef>
            </a:pPr>
            <a:r>
              <a:rPr sz="1700" b="1">
                <a:solidFill>
                  <a:srgbClr val="50FA1E"/>
                </a:solidFill>
                <a:latin typeface="Segoe UI"/>
              </a:rPr>
              <a:t>â–¸  Step 5 â€” Accuracy validation: ~71% Top-1 retained after quantization</a:t>
            </a:r>
          </a:p>
          <a:p>
            <a:pPr>
              <a:spcBef>
                <a:spcPts val="500"/>
              </a:spcBef>
            </a:pPr>
            <a:r>
              <a:rPr sz="1700" b="0">
                <a:solidFill>
                  <a:srgbClr val="48A9C9"/>
                </a:solidFill>
                <a:latin typeface="Segoe UI"/>
              </a:rPr>
              <a:t>â–¸  Step 6 â€” Export weights as .hex files â†’ $readmemh â†’ synthesized BRAMs and ROMs</a:t>
            </a:r>
          </a:p>
          <a:p>
            <a:pPr>
              <a:spcBef>
                <a:spcPts val="500"/>
              </a:spcBef>
            </a:pPr>
            <a:r>
              <a:rPr sz="1700" b="0">
                <a:solidFill>
                  <a:srgbClr val="FAF9F6"/>
                </a:solidFill>
                <a:latin typeface="Segoe UI"/>
              </a:rPr>
              <a:t>â–¸  Per-layer bit-width optimization: G1=12-bit, G2-DW=15-bit, G2-PW=11-bit, FC=9-bit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017520"/>
          </a:xfrm>
          <a:prstGeom prst="rect">
            <a:avLst/>
          </a:prstGeom>
          <a:solidFill>
            <a:srgbClr val="08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48A9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3017520"/>
            <a:ext cx="12191695" cy="64008"/>
          </a:xfrm>
          <a:prstGeom prst="rect">
            <a:avLst/>
          </a:prstGeom>
          <a:solidFill>
            <a:srgbClr val="48A9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3081528"/>
            <a:ext cx="12191695" cy="29260"/>
          </a:xfrm>
          <a:prstGeom prst="rect">
            <a:avLst/>
          </a:prstGeom>
          <a:solidFill>
            <a:srgbClr val="50F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716975" y="45720"/>
            <a:ext cx="3200400" cy="2606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5500" b="1" i="0">
                <a:solidFill>
                  <a:srgbClr val="102A44"/>
                </a:solidFill>
                <a:latin typeface="Segoe UI"/>
              </a:rPr>
              <a:t>04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02920"/>
            <a:ext cx="8076895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 i="0">
                <a:solidFill>
                  <a:srgbClr val="FAF9F6"/>
                </a:solidFill>
                <a:latin typeface="Segoe UI"/>
              </a:rPr>
              <a:t>Hardware Architecture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468880"/>
            <a:ext cx="108200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1">
                <a:solidFill>
                  <a:srgbClr val="48A9C9"/>
                </a:solidFill>
                <a:latin typeface="Segoe UI"/>
              </a:rPr>
              <a:t>50 modules, 48 testbenches, 1 silicon result</a:t>
            </a:r>
          </a:p>
        </p:txBody>
      </p:sp>
      <p:sp>
        <p:nvSpPr>
          <p:cNvPr id="9" name="Rectangle 8"/>
          <p:cNvSpPr/>
          <p:nvPr/>
        </p:nvSpPr>
        <p:spPr>
          <a:xfrm>
            <a:off x="11551615" y="6783020"/>
            <a:ext cx="594360" cy="20116"/>
          </a:xfrm>
          <a:prstGeom prst="rect">
            <a:avLst/>
          </a:prstGeom>
          <a:solidFill>
            <a:srgbClr val="48A9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1167567" y="6674389"/>
            <a:ext cx="978408" cy="19019"/>
          </a:xfrm>
          <a:prstGeom prst="rect">
            <a:avLst/>
          </a:prstGeom>
          <a:solidFill>
            <a:srgbClr val="1E52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0783519" y="6565758"/>
            <a:ext cx="1362456" cy="17922"/>
          </a:xfrm>
          <a:prstGeom prst="rect">
            <a:avLst/>
          </a:prstGeom>
          <a:solidFill>
            <a:srgbClr val="48A9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0399471" y="6457128"/>
            <a:ext cx="1746504" cy="16824"/>
          </a:xfrm>
          <a:prstGeom prst="rect">
            <a:avLst/>
          </a:prstGeom>
          <a:solidFill>
            <a:srgbClr val="1E52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0015423" y="6348497"/>
            <a:ext cx="2130552" cy="15727"/>
          </a:xfrm>
          <a:prstGeom prst="rect">
            <a:avLst/>
          </a:prstGeom>
          <a:solidFill>
            <a:srgbClr val="48A9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9631375" y="6239867"/>
            <a:ext cx="2514600" cy="14630"/>
          </a:xfrm>
          <a:prstGeom prst="rect">
            <a:avLst/>
          </a:prstGeom>
          <a:solidFill>
            <a:srgbClr val="1E52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9247327" y="6131235"/>
            <a:ext cx="2898648" cy="13533"/>
          </a:xfrm>
          <a:prstGeom prst="rect">
            <a:avLst/>
          </a:prstGeom>
          <a:solidFill>
            <a:srgbClr val="48A9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863279" y="6022606"/>
            <a:ext cx="3282696" cy="12435"/>
          </a:xfrm>
          <a:prstGeom prst="rect">
            <a:avLst/>
          </a:prstGeom>
          <a:solidFill>
            <a:srgbClr val="1E52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479231" y="5913974"/>
            <a:ext cx="3666744" cy="11338"/>
          </a:xfrm>
          <a:prstGeom prst="rect">
            <a:avLst/>
          </a:prstGeom>
          <a:solidFill>
            <a:srgbClr val="48A9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0" y="6812280"/>
            <a:ext cx="12191695" cy="45720"/>
          </a:xfrm>
          <a:prstGeom prst="rect">
            <a:avLst/>
          </a:prstGeom>
          <a:solidFill>
            <a:srgbClr val="50F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84048" y="6016752"/>
            <a:ext cx="228600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50FA1E"/>
                </a:solidFill>
                <a:latin typeface="Segoe UI"/>
              </a:rPr>
              <a:t>XLR8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98448"/>
          </a:xfrm>
          <a:prstGeom prst="rect">
            <a:avLst/>
          </a:prstGeom>
          <a:solidFill>
            <a:srgbClr val="10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1298448"/>
          </a:xfrm>
          <a:prstGeom prst="rect">
            <a:avLst/>
          </a:prstGeom>
          <a:solidFill>
            <a:srgbClr val="48A9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298448"/>
            <a:ext cx="12191695" cy="41148"/>
          </a:xfrm>
          <a:prstGeom prst="rect">
            <a:avLst/>
          </a:prstGeom>
          <a:solidFill>
            <a:srgbClr val="48A9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48A9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816852"/>
            <a:ext cx="12191695" cy="41148"/>
          </a:xfrm>
          <a:prstGeom prst="rect">
            <a:avLst/>
          </a:prstGeom>
          <a:solidFill>
            <a:srgbClr val="50F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551615" y="6783020"/>
            <a:ext cx="594360" cy="20116"/>
          </a:xfrm>
          <a:prstGeom prst="rect">
            <a:avLst/>
          </a:prstGeom>
          <a:solidFill>
            <a:srgbClr val="48A9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167567" y="6674389"/>
            <a:ext cx="978408" cy="19019"/>
          </a:xfrm>
          <a:prstGeom prst="rect">
            <a:avLst/>
          </a:prstGeom>
          <a:solidFill>
            <a:srgbClr val="1E52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0783519" y="6565758"/>
            <a:ext cx="1362456" cy="17922"/>
          </a:xfrm>
          <a:prstGeom prst="rect">
            <a:avLst/>
          </a:prstGeom>
          <a:solidFill>
            <a:srgbClr val="48A9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0399471" y="6457128"/>
            <a:ext cx="1746504" cy="16824"/>
          </a:xfrm>
          <a:prstGeom prst="rect">
            <a:avLst/>
          </a:prstGeom>
          <a:solidFill>
            <a:srgbClr val="1E52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0015423" y="6348497"/>
            <a:ext cx="2130552" cy="15727"/>
          </a:xfrm>
          <a:prstGeom prst="rect">
            <a:avLst/>
          </a:prstGeom>
          <a:solidFill>
            <a:srgbClr val="48A9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74320" y="192024"/>
            <a:ext cx="685800" cy="347472"/>
          </a:xfrm>
          <a:prstGeom prst="rect">
            <a:avLst/>
          </a:prstGeom>
          <a:solidFill>
            <a:srgbClr val="48A9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74320" y="192024"/>
            <a:ext cx="685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00000"/>
                </a:solidFill>
                <a:latin typeface="Segoe UI"/>
              </a:rPr>
              <a:t>4.1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33271" y="155448"/>
            <a:ext cx="10865815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AF9F6"/>
                </a:solidFill>
                <a:latin typeface="Segoe UI"/>
              </a:rPr>
              <a:t>3-Group Pipelined Architecture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33271" y="923544"/>
            <a:ext cx="1086581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48A9C9"/>
                </a:solidFill>
                <a:latin typeface="Segoe UI"/>
              </a:rPr>
              <a:t>Group 1, 2, and 3 run concurrently on 3 different frames at all times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4320" y="1353312"/>
            <a:ext cx="11643055" cy="4983481"/>
          </a:xfrm>
          <a:prstGeom prst="rect">
            <a:avLst/>
          </a:prstGeom>
          <a:solidFill>
            <a:srgbClr val="1A301A"/>
          </a:solidFill>
          <a:ln w="25400">
            <a:solidFill>
              <a:srgbClr val="2860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10896" y="1389888"/>
            <a:ext cx="11569903" cy="4910329"/>
          </a:xfrm>
          <a:prstGeom prst="rect">
            <a:avLst/>
          </a:prstGeom>
          <a:solidFill>
            <a:srgbClr val="1A301A"/>
          </a:solidFill>
          <a:ln w="6350">
            <a:solidFill>
              <a:srgbClr val="88AA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74320" y="2250338"/>
            <a:ext cx="1164305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50FA1E"/>
                </a:solidFill>
                <a:latin typeface="Segoe UI"/>
              </a:rPr>
              <a:t>[ INSERT FIGURE ]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8912" y="2616098"/>
            <a:ext cx="11313871" cy="42062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FAF9F6"/>
                </a:solidFill>
                <a:latin typeface="Segoe UI"/>
              </a:rPr>
              <a:t>3-group pipeline block diagram
Horizontal flow (left to right): ARM PS box â†’ AXI4-Lite block â†’ Photo BRAM (ping-pong) â†’ GROUP 1 box (Conv3Ã—3 + MaxPool, blue, larger) â†’ Maxpool BRAM â†’ GROUP 2 box (16 Shuffle Blocks, green, larger). GROUP 3 (AvgPool+FC, purple) is positioned BELOW GROUP 2 with a downward arrow. Arrow from GROUP 3 to class output box. Frame labels above/beside each group: "Frame N" (G1), "Frame N-1" (G2), "Frame N-2" (G3).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98448"/>
          </a:xfrm>
          <a:prstGeom prst="rect">
            <a:avLst/>
          </a:prstGeom>
          <a:solidFill>
            <a:srgbClr val="10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1298448"/>
          </a:xfrm>
          <a:prstGeom prst="rect">
            <a:avLst/>
          </a:prstGeom>
          <a:solidFill>
            <a:srgbClr val="48A9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298448"/>
            <a:ext cx="12191695" cy="41148"/>
          </a:xfrm>
          <a:prstGeom prst="rect">
            <a:avLst/>
          </a:prstGeom>
          <a:solidFill>
            <a:srgbClr val="48A9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48A9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816852"/>
            <a:ext cx="12191695" cy="41148"/>
          </a:xfrm>
          <a:prstGeom prst="rect">
            <a:avLst/>
          </a:prstGeom>
          <a:solidFill>
            <a:srgbClr val="50F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551615" y="6783020"/>
            <a:ext cx="594360" cy="20116"/>
          </a:xfrm>
          <a:prstGeom prst="rect">
            <a:avLst/>
          </a:prstGeom>
          <a:solidFill>
            <a:srgbClr val="48A9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167567" y="6674389"/>
            <a:ext cx="978408" cy="19019"/>
          </a:xfrm>
          <a:prstGeom prst="rect">
            <a:avLst/>
          </a:prstGeom>
          <a:solidFill>
            <a:srgbClr val="1E52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0783519" y="6565758"/>
            <a:ext cx="1362456" cy="17922"/>
          </a:xfrm>
          <a:prstGeom prst="rect">
            <a:avLst/>
          </a:prstGeom>
          <a:solidFill>
            <a:srgbClr val="48A9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0399471" y="6457128"/>
            <a:ext cx="1746504" cy="16824"/>
          </a:xfrm>
          <a:prstGeom prst="rect">
            <a:avLst/>
          </a:prstGeom>
          <a:solidFill>
            <a:srgbClr val="1E52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0015423" y="6348497"/>
            <a:ext cx="2130552" cy="15727"/>
          </a:xfrm>
          <a:prstGeom prst="rect">
            <a:avLst/>
          </a:prstGeom>
          <a:solidFill>
            <a:srgbClr val="48A9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74320" y="192024"/>
            <a:ext cx="685800" cy="347472"/>
          </a:xfrm>
          <a:prstGeom prst="rect">
            <a:avLst/>
          </a:prstGeom>
          <a:solidFill>
            <a:srgbClr val="48A9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74320" y="192024"/>
            <a:ext cx="685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00000"/>
                </a:solidFill>
                <a:latin typeface="Segoe UI"/>
              </a:rPr>
              <a:t>4.2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33271" y="155448"/>
            <a:ext cx="10865815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AF9F6"/>
                </a:solidFill>
                <a:latin typeface="Segoe UI"/>
              </a:rPr>
              <a:t>Pipeline Timing â€” How 1,216 fps is Achieved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33271" y="923544"/>
            <a:ext cx="1086581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48A9C9"/>
                </a:solidFill>
                <a:latin typeface="Segoe UI"/>
              </a:rPr>
              <a:t>G3 at 822 us is the bottleneck. Pipeline throughput = 1/822 us = 1,216 fps.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4320" y="1353312"/>
            <a:ext cx="11643055" cy="4983481"/>
          </a:xfrm>
          <a:prstGeom prst="rect">
            <a:avLst/>
          </a:prstGeom>
          <a:solidFill>
            <a:srgbClr val="1A301A"/>
          </a:solidFill>
          <a:ln w="25400">
            <a:solidFill>
              <a:srgbClr val="2860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10896" y="1389888"/>
            <a:ext cx="11569903" cy="4910329"/>
          </a:xfrm>
          <a:prstGeom prst="rect">
            <a:avLst/>
          </a:prstGeom>
          <a:solidFill>
            <a:srgbClr val="1A301A"/>
          </a:solidFill>
          <a:ln w="6350">
            <a:solidFill>
              <a:srgbClr val="88AA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74320" y="2250338"/>
            <a:ext cx="1164305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50FA1E"/>
                </a:solidFill>
                <a:latin typeface="Segoe UI"/>
              </a:rPr>
              <a:t>[ INSERT FIGURE ]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8912" y="2616098"/>
            <a:ext cx="11313871" cy="42062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FAF9F6"/>
                </a:solidFill>
                <a:latin typeface="Segoe UI"/>
              </a:rPr>
              <a:t>Gantt chart (horizontal bar chart)
Three rows: Group 3 AvgPool+FC (purple), Group 2 Shuffle Blocks (green), Group 1 Conv+MaxPool (blue). Each row shows Frame 1, Frame 2, Frame 3 bars. A vertical green dashed line at x=0.822 ms labelled "Pipeline period = 0.822 ms â†’ 1,216 fps" positioned between Group 1 and Group 2 rows. Right-side latency labels: 0.822 ms â† bottleneck, 0.798 ms, 0.633 ms. X-axis: Time (ms) 0 to 4.2.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98448"/>
          </a:xfrm>
          <a:prstGeom prst="rect">
            <a:avLst/>
          </a:prstGeom>
          <a:solidFill>
            <a:srgbClr val="10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1298448"/>
          </a:xfrm>
          <a:prstGeom prst="rect">
            <a:avLst/>
          </a:prstGeom>
          <a:solidFill>
            <a:srgbClr val="48A9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298448"/>
            <a:ext cx="12191695" cy="41148"/>
          </a:xfrm>
          <a:prstGeom prst="rect">
            <a:avLst/>
          </a:prstGeom>
          <a:solidFill>
            <a:srgbClr val="48A9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48A9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816852"/>
            <a:ext cx="12191695" cy="41148"/>
          </a:xfrm>
          <a:prstGeom prst="rect">
            <a:avLst/>
          </a:prstGeom>
          <a:solidFill>
            <a:srgbClr val="50F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551615" y="54864"/>
            <a:ext cx="594360" cy="20116"/>
          </a:xfrm>
          <a:prstGeom prst="rect">
            <a:avLst/>
          </a:prstGeom>
          <a:solidFill>
            <a:srgbClr val="48A9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167567" y="173736"/>
            <a:ext cx="978408" cy="19019"/>
          </a:xfrm>
          <a:prstGeom prst="rect">
            <a:avLst/>
          </a:prstGeom>
          <a:solidFill>
            <a:srgbClr val="1E52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0783519" y="292608"/>
            <a:ext cx="1362456" cy="17922"/>
          </a:xfrm>
          <a:prstGeom prst="rect">
            <a:avLst/>
          </a:prstGeom>
          <a:solidFill>
            <a:srgbClr val="48A9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0399471" y="411480"/>
            <a:ext cx="1746504" cy="16824"/>
          </a:xfrm>
          <a:prstGeom prst="rect">
            <a:avLst/>
          </a:prstGeom>
          <a:solidFill>
            <a:srgbClr val="1E52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0015423" y="530352"/>
            <a:ext cx="2130552" cy="15727"/>
          </a:xfrm>
          <a:prstGeom prst="rect">
            <a:avLst/>
          </a:prstGeom>
          <a:solidFill>
            <a:srgbClr val="48A9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0" y="1298448"/>
            <a:ext cx="91440" cy="5285232"/>
          </a:xfrm>
          <a:prstGeom prst="rect">
            <a:avLst/>
          </a:prstGeom>
          <a:solidFill>
            <a:srgbClr val="48A9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74320" y="192024"/>
            <a:ext cx="685800" cy="347472"/>
          </a:xfrm>
          <a:prstGeom prst="rect">
            <a:avLst/>
          </a:prstGeom>
          <a:solidFill>
            <a:srgbClr val="48A9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74320" y="192024"/>
            <a:ext cx="685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00000"/>
                </a:solidFill>
                <a:latin typeface="Segoe UI"/>
              </a:rPr>
              <a:t>4.3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33271" y="155448"/>
            <a:ext cx="10865815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AF9F6"/>
                </a:solidFill>
                <a:latin typeface="Segoe UI"/>
              </a:rPr>
              <a:t>The Shuffle Block â€” Our Key Design Decision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1417320"/>
            <a:ext cx="5394960" cy="49834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700" b="0">
                <a:solidFill>
                  <a:srgbClr val="FAF9F6"/>
                </a:solidFill>
                <a:latin typeface="Segoe UI"/>
              </a:rPr>
              <a:t>â–¸  Each of the 16 shuffle blocks in Group 2 processes one stage of the network</a:t>
            </a:r>
          </a:p>
          <a:p>
            <a:pPr>
              <a:spcBef>
                <a:spcPts val="500"/>
              </a:spcBef>
            </a:pPr>
            <a:r>
              <a:rPr sz="1700" b="0">
                <a:solidFill>
                  <a:srgbClr val="FAF9F6"/>
                </a:solidFill>
                <a:latin typeface="Segoe UI"/>
              </a:rPr>
              <a:t>â–¸  Full ShuffleNet V2: Branch 2 runs PW1Ã—1 â†’ DW3Ã—3 â†’ PW2Ã—1 (3 sequential convolutions)</a:t>
            </a:r>
          </a:p>
          <a:p>
            <a:pPr>
              <a:spcBef>
                <a:spcPts val="500"/>
              </a:spcBef>
            </a:pPr>
            <a:r>
              <a:rPr sz="1700" b="1">
                <a:solidFill>
                  <a:srgbClr val="48A9C9"/>
                </a:solidFill>
                <a:latin typeface="Segoe UI"/>
              </a:rPr>
              <a:t>â–¸  Our RTL design â€” a deliberate architectural choice:</a:t>
            </a:r>
          </a:p>
          <a:p>
            <a:pPr>
              <a:spcBef>
                <a:spcPts val="200"/>
              </a:spcBef>
            </a:pPr>
            <a:r>
              <a:rPr sz="1500" b="1">
                <a:solidFill>
                  <a:srgbClr val="50FA1E"/>
                </a:solidFill>
                <a:latin typeface="Segoe UI"/>
              </a:rPr>
              <a:t>      â€¢  DW3Ã—3 âˆ¥ PW1Ã—1 â€” both run simultaneously as a single parallel stage</a:t>
            </a:r>
          </a:p>
          <a:p>
            <a:pPr>
              <a:spcBef>
                <a:spcPts val="500"/>
              </a:spcBef>
            </a:pPr>
            <a:r>
              <a:rPr sz="1700" b="0">
                <a:solidFill>
                  <a:srgbClr val="FAF9F6"/>
                </a:solidFill>
                <a:latin typeface="Segoe UI"/>
              </a:rPr>
              <a:t>â–¸  Why this choice was made:</a:t>
            </a:r>
          </a:p>
          <a:p>
            <a:pPr>
              <a:spcBef>
                <a:spcPts val="200"/>
              </a:spcBef>
            </a:pPr>
            <a:r>
              <a:rPr sz="1500" b="0">
                <a:solidFill>
                  <a:srgbClr val="88AABB"/>
                </a:solidFill>
                <a:latin typeface="Segoe UI"/>
              </a:rPr>
              <a:t>      â€¢  Eliminates the PW1 multiplier bank â€” saves DSPs and BRAM</a:t>
            </a:r>
          </a:p>
          <a:p>
            <a:pPr>
              <a:spcBef>
                <a:spcPts val="200"/>
              </a:spcBef>
            </a:pPr>
            <a:r>
              <a:rPr sz="1500" b="0">
                <a:solidFill>
                  <a:srgbClr val="88AABB"/>
                </a:solidFill>
                <a:latin typeface="Segoe UI"/>
              </a:rPr>
              <a:t>      â€¢  No intermediate buffer between PW1 and DW â€” saves BRAM tiles</a:t>
            </a:r>
          </a:p>
          <a:p>
            <a:pPr>
              <a:spcBef>
                <a:spcPts val="200"/>
              </a:spcBef>
            </a:pPr>
            <a:r>
              <a:rPr sz="1500" b="0">
                <a:solidFill>
                  <a:srgbClr val="88AABB"/>
                </a:solidFill>
                <a:latin typeface="Segoe UI"/>
              </a:rPr>
              <a:t>      â€¢  Reduces Group 2 latency â€” better overall pipeline balance</a:t>
            </a:r>
          </a:p>
          <a:p>
            <a:pPr>
              <a:spcBef>
                <a:spcPts val="200"/>
              </a:spcBef>
            </a:pPr>
            <a:r>
              <a:rPr sz="1500" b="0">
                <a:solidFill>
                  <a:srgbClr val="88AABB"/>
                </a:solidFill>
                <a:latin typeface="Segoe UI"/>
              </a:rPr>
              <a:t>      â€¢  Trade-off: hardware computes different operations from the trained model</a:t>
            </a:r>
          </a:p>
          <a:p>
            <a:pPr>
              <a:spcBef>
                <a:spcPts val="200"/>
              </a:spcBef>
            </a:pPr>
            <a:r>
              <a:rPr sz="1500" b="0">
                <a:solidFill>
                  <a:srgbClr val="88AABB"/>
                </a:solidFill>
                <a:latin typeface="Segoe UI"/>
              </a:rPr>
              <a:t>      â€¢  Full hardware accuracy measurement requires board testing (in progress)</a:t>
            </a:r>
          </a:p>
          <a:p>
            <a:pPr>
              <a:spcBef>
                <a:spcPts val="500"/>
              </a:spcBef>
            </a:pPr>
            <a:r>
              <a:rPr sz="1700" b="0">
                <a:solidFill>
                  <a:srgbClr val="FAF9F6"/>
                </a:solidFill>
                <a:latin typeface="Segoe UI"/>
              </a:rPr>
              <a:t>â–¸  Our HLS implementation uses the full PWâ†’DWâ†’PW for rigorous comparison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035040" y="1389888"/>
            <a:ext cx="5989320" cy="4937760"/>
          </a:xfrm>
          <a:prstGeom prst="rect">
            <a:avLst/>
          </a:prstGeom>
          <a:solidFill>
            <a:srgbClr val="1A301A"/>
          </a:solidFill>
          <a:ln w="25400">
            <a:solidFill>
              <a:srgbClr val="2860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071616" y="1426464"/>
            <a:ext cx="5916168" cy="4864608"/>
          </a:xfrm>
          <a:prstGeom prst="rect">
            <a:avLst/>
          </a:prstGeom>
          <a:solidFill>
            <a:srgbClr val="1A301A"/>
          </a:solidFill>
          <a:ln w="6350">
            <a:solidFill>
              <a:srgbClr val="88AA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035040" y="2278684"/>
            <a:ext cx="5989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50FA1E"/>
                </a:solidFill>
                <a:latin typeface="Segoe UI"/>
              </a:rPr>
              <a:t>[ INSERT FIGURE ]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99632" y="2644444"/>
            <a:ext cx="5660136" cy="4160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FAF9F6"/>
                </a:solidFill>
                <a:latin typeface="Segoe UI"/>
              </a:rPr>
              <a:t>Shuffle block comparison diagram (side-by-side)
LEFT "Full ShuffleNet V2": Input â†’ split â†’ Branch1 (identity) + Branch2 (PW1Ã—1 â†’ DW3Ã—3 â†’ PW1Ã—1) â†’ Concat + Channel Shuffle â†’ Output.
RIGHT "Our RTL â€” DW âˆ¥ PW": Input â†’ split â†’ Branch1 (identity) + parallel bracket containing [DW3Ã—3 | PW1Ã—1] simultaneously â†’ Concat + Channel Shuffle â†’ Output. Label "Both run simultaneously" outside bracket. "Saves: âˆ’1 PW1 conv bank, âˆ’1 BRAM buffer" in corner.
Center divider: "VS" in green.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98448"/>
          </a:xfrm>
          <a:prstGeom prst="rect">
            <a:avLst/>
          </a:prstGeom>
          <a:solidFill>
            <a:srgbClr val="10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1298448"/>
          </a:xfrm>
          <a:prstGeom prst="rect">
            <a:avLst/>
          </a:prstGeom>
          <a:solidFill>
            <a:srgbClr val="48A9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298448"/>
            <a:ext cx="12191695" cy="41148"/>
          </a:xfrm>
          <a:prstGeom prst="rect">
            <a:avLst/>
          </a:prstGeom>
          <a:solidFill>
            <a:srgbClr val="48A9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48A9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816852"/>
            <a:ext cx="12191695" cy="41148"/>
          </a:xfrm>
          <a:prstGeom prst="rect">
            <a:avLst/>
          </a:prstGeom>
          <a:solidFill>
            <a:srgbClr val="50F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551615" y="54864"/>
            <a:ext cx="594360" cy="20116"/>
          </a:xfrm>
          <a:prstGeom prst="rect">
            <a:avLst/>
          </a:prstGeom>
          <a:solidFill>
            <a:srgbClr val="48A9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167567" y="173736"/>
            <a:ext cx="978408" cy="19019"/>
          </a:xfrm>
          <a:prstGeom prst="rect">
            <a:avLst/>
          </a:prstGeom>
          <a:solidFill>
            <a:srgbClr val="1E52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0783519" y="292608"/>
            <a:ext cx="1362456" cy="17922"/>
          </a:xfrm>
          <a:prstGeom prst="rect">
            <a:avLst/>
          </a:prstGeom>
          <a:solidFill>
            <a:srgbClr val="48A9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0399471" y="411480"/>
            <a:ext cx="1746504" cy="16824"/>
          </a:xfrm>
          <a:prstGeom prst="rect">
            <a:avLst/>
          </a:prstGeom>
          <a:solidFill>
            <a:srgbClr val="1E52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0015423" y="530352"/>
            <a:ext cx="2130552" cy="15727"/>
          </a:xfrm>
          <a:prstGeom prst="rect">
            <a:avLst/>
          </a:prstGeom>
          <a:solidFill>
            <a:srgbClr val="48A9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0" y="1298448"/>
            <a:ext cx="91440" cy="5285232"/>
          </a:xfrm>
          <a:prstGeom prst="rect">
            <a:avLst/>
          </a:prstGeom>
          <a:solidFill>
            <a:srgbClr val="48A9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74320" y="192024"/>
            <a:ext cx="685800" cy="347472"/>
          </a:xfrm>
          <a:prstGeom prst="rect">
            <a:avLst/>
          </a:prstGeom>
          <a:solidFill>
            <a:srgbClr val="48A9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74320" y="192024"/>
            <a:ext cx="685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00000"/>
                </a:solidFill>
                <a:latin typeface="Segoe UI"/>
              </a:rPr>
              <a:t>4.4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33271" y="155448"/>
            <a:ext cx="10865815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AF9F6"/>
                </a:solidFill>
                <a:latin typeface="Segoe UI"/>
              </a:rPr>
              <a:t>Group 1, 2 and 3 â€” Layer Details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33271" y="923544"/>
            <a:ext cx="108658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48A9C9"/>
                </a:solidFill>
                <a:latin typeface="Segoe UI"/>
              </a:rPr>
              <a:t>648 MACs/cycle in G1, 58+58 in G2, 32 in G3 â€” spatial parallelism at every stage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1417320"/>
            <a:ext cx="11533327" cy="49834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700" b="0">
                <a:solidFill>
                  <a:srgbClr val="FAF9F6"/>
                </a:solidFill>
                <a:latin typeface="Segoe UI"/>
              </a:rPr>
              <a:t>â–¸  24 parallel filter units Ã— 3 input channels Ã— 9 taps = 648 MACs per clock cycle</a:t>
            </a:r>
          </a:p>
          <a:p>
            <a:pPr>
              <a:spcBef>
                <a:spcPts val="500"/>
              </a:spcBef>
            </a:pPr>
            <a:r>
              <a:rPr sz="1700" b="0">
                <a:solidFill>
                  <a:srgbClr val="FAF9F6"/>
                </a:solidFill>
                <a:latin typeface="Segoe UI"/>
              </a:rPr>
              <a:t>â–¸  3-cycle spatial accumulation: one column of taps per cycle â€” no idle cycles</a:t>
            </a:r>
          </a:p>
          <a:p>
            <a:pPr>
              <a:spcBef>
                <a:spcPts val="500"/>
              </a:spcBef>
            </a:pPr>
            <a:r>
              <a:rPr sz="1700" b="0">
                <a:solidFill>
                  <a:srgbClr val="FAF9F6"/>
                </a:solidFill>
                <a:latin typeface="Segoe UI"/>
              </a:rPr>
              <a:t>â–¸  FIFO-based streaming: pixels flow conv3Ã—3 â†’ maxpool without intermediate storage</a:t>
            </a:r>
          </a:p>
          <a:p>
            <a:pPr>
              <a:spcBef>
                <a:spcPts val="500"/>
              </a:spcBef>
            </a:pPr>
            <a:r>
              <a:rPr sz="1700" b="0">
                <a:solidFill>
                  <a:srgbClr val="FAF9F6"/>
                </a:solidFill>
                <a:latin typeface="Segoe UI"/>
              </a:rPr>
              <a:t>â–¸  Weights: LUT-based ROM, 648 entries Ã— 12-bit BN-folded Q2.9 values</a:t>
            </a:r>
          </a:p>
          <a:p>
            <a:pPr>
              <a:spcBef>
                <a:spcPts val="500"/>
              </a:spcBef>
            </a:pPr>
            <a:r>
              <a:rPr sz="1700" b="1">
                <a:solidFill>
                  <a:srgbClr val="48A9C9"/>
                </a:solidFill>
                <a:latin typeface="Segoe UI"/>
              </a:rPr>
              <a:t>â–¸  Group 2 â€” 16 Shuffle Blocks</a:t>
            </a:r>
          </a:p>
          <a:p>
            <a:pPr>
              <a:spcBef>
                <a:spcPts val="200"/>
              </a:spcBef>
            </a:pPr>
            <a:r>
              <a:rPr sz="1500" b="0">
                <a:solidFill>
                  <a:srgbClr val="88AABB"/>
                </a:solidFill>
                <a:latin typeface="Segoe UI"/>
              </a:rPr>
              <a:t>      â€¢  58 parallel DW filter units â€” each owns its own 9-tap data slice (depthwise property)</a:t>
            </a:r>
          </a:p>
          <a:p>
            <a:pPr>
              <a:spcBef>
                <a:spcPts val="200"/>
              </a:spcBef>
            </a:pPr>
            <a:r>
              <a:rPr sz="1500" b="0">
                <a:solidFill>
                  <a:srgbClr val="88AABB"/>
                </a:solidFill>
                <a:latin typeface="Segoe UI"/>
              </a:rPr>
              <a:t>      â€¢  58 parallel PW filter units â€” all share the same 29 input channels (pointwise property)</a:t>
            </a:r>
          </a:p>
          <a:p>
            <a:pPr>
              <a:spcBef>
                <a:spcPts val="200"/>
              </a:spcBef>
            </a:pPr>
            <a:r>
              <a:rPr sz="1500" b="0">
                <a:solidFill>
                  <a:srgbClr val="88AABB"/>
                </a:solidFill>
                <a:latin typeface="Segoe UI"/>
              </a:rPr>
              <a:t>      â€¢  group2_fifo: variable-depth shift-register FIFO â€” 4 widths (7, 14, 28, 56 stages)</a:t>
            </a:r>
          </a:p>
          <a:p>
            <a:pPr>
              <a:spcBef>
                <a:spcPts val="500"/>
              </a:spcBef>
            </a:pPr>
            <a:r>
              <a:rPr sz="1700" b="1">
                <a:solidFill>
                  <a:srgbClr val="A060E0"/>
                </a:solidFill>
                <a:latin typeface="Segoe UI"/>
              </a:rPr>
              <a:t>â–¸  Group 3 â€” AvgPool + FC (the bottleneck)</a:t>
            </a:r>
          </a:p>
          <a:p>
            <a:pPr>
              <a:spcBef>
                <a:spcPts val="200"/>
              </a:spcBef>
            </a:pPr>
            <a:r>
              <a:rPr sz="1500" b="0">
                <a:solidFill>
                  <a:srgbClr val="88AABB"/>
                </a:solidFill>
                <a:latin typeface="Segoe UI"/>
              </a:rPr>
              <a:t>      â€¢  16 parallel 1Ã—1 PW filter units â†’ 1024-element vector via register file</a:t>
            </a:r>
          </a:p>
          <a:p>
            <a:pPr>
              <a:spcBef>
                <a:spcPts val="200"/>
              </a:spcBef>
            </a:pPr>
            <a:r>
              <a:rPr sz="1500" b="0">
                <a:solidFill>
                  <a:srgbClr val="88AABB"/>
                </a:solidFill>
                <a:latin typeface="Segoe UI"/>
              </a:rPr>
              <a:t>      â€¢  32 parallel FC filter units + adder_tree_32 â€” argmax gives class_idx 0â€“999</a:t>
            </a:r>
          </a:p>
          <a:p>
            <a:pPr>
              <a:spcBef>
                <a:spcPts val="500"/>
              </a:spcBef>
            </a:pPr>
            <a:r>
              <a:rPr sz="1700" b="1">
                <a:solidFill>
                  <a:srgbClr val="50FA1E"/>
                </a:solidFill>
                <a:latin typeface="Segoe UI"/>
              </a:rPr>
              <a:t>â–¸  Group 3 latency = 822 Î¼s â€” sets pipeline throughput ceiling at 1,216 fps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98448"/>
          </a:xfrm>
          <a:prstGeom prst="rect">
            <a:avLst/>
          </a:prstGeom>
          <a:solidFill>
            <a:srgbClr val="10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1298448"/>
          </a:xfrm>
          <a:prstGeom prst="rect">
            <a:avLst/>
          </a:prstGeom>
          <a:solidFill>
            <a:srgbClr val="48A9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298448"/>
            <a:ext cx="12191695" cy="41148"/>
          </a:xfrm>
          <a:prstGeom prst="rect">
            <a:avLst/>
          </a:prstGeom>
          <a:solidFill>
            <a:srgbClr val="48A9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48A9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816852"/>
            <a:ext cx="12191695" cy="41148"/>
          </a:xfrm>
          <a:prstGeom prst="rect">
            <a:avLst/>
          </a:prstGeom>
          <a:solidFill>
            <a:srgbClr val="50F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551615" y="6783020"/>
            <a:ext cx="594360" cy="20116"/>
          </a:xfrm>
          <a:prstGeom prst="rect">
            <a:avLst/>
          </a:prstGeom>
          <a:solidFill>
            <a:srgbClr val="48A9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167567" y="6674389"/>
            <a:ext cx="978408" cy="19019"/>
          </a:xfrm>
          <a:prstGeom prst="rect">
            <a:avLst/>
          </a:prstGeom>
          <a:solidFill>
            <a:srgbClr val="1E52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0783519" y="6565758"/>
            <a:ext cx="1362456" cy="17922"/>
          </a:xfrm>
          <a:prstGeom prst="rect">
            <a:avLst/>
          </a:prstGeom>
          <a:solidFill>
            <a:srgbClr val="48A9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0399471" y="6457128"/>
            <a:ext cx="1746504" cy="16824"/>
          </a:xfrm>
          <a:prstGeom prst="rect">
            <a:avLst/>
          </a:prstGeom>
          <a:solidFill>
            <a:srgbClr val="1E52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0015423" y="6348497"/>
            <a:ext cx="2130552" cy="15727"/>
          </a:xfrm>
          <a:prstGeom prst="rect">
            <a:avLst/>
          </a:prstGeom>
          <a:solidFill>
            <a:srgbClr val="48A9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74320" y="192024"/>
            <a:ext cx="685800" cy="347472"/>
          </a:xfrm>
          <a:prstGeom prst="rect">
            <a:avLst/>
          </a:prstGeom>
          <a:solidFill>
            <a:srgbClr val="48A9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74320" y="192024"/>
            <a:ext cx="685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00000"/>
                </a:solidFill>
                <a:latin typeface="Segoe UI"/>
              </a:rPr>
              <a:t>4.5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33271" y="155448"/>
            <a:ext cx="10865815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AF9F6"/>
                </a:solidFill>
                <a:latin typeface="Segoe UI"/>
              </a:rPr>
              <a:t>Memory Architecture â€” Zero DRAM During Inference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33271" y="923544"/>
            <a:ext cx="1086581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48A9C9"/>
                </a:solidFill>
                <a:latin typeface="Segoe UI"/>
              </a:rPr>
              <a:t>Every weight and every activation lives on-chip. No external memory access.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4320" y="1353312"/>
            <a:ext cx="11643055" cy="4983481"/>
          </a:xfrm>
          <a:prstGeom prst="rect">
            <a:avLst/>
          </a:prstGeom>
          <a:solidFill>
            <a:srgbClr val="1A301A"/>
          </a:solidFill>
          <a:ln w="25400">
            <a:solidFill>
              <a:srgbClr val="2860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10896" y="1389888"/>
            <a:ext cx="11569903" cy="4910329"/>
          </a:xfrm>
          <a:prstGeom prst="rect">
            <a:avLst/>
          </a:prstGeom>
          <a:solidFill>
            <a:srgbClr val="1A301A"/>
          </a:solidFill>
          <a:ln w="6350">
            <a:solidFill>
              <a:srgbClr val="88AA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74320" y="2250338"/>
            <a:ext cx="1164305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50FA1E"/>
                </a:solidFill>
                <a:latin typeface="Segoe UI"/>
              </a:rPr>
              <a:t>[ INSERT FIGURE ]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8912" y="2616098"/>
            <a:ext cx="11313871" cy="42062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FAF9F6"/>
                </a:solidFill>
                <a:latin typeface="Segoe UI"/>
              </a:rPr>
              <a:t>On-chip memory hierarchy diagram (4 stacked layers, pyramid-style)
From top (smallest/fastest) to bottom (largest/slower):
1. LUT-ROM (G1 weights): narrow box, green border â€” "648Ã—12-bit = 7.8 Kbit"
2. BRAM Weight ROMs (G2/G3): medium box, blue border â€” "BN-folded Q6.8 â€” read-only during inference"
3. BRAM Feature Maps: wider box, purple border â€” "Maxpool: 24Ã—BRAM36 | Photo: 3Ã—ping-pong banks"
4. Shift-Register FIFOs (Group 2): widest box, gray border â€” "Variable depth 9â€“58 stages per shuffle block"
Bottom text in green: "Zero DRAM access during inference". Right side badge: "55.95% BRAM used".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98448"/>
          </a:xfrm>
          <a:prstGeom prst="rect">
            <a:avLst/>
          </a:prstGeom>
          <a:solidFill>
            <a:srgbClr val="10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1298448"/>
          </a:xfrm>
          <a:prstGeom prst="rect">
            <a:avLst/>
          </a:prstGeom>
          <a:solidFill>
            <a:srgbClr val="48A9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298448"/>
            <a:ext cx="12191695" cy="41148"/>
          </a:xfrm>
          <a:prstGeom prst="rect">
            <a:avLst/>
          </a:prstGeom>
          <a:solidFill>
            <a:srgbClr val="48A9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48A9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816852"/>
            <a:ext cx="12191695" cy="41148"/>
          </a:xfrm>
          <a:prstGeom prst="rect">
            <a:avLst/>
          </a:prstGeom>
          <a:solidFill>
            <a:srgbClr val="50F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551615" y="6783020"/>
            <a:ext cx="594360" cy="20116"/>
          </a:xfrm>
          <a:prstGeom prst="rect">
            <a:avLst/>
          </a:prstGeom>
          <a:solidFill>
            <a:srgbClr val="48A9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167567" y="6674389"/>
            <a:ext cx="978408" cy="19019"/>
          </a:xfrm>
          <a:prstGeom prst="rect">
            <a:avLst/>
          </a:prstGeom>
          <a:solidFill>
            <a:srgbClr val="1E52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0783519" y="6565758"/>
            <a:ext cx="1362456" cy="17922"/>
          </a:xfrm>
          <a:prstGeom prst="rect">
            <a:avLst/>
          </a:prstGeom>
          <a:solidFill>
            <a:srgbClr val="48A9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0399471" y="6457128"/>
            <a:ext cx="1746504" cy="16824"/>
          </a:xfrm>
          <a:prstGeom prst="rect">
            <a:avLst/>
          </a:prstGeom>
          <a:solidFill>
            <a:srgbClr val="1E52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0015423" y="6348497"/>
            <a:ext cx="2130552" cy="15727"/>
          </a:xfrm>
          <a:prstGeom prst="rect">
            <a:avLst/>
          </a:prstGeom>
          <a:solidFill>
            <a:srgbClr val="48A9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74320" y="192024"/>
            <a:ext cx="685800" cy="347472"/>
          </a:xfrm>
          <a:prstGeom prst="rect">
            <a:avLst/>
          </a:prstGeom>
          <a:solidFill>
            <a:srgbClr val="48A9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74320" y="192024"/>
            <a:ext cx="685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00000"/>
                </a:solidFill>
                <a:latin typeface="Segoe UI"/>
              </a:rPr>
              <a:t>4.6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33271" y="155448"/>
            <a:ext cx="10865815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AF9F6"/>
                </a:solidFill>
                <a:latin typeface="Segoe UI"/>
              </a:rPr>
              <a:t>AXI4-Lite Memory Map â€” PS to PL Interface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33271" y="923544"/>
            <a:ext cx="1086581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48A9C9"/>
                </a:solidFill>
                <a:latin typeface="Segoe UI"/>
              </a:rPr>
              <a:t>Linux writes 150,528 pixels, sets photo_ready, polls done, reads class_idx.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4320" y="1353312"/>
            <a:ext cx="11643055" cy="4983481"/>
          </a:xfrm>
          <a:prstGeom prst="rect">
            <a:avLst/>
          </a:prstGeom>
          <a:solidFill>
            <a:srgbClr val="1A301A"/>
          </a:solidFill>
          <a:ln w="25400">
            <a:solidFill>
              <a:srgbClr val="2860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10896" y="1389888"/>
            <a:ext cx="11569903" cy="4910329"/>
          </a:xfrm>
          <a:prstGeom prst="rect">
            <a:avLst/>
          </a:prstGeom>
          <a:solidFill>
            <a:srgbClr val="1A301A"/>
          </a:solidFill>
          <a:ln w="6350">
            <a:solidFill>
              <a:srgbClr val="88AA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74320" y="2250338"/>
            <a:ext cx="1164305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50FA1E"/>
                </a:solidFill>
                <a:latin typeface="Segoe UI"/>
              </a:rPr>
              <a:t>[ INSERT FIGURE ]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8912" y="2616098"/>
            <a:ext cx="11313871" cy="42062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FAF9F6"/>
                </a:solidFill>
                <a:latin typeface="Segoe UI"/>
              </a:rPr>
              <a:t>AXI memory map diagram
Large outer rectangle. Upper region (green border): "PIXEL WRITE REGION (AWADDR[21]=0)" with text lines: AWADDR[20]=mem_select, AWADDR[19:18]=channel (R/G/B), AWADDR[17:2]=pixel_index (0-50175), WDATA[7:0]=pixel value (0-255), "150,528 AXI writes per frame". Lower region (blue border): "CSR REGISTER (AWADDR[21]=1, offset 0x200000)" with: WR bit[0]=photo_ready starts inference, RD bit[2]=classification_done, RD bits[12:3]=class_idx (0-999). Left side: address labels 0xA000_0000 (green), 0xA01F_FFFF (gray), 0xA020_0000 (blue), 0xA1FF_FFFF (gray).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98448"/>
          </a:xfrm>
          <a:prstGeom prst="rect">
            <a:avLst/>
          </a:prstGeom>
          <a:solidFill>
            <a:srgbClr val="10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1298448"/>
          </a:xfrm>
          <a:prstGeom prst="rect">
            <a:avLst/>
          </a:prstGeom>
          <a:solidFill>
            <a:srgbClr val="48A9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298448"/>
            <a:ext cx="12191695" cy="41148"/>
          </a:xfrm>
          <a:prstGeom prst="rect">
            <a:avLst/>
          </a:prstGeom>
          <a:solidFill>
            <a:srgbClr val="48A9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48A9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816852"/>
            <a:ext cx="12191695" cy="41148"/>
          </a:xfrm>
          <a:prstGeom prst="rect">
            <a:avLst/>
          </a:prstGeom>
          <a:solidFill>
            <a:srgbClr val="50F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551615" y="54864"/>
            <a:ext cx="594360" cy="20116"/>
          </a:xfrm>
          <a:prstGeom prst="rect">
            <a:avLst/>
          </a:prstGeom>
          <a:solidFill>
            <a:srgbClr val="48A9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167567" y="173736"/>
            <a:ext cx="978408" cy="19019"/>
          </a:xfrm>
          <a:prstGeom prst="rect">
            <a:avLst/>
          </a:prstGeom>
          <a:solidFill>
            <a:srgbClr val="1E52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0783519" y="292608"/>
            <a:ext cx="1362456" cy="17922"/>
          </a:xfrm>
          <a:prstGeom prst="rect">
            <a:avLst/>
          </a:prstGeom>
          <a:solidFill>
            <a:srgbClr val="48A9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0399471" y="411480"/>
            <a:ext cx="1746504" cy="16824"/>
          </a:xfrm>
          <a:prstGeom prst="rect">
            <a:avLst/>
          </a:prstGeom>
          <a:solidFill>
            <a:srgbClr val="1E52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0015423" y="530352"/>
            <a:ext cx="2130552" cy="15727"/>
          </a:xfrm>
          <a:prstGeom prst="rect">
            <a:avLst/>
          </a:prstGeom>
          <a:solidFill>
            <a:srgbClr val="48A9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0" y="1298448"/>
            <a:ext cx="91440" cy="5285232"/>
          </a:xfrm>
          <a:prstGeom prst="rect">
            <a:avLst/>
          </a:prstGeom>
          <a:solidFill>
            <a:srgbClr val="48A9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74320" y="192024"/>
            <a:ext cx="685800" cy="347472"/>
          </a:xfrm>
          <a:prstGeom prst="rect">
            <a:avLst/>
          </a:prstGeom>
          <a:solidFill>
            <a:srgbClr val="48A9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74320" y="192024"/>
            <a:ext cx="685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00000"/>
                </a:solidFill>
                <a:latin typeface="Segoe UI"/>
              </a:rPr>
              <a:t>4.7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33271" y="155448"/>
            <a:ext cx="10865815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AF9F6"/>
                </a:solidFill>
                <a:latin typeface="Segoe UI"/>
              </a:rPr>
              <a:t>System Integration â€” Block Design &amp; Synthesis Flow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33271" y="923544"/>
            <a:ext cx="108658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48A9C9"/>
                </a:solidFill>
                <a:latin typeface="Segoe UI"/>
              </a:rPr>
              <a:t>One script chain from source to bitstream, fully repeatable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1417320"/>
            <a:ext cx="11533327" cy="49834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700" b="0">
                <a:solidFill>
                  <a:srgbClr val="FAF9F6"/>
                </a:solidFill>
                <a:latin typeface="Segoe UI"/>
              </a:rPr>
              <a:t>â–¸  Vivado Block Design: Zynq PS + SmartConnect + shufflenet_board_top</a:t>
            </a:r>
          </a:p>
          <a:p>
            <a:pPr>
              <a:spcBef>
                <a:spcPts val="200"/>
              </a:spcBef>
            </a:pPr>
            <a:r>
              <a:rPr sz="1500" b="0">
                <a:solidFill>
                  <a:srgbClr val="88AABB"/>
                </a:solidFill>
                <a:latin typeface="Segoe UI"/>
              </a:rPr>
              <a:t>      â€¢  PS AXI master â†’ SmartConnect â†’ AXI4-Lite slave (0xA000_0000, 32 MB range)</a:t>
            </a:r>
          </a:p>
          <a:p>
            <a:pPr>
              <a:spcBef>
                <a:spcPts val="200"/>
              </a:spcBef>
            </a:pPr>
            <a:r>
              <a:rPr sz="1500" b="0">
                <a:solidFill>
                  <a:srgbClr val="88AABB"/>
                </a:solidFill>
                <a:latin typeface="Segoe UI"/>
              </a:rPr>
              <a:t>      â€¢  shufflenet_board_top.v: MMCM (100 MHz) + AXI slave + accelerator_top</a:t>
            </a:r>
          </a:p>
          <a:p>
            <a:pPr>
              <a:spcBef>
                <a:spcPts val="500"/>
              </a:spcBef>
            </a:pPr>
            <a:r>
              <a:rPr sz="1700" b="0">
                <a:solidFill>
                  <a:srgbClr val="FAF9F6"/>
                </a:solidFill>
                <a:latin typeface="Segoe UI"/>
              </a:rPr>
              <a:t>â–¸  Split synthesis flow â€” 4 Tcl scripts (required by peak RAM constraints):</a:t>
            </a:r>
          </a:p>
          <a:p>
            <a:pPr>
              <a:spcBef>
                <a:spcPts val="200"/>
              </a:spcBef>
            </a:pPr>
            <a:r>
              <a:rPr sz="1500" b="0">
                <a:solidFill>
                  <a:srgbClr val="88AABB"/>
                </a:solidFill>
                <a:latin typeface="Segoe UI"/>
              </a:rPr>
              <a:t>      â€¢  Part 0: Group 1 OOC synthesis (~3 min)</a:t>
            </a:r>
          </a:p>
          <a:p>
            <a:pPr>
              <a:spcBef>
                <a:spcPts val="200"/>
              </a:spcBef>
            </a:pPr>
            <a:r>
              <a:rPr sz="1500" b="0">
                <a:solidFill>
                  <a:srgbClr val="88AABB"/>
                </a:solidFill>
                <a:latin typeface="Segoe UI"/>
              </a:rPr>
              <a:t>      â€¢  Part 1: Group 2 OOC synthesis (~9 min)</a:t>
            </a:r>
          </a:p>
          <a:p>
            <a:pPr>
              <a:spcBef>
                <a:spcPts val="200"/>
              </a:spcBef>
            </a:pPr>
            <a:r>
              <a:rPr sz="1500" b="0">
                <a:solidFill>
                  <a:srgbClr val="88AABB"/>
                </a:solidFill>
                <a:latin typeface="Segoe UI"/>
              </a:rPr>
              <a:t>      â€¢  Part 2: Group 3 OOC synthesis (~11 min)</a:t>
            </a:r>
          </a:p>
          <a:p>
            <a:pPr>
              <a:spcBef>
                <a:spcPts val="200"/>
              </a:spcBef>
            </a:pPr>
            <a:r>
              <a:rPr sz="1500" b="0">
                <a:solidFill>
                  <a:srgbClr val="88AABB"/>
                </a:solidFill>
                <a:latin typeface="Segoe UI"/>
              </a:rPr>
              <a:t>      â€¢  Part 3: Top-level synth + P&amp;R â€” injects group DCPs via read_checkpoint -cell</a:t>
            </a:r>
          </a:p>
          <a:p>
            <a:pPr>
              <a:spcBef>
                <a:spcPts val="500"/>
              </a:spcBef>
            </a:pPr>
            <a:r>
              <a:rPr sz="1700" b="1">
                <a:solidFill>
                  <a:srgbClr val="50FA1E"/>
                </a:solidFill>
                <a:latin typeface="Segoe UI"/>
              </a:rPr>
              <a:t>â–¸  Outputs: shufflenet.bit (34.7 MB) + shufflenet_routed.dcp (85.2 MB) + shufflenet.xsa</a:t>
            </a:r>
          </a:p>
          <a:p>
            <a:pPr>
              <a:spcBef>
                <a:spcPts val="500"/>
              </a:spcBef>
            </a:pPr>
            <a:r>
              <a:rPr sz="1700" b="0">
                <a:solidFill>
                  <a:srgbClr val="48A9C9"/>
                </a:solidFill>
                <a:latin typeface="Segoe UI"/>
              </a:rPr>
              <a:t>â–¸  One chip, two subsystems: ARM Linux PS + ShuffleNet RTL PL, talking over AXI4-Lite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017520"/>
          </a:xfrm>
          <a:prstGeom prst="rect">
            <a:avLst/>
          </a:prstGeom>
          <a:solidFill>
            <a:srgbClr val="08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48A9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3017520"/>
            <a:ext cx="12191695" cy="64008"/>
          </a:xfrm>
          <a:prstGeom prst="rect">
            <a:avLst/>
          </a:prstGeom>
          <a:solidFill>
            <a:srgbClr val="48A9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3081528"/>
            <a:ext cx="12191695" cy="29260"/>
          </a:xfrm>
          <a:prstGeom prst="rect">
            <a:avLst/>
          </a:prstGeom>
          <a:solidFill>
            <a:srgbClr val="50F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716975" y="45720"/>
            <a:ext cx="3200400" cy="2606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5500" b="1" i="0">
                <a:solidFill>
                  <a:srgbClr val="102A44"/>
                </a:solidFill>
                <a:latin typeface="Segoe UI"/>
              </a:rPr>
              <a:t>05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02920"/>
            <a:ext cx="8076895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 i="0">
                <a:solidFill>
                  <a:srgbClr val="FAF9F6"/>
                </a:solidFill>
                <a:latin typeface="Segoe UI"/>
              </a:rPr>
              <a:t>Verification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468880"/>
            <a:ext cx="108200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1">
                <a:solidFill>
                  <a:srgbClr val="48A9C9"/>
                </a:solidFill>
                <a:latin typeface="Segoe UI"/>
              </a:rPr>
              <a:t>48 testbenches. Zero surprises at synthesis.</a:t>
            </a:r>
          </a:p>
        </p:txBody>
      </p:sp>
      <p:sp>
        <p:nvSpPr>
          <p:cNvPr id="9" name="Rectangle 8"/>
          <p:cNvSpPr/>
          <p:nvPr/>
        </p:nvSpPr>
        <p:spPr>
          <a:xfrm>
            <a:off x="11551615" y="6783020"/>
            <a:ext cx="594360" cy="20116"/>
          </a:xfrm>
          <a:prstGeom prst="rect">
            <a:avLst/>
          </a:prstGeom>
          <a:solidFill>
            <a:srgbClr val="48A9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1167567" y="6674389"/>
            <a:ext cx="978408" cy="19019"/>
          </a:xfrm>
          <a:prstGeom prst="rect">
            <a:avLst/>
          </a:prstGeom>
          <a:solidFill>
            <a:srgbClr val="1E52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0783519" y="6565758"/>
            <a:ext cx="1362456" cy="17922"/>
          </a:xfrm>
          <a:prstGeom prst="rect">
            <a:avLst/>
          </a:prstGeom>
          <a:solidFill>
            <a:srgbClr val="48A9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0399471" y="6457128"/>
            <a:ext cx="1746504" cy="16824"/>
          </a:xfrm>
          <a:prstGeom prst="rect">
            <a:avLst/>
          </a:prstGeom>
          <a:solidFill>
            <a:srgbClr val="1E52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0015423" y="6348497"/>
            <a:ext cx="2130552" cy="15727"/>
          </a:xfrm>
          <a:prstGeom prst="rect">
            <a:avLst/>
          </a:prstGeom>
          <a:solidFill>
            <a:srgbClr val="48A9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9631375" y="6239867"/>
            <a:ext cx="2514600" cy="14630"/>
          </a:xfrm>
          <a:prstGeom prst="rect">
            <a:avLst/>
          </a:prstGeom>
          <a:solidFill>
            <a:srgbClr val="1E52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9247327" y="6131235"/>
            <a:ext cx="2898648" cy="13533"/>
          </a:xfrm>
          <a:prstGeom prst="rect">
            <a:avLst/>
          </a:prstGeom>
          <a:solidFill>
            <a:srgbClr val="48A9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863279" y="6022606"/>
            <a:ext cx="3282696" cy="12435"/>
          </a:xfrm>
          <a:prstGeom prst="rect">
            <a:avLst/>
          </a:prstGeom>
          <a:solidFill>
            <a:srgbClr val="1E52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479231" y="5913974"/>
            <a:ext cx="3666744" cy="11338"/>
          </a:xfrm>
          <a:prstGeom prst="rect">
            <a:avLst/>
          </a:prstGeom>
          <a:solidFill>
            <a:srgbClr val="48A9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0" y="6812280"/>
            <a:ext cx="12191695" cy="45720"/>
          </a:xfrm>
          <a:prstGeom prst="rect">
            <a:avLst/>
          </a:prstGeom>
          <a:solidFill>
            <a:srgbClr val="50F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84048" y="6016752"/>
            <a:ext cx="228600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50FA1E"/>
                </a:solidFill>
                <a:latin typeface="Segoe UI"/>
              </a:rPr>
              <a:t>XLR8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98448"/>
          </a:xfrm>
          <a:prstGeom prst="rect">
            <a:avLst/>
          </a:prstGeom>
          <a:solidFill>
            <a:srgbClr val="10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1298448"/>
          </a:xfrm>
          <a:prstGeom prst="rect">
            <a:avLst/>
          </a:prstGeom>
          <a:solidFill>
            <a:srgbClr val="48A9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298448"/>
            <a:ext cx="12191695" cy="41148"/>
          </a:xfrm>
          <a:prstGeom prst="rect">
            <a:avLst/>
          </a:prstGeom>
          <a:solidFill>
            <a:srgbClr val="48A9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48A9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816852"/>
            <a:ext cx="12191695" cy="41148"/>
          </a:xfrm>
          <a:prstGeom prst="rect">
            <a:avLst/>
          </a:prstGeom>
          <a:solidFill>
            <a:srgbClr val="50F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551615" y="6783020"/>
            <a:ext cx="594360" cy="20116"/>
          </a:xfrm>
          <a:prstGeom prst="rect">
            <a:avLst/>
          </a:prstGeom>
          <a:solidFill>
            <a:srgbClr val="48A9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167567" y="6674389"/>
            <a:ext cx="978408" cy="19019"/>
          </a:xfrm>
          <a:prstGeom prst="rect">
            <a:avLst/>
          </a:prstGeom>
          <a:solidFill>
            <a:srgbClr val="1E52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0783519" y="6565758"/>
            <a:ext cx="1362456" cy="17922"/>
          </a:xfrm>
          <a:prstGeom prst="rect">
            <a:avLst/>
          </a:prstGeom>
          <a:solidFill>
            <a:srgbClr val="48A9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0399471" y="6457128"/>
            <a:ext cx="1746504" cy="16824"/>
          </a:xfrm>
          <a:prstGeom prst="rect">
            <a:avLst/>
          </a:prstGeom>
          <a:solidFill>
            <a:srgbClr val="1E52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0015423" y="6348497"/>
            <a:ext cx="2130552" cy="15727"/>
          </a:xfrm>
          <a:prstGeom prst="rect">
            <a:avLst/>
          </a:prstGeom>
          <a:solidFill>
            <a:srgbClr val="48A9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74320" y="192024"/>
            <a:ext cx="685800" cy="347472"/>
          </a:xfrm>
          <a:prstGeom prst="rect">
            <a:avLst/>
          </a:prstGeom>
          <a:solidFill>
            <a:srgbClr val="48A9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74320" y="192024"/>
            <a:ext cx="685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00000"/>
                </a:solidFill>
                <a:latin typeface="Segoe UI"/>
              </a:rPr>
              <a:t>5.1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33271" y="155448"/>
            <a:ext cx="10865815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AF9F6"/>
                </a:solidFill>
                <a:latin typeface="Segoe UI"/>
              </a:rPr>
              <a:t>Verification Flow â€” Bottom-Up, Python-Driven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33271" y="923544"/>
            <a:ext cx="1086581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48A9C9"/>
                </a:solidFill>
                <a:latin typeface="Segoe UI"/>
              </a:rPr>
              <a:t>Every module independently verified against a bit-true Python golden model before integration.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4320" y="1353312"/>
            <a:ext cx="11643055" cy="4983481"/>
          </a:xfrm>
          <a:prstGeom prst="rect">
            <a:avLst/>
          </a:prstGeom>
          <a:solidFill>
            <a:srgbClr val="1A301A"/>
          </a:solidFill>
          <a:ln w="25400">
            <a:solidFill>
              <a:srgbClr val="2860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10896" y="1389888"/>
            <a:ext cx="11569903" cy="4910329"/>
          </a:xfrm>
          <a:prstGeom prst="rect">
            <a:avLst/>
          </a:prstGeom>
          <a:solidFill>
            <a:srgbClr val="1A301A"/>
          </a:solidFill>
          <a:ln w="6350">
            <a:solidFill>
              <a:srgbClr val="88AA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74320" y="2250338"/>
            <a:ext cx="1164305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50FA1E"/>
                </a:solidFill>
                <a:latin typeface="Segoe UI"/>
              </a:rPr>
              <a:t>[ INSERT FIGURE ]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8912" y="2616098"/>
            <a:ext cx="11313871" cy="42062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FAF9F6"/>
                </a:solidFill>
                <a:latin typeface="Segoe UI"/>
              </a:rPr>
              <a:t>Verification flow diagram
Top row (left to right, with arrows): PyTorch Golden Model â†’ Q6.8 Bit-True Python Model â†’ .hex Test Vector Files â†’ Verilog Testbench.
Vertical arrow from Verilog Testbench down to: RTL DUT box â†” Vivado XSim box (bidirectional arrows).
Downward arrow from XSim to: "*** ALL TESTS PASSED ***" green box.
Bottom-left area: 4 small example module boxes with checkmarks: mac_unit (213 vecs), adder_tree (100 vecs), group2_fifo (1040 checks), weights_rom (648 vecs).
Left area text: "50 modules / 48 testbenches / All passing" in green.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98448"/>
          </a:xfrm>
          <a:prstGeom prst="rect">
            <a:avLst/>
          </a:prstGeom>
          <a:solidFill>
            <a:srgbClr val="10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1298448"/>
          </a:xfrm>
          <a:prstGeom prst="rect">
            <a:avLst/>
          </a:prstGeom>
          <a:solidFill>
            <a:srgbClr val="48A9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298448"/>
            <a:ext cx="12191695" cy="41148"/>
          </a:xfrm>
          <a:prstGeom prst="rect">
            <a:avLst/>
          </a:prstGeom>
          <a:solidFill>
            <a:srgbClr val="48A9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48A9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816852"/>
            <a:ext cx="12191695" cy="41148"/>
          </a:xfrm>
          <a:prstGeom prst="rect">
            <a:avLst/>
          </a:prstGeom>
          <a:solidFill>
            <a:srgbClr val="50F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551615" y="54864"/>
            <a:ext cx="594360" cy="20116"/>
          </a:xfrm>
          <a:prstGeom prst="rect">
            <a:avLst/>
          </a:prstGeom>
          <a:solidFill>
            <a:srgbClr val="48A9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167567" y="173736"/>
            <a:ext cx="978408" cy="19019"/>
          </a:xfrm>
          <a:prstGeom prst="rect">
            <a:avLst/>
          </a:prstGeom>
          <a:solidFill>
            <a:srgbClr val="1E52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0783519" y="292608"/>
            <a:ext cx="1362456" cy="17922"/>
          </a:xfrm>
          <a:prstGeom prst="rect">
            <a:avLst/>
          </a:prstGeom>
          <a:solidFill>
            <a:srgbClr val="48A9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0399471" y="411480"/>
            <a:ext cx="1746504" cy="16824"/>
          </a:xfrm>
          <a:prstGeom prst="rect">
            <a:avLst/>
          </a:prstGeom>
          <a:solidFill>
            <a:srgbClr val="1E52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0015423" y="530352"/>
            <a:ext cx="2130552" cy="15727"/>
          </a:xfrm>
          <a:prstGeom prst="rect">
            <a:avLst/>
          </a:prstGeom>
          <a:solidFill>
            <a:srgbClr val="48A9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0" y="1298448"/>
            <a:ext cx="91440" cy="5285232"/>
          </a:xfrm>
          <a:prstGeom prst="rect">
            <a:avLst/>
          </a:prstGeom>
          <a:solidFill>
            <a:srgbClr val="48A9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74320" y="192024"/>
            <a:ext cx="685800" cy="347472"/>
          </a:xfrm>
          <a:prstGeom prst="rect">
            <a:avLst/>
          </a:prstGeom>
          <a:solidFill>
            <a:srgbClr val="48A9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74320" y="192024"/>
            <a:ext cx="685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00000"/>
                </a:solidFill>
                <a:latin typeface="Segoe UI"/>
              </a:rPr>
              <a:t>5.2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33271" y="155448"/>
            <a:ext cx="10865815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AF9F6"/>
                </a:solidFill>
                <a:latin typeface="Segoe UI"/>
              </a:rPr>
              <a:t>Verification by the Numbers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33271" y="923544"/>
            <a:ext cx="108658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48A9C9"/>
                </a:solidFill>
                <a:latin typeface="Segoe UI"/>
              </a:rPr>
              <a:t>No surprises at synthesis. Every line of RTL was tested before it was integrated.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1417320"/>
            <a:ext cx="11533327" cy="49834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700" b="0">
                <a:solidFill>
                  <a:srgbClr val="FAF9F6"/>
                </a:solidFill>
                <a:latin typeface="Segoe UI"/>
              </a:rPr>
              <a:t>â–¸  Bottom-up strategy: primitives â†’ cores â†’ group tops â†’ system top</a:t>
            </a:r>
          </a:p>
          <a:p>
            <a:pPr>
              <a:spcBef>
                <a:spcPts val="500"/>
              </a:spcBef>
            </a:pPr>
            <a:r>
              <a:rPr sz="1700" b="1">
                <a:solidFill>
                  <a:srgbClr val="50FA1E"/>
                </a:solidFill>
                <a:latin typeface="Segoe UI"/>
              </a:rPr>
              <a:t>â–¸  50 synthesizable RTL modules, 48 self-checking Verilog testbenches</a:t>
            </a:r>
          </a:p>
          <a:p>
            <a:pPr>
              <a:spcBef>
                <a:spcPts val="500"/>
              </a:spcBef>
            </a:pPr>
            <a:r>
              <a:rPr sz="1700" b="0">
                <a:solidFill>
                  <a:srgbClr val="FAF9F6"/>
                </a:solidFill>
                <a:latin typeface="Segoe UI"/>
              </a:rPr>
              <a:t>â–¸  Key test coverage:</a:t>
            </a:r>
          </a:p>
          <a:p>
            <a:pPr>
              <a:spcBef>
                <a:spcPts val="200"/>
              </a:spcBef>
            </a:pPr>
            <a:r>
              <a:rPr sz="1500" b="0">
                <a:solidFill>
                  <a:srgbClr val="88AABB"/>
                </a:solidFill>
                <a:latin typeface="Segoe UI"/>
              </a:rPr>
              <a:t>      â€¢  mac_unit.v: 213 vectors â€” normal, saturation, zero, all corner cases</a:t>
            </a:r>
          </a:p>
          <a:p>
            <a:pPr>
              <a:spcBef>
                <a:spcPts val="200"/>
              </a:spcBef>
            </a:pPr>
            <a:r>
              <a:rPr sz="1500" b="0">
                <a:solidFill>
                  <a:srgbClr val="88AABB"/>
                </a:solidFill>
                <a:latin typeface="Segoe UI"/>
              </a:rPr>
              <a:t>      â€¢  adder_tree_9.v: random + structured + all-same input vectors</a:t>
            </a:r>
          </a:p>
          <a:p>
            <a:pPr>
              <a:spcBef>
                <a:spcPts val="200"/>
              </a:spcBef>
            </a:pPr>
            <a:r>
              <a:rPr sz="1500" b="0">
                <a:solidFill>
                  <a:srgbClr val="88AABB"/>
                </a:solidFill>
                <a:latin typeface="Segoe UI"/>
              </a:rPr>
              <a:t>      â€¢  group2_fifo: 1,040 step-checks across 8 width/depth configurations</a:t>
            </a:r>
          </a:p>
          <a:p>
            <a:pPr>
              <a:spcBef>
                <a:spcPts val="200"/>
              </a:spcBef>
            </a:pPr>
            <a:r>
              <a:rPr sz="1500" b="0">
                <a:solidFill>
                  <a:srgbClr val="88AABB"/>
                </a:solidFill>
                <a:latin typeface="Segoe UI"/>
              </a:rPr>
              <a:t>      â€¢  weights_rom_3x3: 648 / 648 vectors â€” real BN-folded Q2.9 weights, max error &lt; 1 LSB</a:t>
            </a:r>
          </a:p>
          <a:p>
            <a:pPr>
              <a:spcBef>
                <a:spcPts val="200"/>
              </a:spcBef>
            </a:pPr>
            <a:r>
              <a:rPr sz="1500" b="0">
                <a:solidFill>
                  <a:srgbClr val="88AABB"/>
                </a:solidFill>
                <a:latin typeface="Segoe UI"/>
              </a:rPr>
              <a:t>      â€¢  conv3x3_core, maxpool_core, avg_pool_core: full spatial pass with golden output compare</a:t>
            </a:r>
          </a:p>
          <a:p>
            <a:pPr>
              <a:spcBef>
                <a:spcPts val="200"/>
              </a:spcBef>
            </a:pPr>
            <a:r>
              <a:rPr sz="1500" b="0">
                <a:solidFill>
                  <a:srgbClr val="88AABB"/>
                </a:solidFill>
                <a:latin typeface="Segoe UI"/>
              </a:rPr>
              <a:t>      â€¢  accelerator_top: 8 structural smoke-test checks at integration level</a:t>
            </a:r>
          </a:p>
          <a:p>
            <a:pPr>
              <a:spcBef>
                <a:spcPts val="500"/>
              </a:spcBef>
            </a:pPr>
            <a:r>
              <a:rPr sz="1700" b="0">
                <a:solidFill>
                  <a:srgbClr val="48A9C9"/>
                </a:solidFill>
                <a:latin typeface="Segoe UI"/>
              </a:rPr>
              <a:t>â–¸  3 Q6.8 arithmetic bugs found and fixed during development:</a:t>
            </a:r>
          </a:p>
          <a:p>
            <a:pPr>
              <a:spcBef>
                <a:spcPts val="200"/>
              </a:spcBef>
            </a:pPr>
            <a:r>
              <a:rPr sz="1500" b="0">
                <a:solidFill>
                  <a:srgbClr val="88AABB"/>
                </a:solidFill>
                <a:latin typeface="Segoe UI"/>
              </a:rPr>
              <a:t>      â€¢  MAC rounding, conv layer shift, avgpool shift â€” all caught by Python golden model</a:t>
            </a:r>
          </a:p>
          <a:p>
            <a:pPr>
              <a:spcBef>
                <a:spcPts val="500"/>
              </a:spcBef>
            </a:pPr>
            <a:r>
              <a:rPr sz="1700" b="1">
                <a:solidFill>
                  <a:srgbClr val="50FA1E"/>
                </a:solidFill>
                <a:latin typeface="Segoe UI"/>
              </a:rPr>
              <a:t>â–¸  All 48 testbenches pass â€” zero failing endpoints entering synthesis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48A9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07708"/>
            <a:ext cx="12191695" cy="50292"/>
          </a:xfrm>
          <a:prstGeom prst="rect">
            <a:avLst/>
          </a:prstGeom>
          <a:solidFill>
            <a:srgbClr val="50F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551615" y="54864"/>
            <a:ext cx="594360" cy="20116"/>
          </a:xfrm>
          <a:prstGeom prst="rect">
            <a:avLst/>
          </a:prstGeom>
          <a:solidFill>
            <a:srgbClr val="48A9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1167567" y="173736"/>
            <a:ext cx="978408" cy="19019"/>
          </a:xfrm>
          <a:prstGeom prst="rect">
            <a:avLst/>
          </a:prstGeom>
          <a:solidFill>
            <a:srgbClr val="1E52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0783519" y="292608"/>
            <a:ext cx="1362456" cy="17922"/>
          </a:xfrm>
          <a:prstGeom prst="rect">
            <a:avLst/>
          </a:prstGeom>
          <a:solidFill>
            <a:srgbClr val="48A9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0399471" y="411480"/>
            <a:ext cx="1746504" cy="16824"/>
          </a:xfrm>
          <a:prstGeom prst="rect">
            <a:avLst/>
          </a:prstGeom>
          <a:solidFill>
            <a:srgbClr val="1E52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0015423" y="530352"/>
            <a:ext cx="2130552" cy="15727"/>
          </a:xfrm>
          <a:prstGeom prst="rect">
            <a:avLst/>
          </a:prstGeom>
          <a:solidFill>
            <a:srgbClr val="48A9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9631375" y="649224"/>
            <a:ext cx="2514600" cy="14630"/>
          </a:xfrm>
          <a:prstGeom prst="rect">
            <a:avLst/>
          </a:prstGeom>
          <a:solidFill>
            <a:srgbClr val="1E52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9247327" y="768096"/>
            <a:ext cx="2898648" cy="13533"/>
          </a:xfrm>
          <a:prstGeom prst="rect">
            <a:avLst/>
          </a:prstGeom>
          <a:solidFill>
            <a:srgbClr val="48A9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863279" y="886968"/>
            <a:ext cx="3282696" cy="12435"/>
          </a:xfrm>
          <a:prstGeom prst="rect">
            <a:avLst/>
          </a:prstGeom>
          <a:solidFill>
            <a:srgbClr val="1E52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479231" y="1005840"/>
            <a:ext cx="3666744" cy="11338"/>
          </a:xfrm>
          <a:prstGeom prst="rect">
            <a:avLst/>
          </a:prstGeom>
          <a:solidFill>
            <a:srgbClr val="48A9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095184" y="1124712"/>
            <a:ext cx="4050791" cy="10241"/>
          </a:xfrm>
          <a:prstGeom prst="rect">
            <a:avLst/>
          </a:prstGeom>
          <a:solidFill>
            <a:srgbClr val="1E52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711135" y="1243584"/>
            <a:ext cx="4434840" cy="9144"/>
          </a:xfrm>
          <a:prstGeom prst="rect">
            <a:avLst/>
          </a:prstGeom>
          <a:solidFill>
            <a:srgbClr val="48A9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5720" y="6783020"/>
            <a:ext cx="594360" cy="20116"/>
          </a:xfrm>
          <a:prstGeom prst="rect">
            <a:avLst/>
          </a:prstGeom>
          <a:solidFill>
            <a:srgbClr val="48A9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5720" y="6674389"/>
            <a:ext cx="978408" cy="19019"/>
          </a:xfrm>
          <a:prstGeom prst="rect">
            <a:avLst/>
          </a:prstGeom>
          <a:solidFill>
            <a:srgbClr val="1E52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5720" y="6565758"/>
            <a:ext cx="1362456" cy="17922"/>
          </a:xfrm>
          <a:prstGeom prst="rect">
            <a:avLst/>
          </a:prstGeom>
          <a:solidFill>
            <a:srgbClr val="48A9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5720" y="6457128"/>
            <a:ext cx="1746504" cy="16824"/>
          </a:xfrm>
          <a:prstGeom prst="rect">
            <a:avLst/>
          </a:prstGeom>
          <a:solidFill>
            <a:srgbClr val="1E52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5720" y="6348497"/>
            <a:ext cx="2130552" cy="15727"/>
          </a:xfrm>
          <a:prstGeom prst="rect">
            <a:avLst/>
          </a:prstGeom>
          <a:solidFill>
            <a:srgbClr val="48A9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5720" y="6239867"/>
            <a:ext cx="2514600" cy="14630"/>
          </a:xfrm>
          <a:prstGeom prst="rect">
            <a:avLst/>
          </a:prstGeom>
          <a:solidFill>
            <a:srgbClr val="1E52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5720" y="6131235"/>
            <a:ext cx="2898648" cy="13533"/>
          </a:xfrm>
          <a:prstGeom prst="rect">
            <a:avLst/>
          </a:prstGeom>
          <a:solidFill>
            <a:srgbClr val="48A9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5720" y="6022606"/>
            <a:ext cx="3282696" cy="12435"/>
          </a:xfrm>
          <a:prstGeom prst="rect">
            <a:avLst/>
          </a:prstGeom>
          <a:solidFill>
            <a:srgbClr val="1E52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47472" y="256032"/>
            <a:ext cx="137160" cy="137160"/>
          </a:xfrm>
          <a:prstGeom prst="rect">
            <a:avLst/>
          </a:prstGeom>
          <a:solidFill>
            <a:srgbClr val="50F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40080" y="256032"/>
            <a:ext cx="137160" cy="137160"/>
          </a:xfrm>
          <a:prstGeom prst="rect">
            <a:avLst/>
          </a:prstGeom>
          <a:solidFill>
            <a:srgbClr val="48A9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32688" y="256032"/>
            <a:ext cx="137160" cy="137160"/>
          </a:xfrm>
          <a:prstGeom prst="rect">
            <a:avLst/>
          </a:prstGeom>
          <a:solidFill>
            <a:srgbClr val="48A9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1225295" y="256032"/>
            <a:ext cx="137160" cy="137160"/>
          </a:xfrm>
          <a:prstGeom prst="rect">
            <a:avLst/>
          </a:prstGeom>
          <a:solidFill>
            <a:srgbClr val="48A9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1517904" y="256032"/>
            <a:ext cx="137160" cy="137160"/>
          </a:xfrm>
          <a:prstGeom prst="rect">
            <a:avLst/>
          </a:prstGeom>
          <a:solidFill>
            <a:srgbClr val="48A9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0" y="685800"/>
            <a:ext cx="12191695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200" b="1" i="0">
                <a:solidFill>
                  <a:srgbClr val="102A44"/>
                </a:solidFill>
                <a:latin typeface="Segoe UI"/>
              </a:rPr>
              <a:t>ACT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0" y="1600200"/>
            <a:ext cx="12191695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0" b="1" i="0">
                <a:solidFill>
                  <a:srgbClr val="081C2E"/>
                </a:solidFill>
                <a:latin typeface="Segoe UI"/>
              </a:rPr>
              <a:t>2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560320" y="3703320"/>
            <a:ext cx="7068312" cy="59436"/>
          </a:xfrm>
          <a:prstGeom prst="rect">
            <a:avLst/>
          </a:prstGeom>
          <a:solidFill>
            <a:srgbClr val="48A9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017520" y="3767328"/>
            <a:ext cx="6153912" cy="27432"/>
          </a:xfrm>
          <a:prstGeom prst="rect">
            <a:avLst/>
          </a:prstGeom>
          <a:solidFill>
            <a:srgbClr val="50F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0" y="3931920"/>
            <a:ext cx="12191695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 i="0">
                <a:solidFill>
                  <a:srgbClr val="FAF9F6"/>
                </a:solidFill>
                <a:latin typeface="Segoe UI"/>
              </a:rPr>
              <a:t>RESULTS &amp; CONCLUSION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011680" y="4956048"/>
            <a:ext cx="8168335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1">
                <a:solidFill>
                  <a:srgbClr val="88AABB"/>
                </a:solidFill>
                <a:latin typeface="Segoe UI"/>
              </a:rPr>
              <a:t>Numbers do not lie â€” what the hardware actually achieved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017520"/>
          </a:xfrm>
          <a:prstGeom prst="rect">
            <a:avLst/>
          </a:prstGeom>
          <a:solidFill>
            <a:srgbClr val="08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48A9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3017520"/>
            <a:ext cx="12191695" cy="64008"/>
          </a:xfrm>
          <a:prstGeom prst="rect">
            <a:avLst/>
          </a:prstGeom>
          <a:solidFill>
            <a:srgbClr val="48A9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3081528"/>
            <a:ext cx="12191695" cy="29260"/>
          </a:xfrm>
          <a:prstGeom prst="rect">
            <a:avLst/>
          </a:prstGeom>
          <a:solidFill>
            <a:srgbClr val="50F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716975" y="45720"/>
            <a:ext cx="3200400" cy="2606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5500" b="1" i="0">
                <a:solidFill>
                  <a:srgbClr val="102A44"/>
                </a:solidFill>
                <a:latin typeface="Segoe UI"/>
              </a:rPr>
              <a:t>06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02920"/>
            <a:ext cx="8076895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 i="0">
                <a:solidFill>
                  <a:srgbClr val="FAF9F6"/>
                </a:solidFill>
                <a:latin typeface="Segoe UI"/>
              </a:rPr>
              <a:t>Synthesis Results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468880"/>
            <a:ext cx="108200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1">
                <a:solidFill>
                  <a:srgbClr val="48A9C9"/>
                </a:solidFill>
                <a:latin typeface="Segoe UI"/>
              </a:rPr>
              <a:t>Post place-and-route on real silicon â€” not estimates</a:t>
            </a:r>
          </a:p>
        </p:txBody>
      </p:sp>
      <p:sp>
        <p:nvSpPr>
          <p:cNvPr id="9" name="Rectangle 8"/>
          <p:cNvSpPr/>
          <p:nvPr/>
        </p:nvSpPr>
        <p:spPr>
          <a:xfrm>
            <a:off x="11551615" y="6783020"/>
            <a:ext cx="594360" cy="20116"/>
          </a:xfrm>
          <a:prstGeom prst="rect">
            <a:avLst/>
          </a:prstGeom>
          <a:solidFill>
            <a:srgbClr val="48A9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1167567" y="6674389"/>
            <a:ext cx="978408" cy="19019"/>
          </a:xfrm>
          <a:prstGeom prst="rect">
            <a:avLst/>
          </a:prstGeom>
          <a:solidFill>
            <a:srgbClr val="1E52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0783519" y="6565758"/>
            <a:ext cx="1362456" cy="17922"/>
          </a:xfrm>
          <a:prstGeom prst="rect">
            <a:avLst/>
          </a:prstGeom>
          <a:solidFill>
            <a:srgbClr val="48A9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0399471" y="6457128"/>
            <a:ext cx="1746504" cy="16824"/>
          </a:xfrm>
          <a:prstGeom prst="rect">
            <a:avLst/>
          </a:prstGeom>
          <a:solidFill>
            <a:srgbClr val="1E52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0015423" y="6348497"/>
            <a:ext cx="2130552" cy="15727"/>
          </a:xfrm>
          <a:prstGeom prst="rect">
            <a:avLst/>
          </a:prstGeom>
          <a:solidFill>
            <a:srgbClr val="48A9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9631375" y="6239867"/>
            <a:ext cx="2514600" cy="14630"/>
          </a:xfrm>
          <a:prstGeom prst="rect">
            <a:avLst/>
          </a:prstGeom>
          <a:solidFill>
            <a:srgbClr val="1E52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9247327" y="6131235"/>
            <a:ext cx="2898648" cy="13533"/>
          </a:xfrm>
          <a:prstGeom prst="rect">
            <a:avLst/>
          </a:prstGeom>
          <a:solidFill>
            <a:srgbClr val="48A9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863279" y="6022606"/>
            <a:ext cx="3282696" cy="12435"/>
          </a:xfrm>
          <a:prstGeom prst="rect">
            <a:avLst/>
          </a:prstGeom>
          <a:solidFill>
            <a:srgbClr val="1E52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479231" y="5913974"/>
            <a:ext cx="3666744" cy="11338"/>
          </a:xfrm>
          <a:prstGeom prst="rect">
            <a:avLst/>
          </a:prstGeom>
          <a:solidFill>
            <a:srgbClr val="48A9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0" y="6812280"/>
            <a:ext cx="12191695" cy="45720"/>
          </a:xfrm>
          <a:prstGeom prst="rect">
            <a:avLst/>
          </a:prstGeom>
          <a:solidFill>
            <a:srgbClr val="50F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84048" y="6016752"/>
            <a:ext cx="228600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50FA1E"/>
                </a:solidFill>
                <a:latin typeface="Segoe UI"/>
              </a:rPr>
              <a:t>XLR8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98448"/>
          </a:xfrm>
          <a:prstGeom prst="rect">
            <a:avLst/>
          </a:prstGeom>
          <a:solidFill>
            <a:srgbClr val="10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1298448"/>
          </a:xfrm>
          <a:prstGeom prst="rect">
            <a:avLst/>
          </a:prstGeom>
          <a:solidFill>
            <a:srgbClr val="48A9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298448"/>
            <a:ext cx="12191695" cy="41148"/>
          </a:xfrm>
          <a:prstGeom prst="rect">
            <a:avLst/>
          </a:prstGeom>
          <a:solidFill>
            <a:srgbClr val="48A9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48A9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816852"/>
            <a:ext cx="12191695" cy="41148"/>
          </a:xfrm>
          <a:prstGeom prst="rect">
            <a:avLst/>
          </a:prstGeom>
          <a:solidFill>
            <a:srgbClr val="50F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551615" y="6783020"/>
            <a:ext cx="594360" cy="20116"/>
          </a:xfrm>
          <a:prstGeom prst="rect">
            <a:avLst/>
          </a:prstGeom>
          <a:solidFill>
            <a:srgbClr val="48A9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167567" y="6674389"/>
            <a:ext cx="978408" cy="19019"/>
          </a:xfrm>
          <a:prstGeom prst="rect">
            <a:avLst/>
          </a:prstGeom>
          <a:solidFill>
            <a:srgbClr val="1E52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0783519" y="6565758"/>
            <a:ext cx="1362456" cy="17922"/>
          </a:xfrm>
          <a:prstGeom prst="rect">
            <a:avLst/>
          </a:prstGeom>
          <a:solidFill>
            <a:srgbClr val="48A9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0399471" y="6457128"/>
            <a:ext cx="1746504" cy="16824"/>
          </a:xfrm>
          <a:prstGeom prst="rect">
            <a:avLst/>
          </a:prstGeom>
          <a:solidFill>
            <a:srgbClr val="1E52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0015423" y="6348497"/>
            <a:ext cx="2130552" cy="15727"/>
          </a:xfrm>
          <a:prstGeom prst="rect">
            <a:avLst/>
          </a:prstGeom>
          <a:solidFill>
            <a:srgbClr val="48A9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74320" y="192024"/>
            <a:ext cx="685800" cy="347472"/>
          </a:xfrm>
          <a:prstGeom prst="rect">
            <a:avLst/>
          </a:prstGeom>
          <a:solidFill>
            <a:srgbClr val="48A9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74320" y="192024"/>
            <a:ext cx="685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00000"/>
                </a:solidFill>
                <a:latin typeface="Segoe UI"/>
              </a:rPr>
              <a:t>6.1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33271" y="155448"/>
            <a:ext cx="10865815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AF9F6"/>
                </a:solidFill>
                <a:latin typeface="Segoe UI"/>
              </a:rPr>
              <a:t>Resource Utilization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33271" y="923544"/>
            <a:ext cx="1086581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48A9C9"/>
                </a:solidFill>
                <a:latin typeface="Segoe UI"/>
              </a:rPr>
              <a:t>LUT 13.07%  |  DSP 78.76%  |  BRAM 55.95%  â€”  all targets met, room to grow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4320" y="1353312"/>
            <a:ext cx="11643055" cy="4983481"/>
          </a:xfrm>
          <a:prstGeom prst="rect">
            <a:avLst/>
          </a:prstGeom>
          <a:solidFill>
            <a:srgbClr val="1A301A"/>
          </a:solidFill>
          <a:ln w="25400">
            <a:solidFill>
              <a:srgbClr val="2860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10896" y="1389888"/>
            <a:ext cx="11569903" cy="4910329"/>
          </a:xfrm>
          <a:prstGeom prst="rect">
            <a:avLst/>
          </a:prstGeom>
          <a:solidFill>
            <a:srgbClr val="1A301A"/>
          </a:solidFill>
          <a:ln w="6350">
            <a:solidFill>
              <a:srgbClr val="88AA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74320" y="2250338"/>
            <a:ext cx="1164305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50FA1E"/>
                </a:solidFill>
                <a:latin typeface="Segoe UI"/>
              </a:rPr>
              <a:t>[ INSERT FIGURE ]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8912" y="2616098"/>
            <a:ext cx="11313871" cy="42062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FAF9F6"/>
                </a:solidFill>
                <a:latin typeface="Segoe UI"/>
              </a:rPr>
              <a:t>Three donut (ring) charts side by side
LUT (13.1%, blue ring): large unused portion visible. DSP (78.8%, green ring): nearly full. BRAM (56.0%, purple ring): half full. Each donut shows: percentage number in center, "used" label below, resource name below that, "Target â‰¤ X%" and "âœ“ Within budget" for DSP and BRAM. Title: "Resource Utilization â€” xczu19eg-ffvc1760-1-i @ 100 MHz".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98448"/>
          </a:xfrm>
          <a:prstGeom prst="rect">
            <a:avLst/>
          </a:prstGeom>
          <a:solidFill>
            <a:srgbClr val="10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1298448"/>
          </a:xfrm>
          <a:prstGeom prst="rect">
            <a:avLst/>
          </a:prstGeom>
          <a:solidFill>
            <a:srgbClr val="48A9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298448"/>
            <a:ext cx="12191695" cy="41148"/>
          </a:xfrm>
          <a:prstGeom prst="rect">
            <a:avLst/>
          </a:prstGeom>
          <a:solidFill>
            <a:srgbClr val="48A9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48A9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816852"/>
            <a:ext cx="12191695" cy="41148"/>
          </a:xfrm>
          <a:prstGeom prst="rect">
            <a:avLst/>
          </a:prstGeom>
          <a:solidFill>
            <a:srgbClr val="50F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551615" y="54864"/>
            <a:ext cx="594360" cy="20116"/>
          </a:xfrm>
          <a:prstGeom prst="rect">
            <a:avLst/>
          </a:prstGeom>
          <a:solidFill>
            <a:srgbClr val="48A9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167567" y="173736"/>
            <a:ext cx="978408" cy="19019"/>
          </a:xfrm>
          <a:prstGeom prst="rect">
            <a:avLst/>
          </a:prstGeom>
          <a:solidFill>
            <a:srgbClr val="1E52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0783519" y="292608"/>
            <a:ext cx="1362456" cy="17922"/>
          </a:xfrm>
          <a:prstGeom prst="rect">
            <a:avLst/>
          </a:prstGeom>
          <a:solidFill>
            <a:srgbClr val="48A9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0399471" y="411480"/>
            <a:ext cx="1746504" cy="16824"/>
          </a:xfrm>
          <a:prstGeom prst="rect">
            <a:avLst/>
          </a:prstGeom>
          <a:solidFill>
            <a:srgbClr val="1E52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0015423" y="530352"/>
            <a:ext cx="2130552" cy="15727"/>
          </a:xfrm>
          <a:prstGeom prst="rect">
            <a:avLst/>
          </a:prstGeom>
          <a:solidFill>
            <a:srgbClr val="48A9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0" y="1298448"/>
            <a:ext cx="91440" cy="5285232"/>
          </a:xfrm>
          <a:prstGeom prst="rect">
            <a:avLst/>
          </a:prstGeom>
          <a:solidFill>
            <a:srgbClr val="48A9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74320" y="192024"/>
            <a:ext cx="685800" cy="347472"/>
          </a:xfrm>
          <a:prstGeom prst="rect">
            <a:avLst/>
          </a:prstGeom>
          <a:solidFill>
            <a:srgbClr val="48A9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74320" y="192024"/>
            <a:ext cx="685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00000"/>
                </a:solidFill>
                <a:latin typeface="Segoe UI"/>
              </a:rPr>
              <a:t>6.2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33271" y="155448"/>
            <a:ext cx="10865815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AF9F6"/>
                </a:solidFill>
                <a:latin typeface="Segoe UI"/>
              </a:rPr>
              <a:t>Timing &amp; Performance Results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1417320"/>
            <a:ext cx="5394960" cy="49834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700" b="0">
                <a:solidFill>
                  <a:srgbClr val="FAF9F6"/>
                </a:solidFill>
                <a:latin typeface="Segoe UI"/>
              </a:rPr>
              <a:t>â–¸  Target: 100 MHz clock on xczu19eg-ffvc1760-1-i</a:t>
            </a:r>
          </a:p>
          <a:p>
            <a:pPr>
              <a:spcBef>
                <a:spcPts val="500"/>
              </a:spcBef>
            </a:pPr>
            <a:r>
              <a:rPr sz="1700" b="0">
                <a:solidFill>
                  <a:srgbClr val="FAF9F6"/>
                </a:solidFill>
                <a:latin typeface="Segoe UI"/>
              </a:rPr>
              <a:t>â–¸  Post place-and-route timing result:</a:t>
            </a:r>
          </a:p>
          <a:p>
            <a:pPr>
              <a:spcBef>
                <a:spcPts val="200"/>
              </a:spcBef>
            </a:pPr>
            <a:r>
              <a:rPr sz="1500" b="1">
                <a:solidFill>
                  <a:srgbClr val="50FA1E"/>
                </a:solidFill>
                <a:latin typeface="Segoe UI"/>
              </a:rPr>
              <a:t>      â€¢  WNS = +0.125 ns  â†’  TIMING CLOSED âœ“  â€”  zero failing endpoints</a:t>
            </a:r>
          </a:p>
          <a:p>
            <a:pPr>
              <a:spcBef>
                <a:spcPts val="200"/>
              </a:spcBef>
            </a:pPr>
            <a:r>
              <a:rPr sz="1500" b="0">
                <a:solidFill>
                  <a:srgbClr val="88AABB"/>
                </a:solidFill>
                <a:latin typeface="Segoe UI"/>
              </a:rPr>
              <a:t>      â€¢  Clock period = 10.000 ns  |  Worst slack = +0.125 ns  |  All paths met</a:t>
            </a:r>
          </a:p>
          <a:p>
            <a:pPr>
              <a:spcBef>
                <a:spcPts val="500"/>
              </a:spcBef>
            </a:pPr>
            <a:r>
              <a:rPr sz="1700" b="0">
                <a:solidFill>
                  <a:srgbClr val="FAF9F6"/>
                </a:solidFill>
                <a:latin typeface="Segoe UI"/>
              </a:rPr>
              <a:t>â–¸  Pipeline throughput:</a:t>
            </a:r>
          </a:p>
          <a:p>
            <a:pPr>
              <a:spcBef>
                <a:spcPts val="200"/>
              </a:spcBef>
            </a:pPr>
            <a:r>
              <a:rPr sz="1500" b="0">
                <a:solidFill>
                  <a:srgbClr val="88AABB"/>
                </a:solidFill>
                <a:latin typeface="Segoe UI"/>
              </a:rPr>
              <a:t>      â€¢  Group 1 latency: 633 Î¼s  |  Group 2: 798 Î¼s  |  Group 3: 822 Î¼s (bottleneck)</a:t>
            </a:r>
          </a:p>
          <a:p>
            <a:pPr>
              <a:spcBef>
                <a:spcPts val="200"/>
              </a:spcBef>
            </a:pPr>
            <a:r>
              <a:rPr sz="1500" b="1">
                <a:solidFill>
                  <a:srgbClr val="50FA1E"/>
                </a:solidFill>
                <a:latin typeface="Segoe UI"/>
              </a:rPr>
              <a:t>      â€¢  Throughput = 1 / 822 Î¼s = 1,216 fps â€” 40Ã— the 30 fps real-time requirement</a:t>
            </a:r>
          </a:p>
          <a:p>
            <a:pPr>
              <a:spcBef>
                <a:spcPts val="500"/>
              </a:spcBef>
            </a:pPr>
            <a:r>
              <a:rPr sz="1700" b="0">
                <a:solidFill>
                  <a:srgbClr val="FAF9F6"/>
                </a:solidFill>
                <a:latin typeface="Segoe UI"/>
              </a:rPr>
              <a:t>â–¸  Power &amp; energy:</a:t>
            </a:r>
          </a:p>
          <a:p>
            <a:pPr>
              <a:spcBef>
                <a:spcPts val="200"/>
              </a:spcBef>
            </a:pPr>
            <a:r>
              <a:rPr sz="1500" b="1">
                <a:solidFill>
                  <a:srgbClr val="50FA1E"/>
                </a:solidFill>
                <a:latin typeface="Segoe UI"/>
              </a:rPr>
              <a:t>      â€¢  Total power: 6.426 W  |  Energy per frame: 0.00529 J</a:t>
            </a:r>
          </a:p>
          <a:p>
            <a:pPr>
              <a:spcBef>
                <a:spcPts val="500"/>
              </a:spcBef>
            </a:pPr>
            <a:r>
              <a:rPr sz="1700" b="0">
                <a:solidFill>
                  <a:srgbClr val="48A9C9"/>
                </a:solidFill>
                <a:latin typeface="Segoe UI"/>
              </a:rPr>
              <a:t>â–¸  FF: 10.21%  |  LUT: 13.07%  |  DSP: 78.76%  |  BRAM: 55.95%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035040" y="1389888"/>
            <a:ext cx="5989320" cy="4937760"/>
          </a:xfrm>
          <a:prstGeom prst="rect">
            <a:avLst/>
          </a:prstGeom>
          <a:solidFill>
            <a:srgbClr val="1A301A"/>
          </a:solidFill>
          <a:ln w="25400">
            <a:solidFill>
              <a:srgbClr val="2860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071616" y="1426464"/>
            <a:ext cx="5916168" cy="4864608"/>
          </a:xfrm>
          <a:prstGeom prst="rect">
            <a:avLst/>
          </a:prstGeom>
          <a:solidFill>
            <a:srgbClr val="1A301A"/>
          </a:solidFill>
          <a:ln w="6350">
            <a:solidFill>
              <a:srgbClr val="88AA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035040" y="2278684"/>
            <a:ext cx="5989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50FA1E"/>
                </a:solidFill>
                <a:latin typeface="Segoe UI"/>
              </a:rPr>
              <a:t>[ INSERT FIGURE ]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99632" y="2644444"/>
            <a:ext cx="5660136" cy="4160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FAF9F6"/>
                </a:solidFill>
                <a:latin typeface="Segoe UI"/>
              </a:rPr>
              <a:t>Power breakdown pie chart
Pie chart with 4 slices: DSP Switching/MACs (45.9%, green, largest), Routing &amp; Clock Tree (22.9%, purple), BRAM static+dynamic (19.7%, blue), Logic &amp; Registers (11.5%, gray). Center area below pie: "Total: 6.426 W" bold, "0.00529 J / frame" in green. Title: "Power Breakdown â€” Post Place-and-Route".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98448"/>
          </a:xfrm>
          <a:prstGeom prst="rect">
            <a:avLst/>
          </a:prstGeom>
          <a:solidFill>
            <a:srgbClr val="10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1298448"/>
          </a:xfrm>
          <a:prstGeom prst="rect">
            <a:avLst/>
          </a:prstGeom>
          <a:solidFill>
            <a:srgbClr val="48A9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298448"/>
            <a:ext cx="12191695" cy="41148"/>
          </a:xfrm>
          <a:prstGeom prst="rect">
            <a:avLst/>
          </a:prstGeom>
          <a:solidFill>
            <a:srgbClr val="48A9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48A9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816852"/>
            <a:ext cx="12191695" cy="41148"/>
          </a:xfrm>
          <a:prstGeom prst="rect">
            <a:avLst/>
          </a:prstGeom>
          <a:solidFill>
            <a:srgbClr val="50F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551615" y="6783020"/>
            <a:ext cx="594360" cy="20116"/>
          </a:xfrm>
          <a:prstGeom prst="rect">
            <a:avLst/>
          </a:prstGeom>
          <a:solidFill>
            <a:srgbClr val="48A9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167567" y="6674389"/>
            <a:ext cx="978408" cy="19019"/>
          </a:xfrm>
          <a:prstGeom prst="rect">
            <a:avLst/>
          </a:prstGeom>
          <a:solidFill>
            <a:srgbClr val="1E52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0783519" y="6565758"/>
            <a:ext cx="1362456" cy="17922"/>
          </a:xfrm>
          <a:prstGeom prst="rect">
            <a:avLst/>
          </a:prstGeom>
          <a:solidFill>
            <a:srgbClr val="48A9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0399471" y="6457128"/>
            <a:ext cx="1746504" cy="16824"/>
          </a:xfrm>
          <a:prstGeom prst="rect">
            <a:avLst/>
          </a:prstGeom>
          <a:solidFill>
            <a:srgbClr val="1E52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0015423" y="6348497"/>
            <a:ext cx="2130552" cy="15727"/>
          </a:xfrm>
          <a:prstGeom prst="rect">
            <a:avLst/>
          </a:prstGeom>
          <a:solidFill>
            <a:srgbClr val="48A9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74320" y="192024"/>
            <a:ext cx="685800" cy="347472"/>
          </a:xfrm>
          <a:prstGeom prst="rect">
            <a:avLst/>
          </a:prstGeom>
          <a:solidFill>
            <a:srgbClr val="48A9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74320" y="192024"/>
            <a:ext cx="685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00000"/>
                </a:solidFill>
                <a:latin typeface="Segoe UI"/>
              </a:rPr>
              <a:t>6.3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33271" y="155448"/>
            <a:ext cx="10865815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AF9F6"/>
                </a:solidFill>
                <a:latin typeface="Segoe UI"/>
              </a:rPr>
              <a:t>Power Breakdown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33271" y="923544"/>
            <a:ext cx="1086581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48A9C9"/>
                </a:solidFill>
                <a:latin typeface="Segoe UI"/>
              </a:rPr>
              <a:t>6.426 W total. DSP switching dominates. 0.00529 J per classified image.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4320" y="1353312"/>
            <a:ext cx="11643055" cy="4983481"/>
          </a:xfrm>
          <a:prstGeom prst="rect">
            <a:avLst/>
          </a:prstGeom>
          <a:solidFill>
            <a:srgbClr val="1A301A"/>
          </a:solidFill>
          <a:ln w="25400">
            <a:solidFill>
              <a:srgbClr val="2860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10896" y="1389888"/>
            <a:ext cx="11569903" cy="4910329"/>
          </a:xfrm>
          <a:prstGeom prst="rect">
            <a:avLst/>
          </a:prstGeom>
          <a:solidFill>
            <a:srgbClr val="1A301A"/>
          </a:solidFill>
          <a:ln w="6350">
            <a:solidFill>
              <a:srgbClr val="88AA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74320" y="2250338"/>
            <a:ext cx="1164305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50FA1E"/>
                </a:solidFill>
                <a:latin typeface="Segoe UI"/>
              </a:rPr>
              <a:t>[ INSERT FIGURE ]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8912" y="2616098"/>
            <a:ext cx="11313871" cy="42062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FAF9F6"/>
                </a:solidFill>
                <a:latin typeface="Segoe UI"/>
              </a:rPr>
              <a:t>Power breakdown pie chart (full-width version)
Large pie chart: DSP Switching/MACs=45.9% (green), Routing &amp; Clock Tree=22.9% (purple), BRAM=19.7% (blue), Logic &amp; Registers=11.5% (gray). Label each slice with name + percentage. Below chart: "Total: 6.426 W" and "0.00529 J / frame". Title: "Power Breakdown â€” Post Place-and-Route (Vivado estimate)".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017520"/>
          </a:xfrm>
          <a:prstGeom prst="rect">
            <a:avLst/>
          </a:prstGeom>
          <a:solidFill>
            <a:srgbClr val="08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48A9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3017520"/>
            <a:ext cx="12191695" cy="64008"/>
          </a:xfrm>
          <a:prstGeom prst="rect">
            <a:avLst/>
          </a:prstGeom>
          <a:solidFill>
            <a:srgbClr val="48A9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3081528"/>
            <a:ext cx="12191695" cy="29260"/>
          </a:xfrm>
          <a:prstGeom prst="rect">
            <a:avLst/>
          </a:prstGeom>
          <a:solidFill>
            <a:srgbClr val="50F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716975" y="45720"/>
            <a:ext cx="3200400" cy="2606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5500" b="1" i="0">
                <a:solidFill>
                  <a:srgbClr val="102A44"/>
                </a:solidFill>
                <a:latin typeface="Segoe UI"/>
              </a:rPr>
              <a:t>07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02920"/>
            <a:ext cx="8076895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 i="0">
                <a:solidFill>
                  <a:srgbClr val="FAF9F6"/>
                </a:solidFill>
                <a:latin typeface="Segoe UI"/>
              </a:rPr>
              <a:t>RTL vs HLS Comparison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468880"/>
            <a:ext cx="108200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1">
                <a:solidFill>
                  <a:srgbClr val="48A9C9"/>
                </a:solidFill>
                <a:latin typeface="Segoe UI"/>
              </a:rPr>
              <a:t>The same model. Two methodologies. One clear winner.</a:t>
            </a:r>
          </a:p>
        </p:txBody>
      </p:sp>
      <p:sp>
        <p:nvSpPr>
          <p:cNvPr id="9" name="Rectangle 8"/>
          <p:cNvSpPr/>
          <p:nvPr/>
        </p:nvSpPr>
        <p:spPr>
          <a:xfrm>
            <a:off x="11551615" y="6783020"/>
            <a:ext cx="594360" cy="20116"/>
          </a:xfrm>
          <a:prstGeom prst="rect">
            <a:avLst/>
          </a:prstGeom>
          <a:solidFill>
            <a:srgbClr val="48A9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1167567" y="6674389"/>
            <a:ext cx="978408" cy="19019"/>
          </a:xfrm>
          <a:prstGeom prst="rect">
            <a:avLst/>
          </a:prstGeom>
          <a:solidFill>
            <a:srgbClr val="1E52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0783519" y="6565758"/>
            <a:ext cx="1362456" cy="17922"/>
          </a:xfrm>
          <a:prstGeom prst="rect">
            <a:avLst/>
          </a:prstGeom>
          <a:solidFill>
            <a:srgbClr val="48A9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0399471" y="6457128"/>
            <a:ext cx="1746504" cy="16824"/>
          </a:xfrm>
          <a:prstGeom prst="rect">
            <a:avLst/>
          </a:prstGeom>
          <a:solidFill>
            <a:srgbClr val="1E52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0015423" y="6348497"/>
            <a:ext cx="2130552" cy="15727"/>
          </a:xfrm>
          <a:prstGeom prst="rect">
            <a:avLst/>
          </a:prstGeom>
          <a:solidFill>
            <a:srgbClr val="48A9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9631375" y="6239867"/>
            <a:ext cx="2514600" cy="14630"/>
          </a:xfrm>
          <a:prstGeom prst="rect">
            <a:avLst/>
          </a:prstGeom>
          <a:solidFill>
            <a:srgbClr val="1E52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9247327" y="6131235"/>
            <a:ext cx="2898648" cy="13533"/>
          </a:xfrm>
          <a:prstGeom prst="rect">
            <a:avLst/>
          </a:prstGeom>
          <a:solidFill>
            <a:srgbClr val="48A9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863279" y="6022606"/>
            <a:ext cx="3282696" cy="12435"/>
          </a:xfrm>
          <a:prstGeom prst="rect">
            <a:avLst/>
          </a:prstGeom>
          <a:solidFill>
            <a:srgbClr val="1E52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479231" y="5913974"/>
            <a:ext cx="3666744" cy="11338"/>
          </a:xfrm>
          <a:prstGeom prst="rect">
            <a:avLst/>
          </a:prstGeom>
          <a:solidFill>
            <a:srgbClr val="48A9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0" y="6812280"/>
            <a:ext cx="12191695" cy="45720"/>
          </a:xfrm>
          <a:prstGeom prst="rect">
            <a:avLst/>
          </a:prstGeom>
          <a:solidFill>
            <a:srgbClr val="50F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84048" y="6016752"/>
            <a:ext cx="228600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50FA1E"/>
                </a:solidFill>
                <a:latin typeface="Segoe UI"/>
              </a:rPr>
              <a:t>XLR8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98448"/>
          </a:xfrm>
          <a:prstGeom prst="rect">
            <a:avLst/>
          </a:prstGeom>
          <a:solidFill>
            <a:srgbClr val="10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1298448"/>
          </a:xfrm>
          <a:prstGeom prst="rect">
            <a:avLst/>
          </a:prstGeom>
          <a:solidFill>
            <a:srgbClr val="48A9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298448"/>
            <a:ext cx="12191695" cy="41148"/>
          </a:xfrm>
          <a:prstGeom prst="rect">
            <a:avLst/>
          </a:prstGeom>
          <a:solidFill>
            <a:srgbClr val="48A9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48A9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816852"/>
            <a:ext cx="12191695" cy="41148"/>
          </a:xfrm>
          <a:prstGeom prst="rect">
            <a:avLst/>
          </a:prstGeom>
          <a:solidFill>
            <a:srgbClr val="50F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551615" y="54864"/>
            <a:ext cx="594360" cy="20116"/>
          </a:xfrm>
          <a:prstGeom prst="rect">
            <a:avLst/>
          </a:prstGeom>
          <a:solidFill>
            <a:srgbClr val="48A9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167567" y="173736"/>
            <a:ext cx="978408" cy="19019"/>
          </a:xfrm>
          <a:prstGeom prst="rect">
            <a:avLst/>
          </a:prstGeom>
          <a:solidFill>
            <a:srgbClr val="1E52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0783519" y="292608"/>
            <a:ext cx="1362456" cy="17922"/>
          </a:xfrm>
          <a:prstGeom prst="rect">
            <a:avLst/>
          </a:prstGeom>
          <a:solidFill>
            <a:srgbClr val="48A9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0399471" y="411480"/>
            <a:ext cx="1746504" cy="16824"/>
          </a:xfrm>
          <a:prstGeom prst="rect">
            <a:avLst/>
          </a:prstGeom>
          <a:solidFill>
            <a:srgbClr val="1E52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0015423" y="530352"/>
            <a:ext cx="2130552" cy="15727"/>
          </a:xfrm>
          <a:prstGeom prst="rect">
            <a:avLst/>
          </a:prstGeom>
          <a:solidFill>
            <a:srgbClr val="48A9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0" y="1298448"/>
            <a:ext cx="91440" cy="5285232"/>
          </a:xfrm>
          <a:prstGeom prst="rect">
            <a:avLst/>
          </a:prstGeom>
          <a:solidFill>
            <a:srgbClr val="48A9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74320" y="192024"/>
            <a:ext cx="685800" cy="347472"/>
          </a:xfrm>
          <a:prstGeom prst="rect">
            <a:avLst/>
          </a:prstGeom>
          <a:solidFill>
            <a:srgbClr val="48A9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74320" y="192024"/>
            <a:ext cx="685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00000"/>
                </a:solidFill>
                <a:latin typeface="Segoe UI"/>
              </a:rPr>
              <a:t>7.1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33271" y="155448"/>
            <a:ext cx="10865815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AF9F6"/>
                </a:solidFill>
                <a:latin typeface="Segoe UI"/>
              </a:rPr>
              <a:t>HLS Implementation â€” 4 Progressive Models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33271" y="923544"/>
            <a:ext cx="108658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48A9C9"/>
                </a:solidFill>
                <a:latin typeface="Segoe UI"/>
              </a:rPr>
              <a:t>Same model, same quantization, same target device â€” different design philosophy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1417320"/>
            <a:ext cx="11533327" cy="49834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700" b="0">
                <a:solidFill>
                  <a:srgbClr val="FAF9F6"/>
                </a:solidFill>
                <a:latin typeface="Segoe UI"/>
              </a:rPr>
              <a:t>â–¸  Tool: Vitis HLS 2024.2  |  Same ShuffleNet V2 x1.0  |  Full PWâ†’DWâ†’PW architecture</a:t>
            </a:r>
          </a:p>
          <a:p>
            <a:pPr>
              <a:spcBef>
                <a:spcPts val="500"/>
              </a:spcBef>
            </a:pPr>
            <a:r>
              <a:rPr sz="1700" b="0">
                <a:solidFill>
                  <a:srgbClr val="FAF9F6"/>
                </a:solidFill>
                <a:latin typeface="Segoe UI"/>
              </a:rPr>
              <a:t>â–¸  Model 1 â€” Baseline: plain C++, no pragmas (establishes C-sim ground truth)</a:t>
            </a:r>
          </a:p>
          <a:p>
            <a:pPr>
              <a:spcBef>
                <a:spcPts val="500"/>
              </a:spcBef>
            </a:pPr>
            <a:r>
              <a:rPr sz="1700" b="0">
                <a:solidFill>
                  <a:srgbClr val="FAF9F6"/>
                </a:solidFill>
                <a:latin typeface="Segoe UI"/>
              </a:rPr>
              <a:t>â–¸  Model 2 â€” Pipeline: #pragma HLS PIPELINE on innermost loops only</a:t>
            </a:r>
          </a:p>
          <a:p>
            <a:pPr>
              <a:spcBef>
                <a:spcPts val="200"/>
              </a:spcBef>
            </a:pPr>
            <a:r>
              <a:rPr sz="1500" b="0">
                <a:solidFill>
                  <a:srgbClr val="88AABB"/>
                </a:solidFill>
                <a:latin typeface="Segoe UI"/>
              </a:rPr>
              <a:t>      â€¢  C-synth on Virtex-7: 150.4 M cycles at 7.10 ns period</a:t>
            </a:r>
          </a:p>
          <a:p>
            <a:pPr>
              <a:spcBef>
                <a:spcPts val="500"/>
              </a:spcBef>
            </a:pPr>
            <a:r>
              <a:rPr sz="1700" b="0">
                <a:solidFill>
                  <a:srgbClr val="FAF9F6"/>
                </a:solidFill>
                <a:latin typeface="Segoe UI"/>
              </a:rPr>
              <a:t>â–¸  Model 3 â€” Parallelism: PIPELINE + UNROLL + DATAFLOW + sub-function decomposition</a:t>
            </a:r>
          </a:p>
          <a:p>
            <a:pPr>
              <a:spcBef>
                <a:spcPts val="200"/>
              </a:spcBef>
            </a:pPr>
            <a:r>
              <a:rPr sz="1500" b="0">
                <a:solidFill>
                  <a:srgbClr val="50FA1E"/>
                </a:solidFill>
                <a:latin typeface="Segoe UI"/>
              </a:rPr>
              <a:t>      â€¢  C-synth on ZU19EG: 22.1 M cycles at 7.28 ns â€” class 207 verified correct</a:t>
            </a:r>
          </a:p>
          <a:p>
            <a:pPr>
              <a:spcBef>
                <a:spcPts val="500"/>
              </a:spcBef>
            </a:pPr>
            <a:r>
              <a:rPr sz="1700" b="0">
                <a:solidFill>
                  <a:srgbClr val="FAF9F6"/>
                </a:solidFill>
                <a:latin typeface="Segoe UI"/>
              </a:rPr>
              <a:t>â–¸  Model 4 â€” Final: Model 3 + dynamic quantization + quad-window maxpool + dual-window DW</a:t>
            </a:r>
          </a:p>
          <a:p>
            <a:pPr>
              <a:spcBef>
                <a:spcPts val="200"/>
              </a:spcBef>
            </a:pPr>
            <a:r>
              <a:rPr sz="1500" b="0">
                <a:solidFill>
                  <a:srgbClr val="50FA1E"/>
                </a:solidFill>
                <a:latin typeface="Segoe UI"/>
              </a:rPr>
              <a:t>      â€¢  C-synth on ZU19EG: 21.8 M cycles at 5.11 ns â€” fastest HLS result</a:t>
            </a:r>
          </a:p>
          <a:p>
            <a:pPr>
              <a:spcBef>
                <a:spcPts val="500"/>
              </a:spcBef>
            </a:pPr>
            <a:r>
              <a:rPr sz="1700" b="0">
                <a:solidFill>
                  <a:srgbClr val="48A9C9"/>
                </a:solidFill>
                <a:latin typeface="Segoe UI"/>
              </a:rPr>
              <a:t>â–¸  Key challenge: full UNROLL on 464-channel loops â†’ HLS scheduler hangs (38+ min)</a:t>
            </a:r>
          </a:p>
          <a:p>
            <a:pPr>
              <a:spcBef>
                <a:spcPts val="200"/>
              </a:spcBef>
            </a:pPr>
            <a:r>
              <a:rPr sz="1500" b="0">
                <a:solidFill>
                  <a:srgbClr val="88AABB"/>
                </a:solidFill>
                <a:latin typeface="Segoe UI"/>
              </a:rPr>
              <a:t>      â€¢  Fix: reduce UNROLL factors to 4 in 3 functions â€” scheduler completes in minutes</a:t>
            </a:r>
          </a:p>
          <a:p>
            <a:pPr>
              <a:spcBef>
                <a:spcPts val="500"/>
              </a:spcBef>
            </a:pPr>
            <a:r>
              <a:rPr sz="1700" b="0">
                <a:solidFill>
                  <a:srgbClr val="FAF9F6"/>
                </a:solidFill>
                <a:latin typeface="Segoe UI"/>
              </a:rPr>
              <a:t>â–¸  P&amp;R infeasible: HLS-generated design exceeds device resources before pragma tuning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98448"/>
          </a:xfrm>
          <a:prstGeom prst="rect">
            <a:avLst/>
          </a:prstGeom>
          <a:solidFill>
            <a:srgbClr val="10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1298448"/>
          </a:xfrm>
          <a:prstGeom prst="rect">
            <a:avLst/>
          </a:prstGeom>
          <a:solidFill>
            <a:srgbClr val="48A9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298448"/>
            <a:ext cx="12191695" cy="41148"/>
          </a:xfrm>
          <a:prstGeom prst="rect">
            <a:avLst/>
          </a:prstGeom>
          <a:solidFill>
            <a:srgbClr val="48A9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48A9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816852"/>
            <a:ext cx="12191695" cy="41148"/>
          </a:xfrm>
          <a:prstGeom prst="rect">
            <a:avLst/>
          </a:prstGeom>
          <a:solidFill>
            <a:srgbClr val="50F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551615" y="6783020"/>
            <a:ext cx="594360" cy="20116"/>
          </a:xfrm>
          <a:prstGeom prst="rect">
            <a:avLst/>
          </a:prstGeom>
          <a:solidFill>
            <a:srgbClr val="48A9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167567" y="6674389"/>
            <a:ext cx="978408" cy="19019"/>
          </a:xfrm>
          <a:prstGeom prst="rect">
            <a:avLst/>
          </a:prstGeom>
          <a:solidFill>
            <a:srgbClr val="1E52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0783519" y="6565758"/>
            <a:ext cx="1362456" cy="17922"/>
          </a:xfrm>
          <a:prstGeom prst="rect">
            <a:avLst/>
          </a:prstGeom>
          <a:solidFill>
            <a:srgbClr val="48A9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0399471" y="6457128"/>
            <a:ext cx="1746504" cy="16824"/>
          </a:xfrm>
          <a:prstGeom prst="rect">
            <a:avLst/>
          </a:prstGeom>
          <a:solidFill>
            <a:srgbClr val="1E52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0015423" y="6348497"/>
            <a:ext cx="2130552" cy="15727"/>
          </a:xfrm>
          <a:prstGeom prst="rect">
            <a:avLst/>
          </a:prstGeom>
          <a:solidFill>
            <a:srgbClr val="48A9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74320" y="192024"/>
            <a:ext cx="685800" cy="347472"/>
          </a:xfrm>
          <a:prstGeom prst="rect">
            <a:avLst/>
          </a:prstGeom>
          <a:solidFill>
            <a:srgbClr val="48A9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74320" y="192024"/>
            <a:ext cx="685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00000"/>
                </a:solidFill>
                <a:latin typeface="Segoe UI"/>
              </a:rPr>
              <a:t>7.2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33271" y="155448"/>
            <a:ext cx="10865815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AF9F6"/>
                </a:solidFill>
                <a:latin typeface="Segoe UI"/>
              </a:rPr>
              <a:t>RTL vs HLS -- Progressive Optimization Comparison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33271" y="923544"/>
            <a:ext cx="1086581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48A9C9"/>
                </a:solidFill>
                <a:latin typeface="Segoe UI"/>
              </a:rPr>
              <a:t>49x throughput advantage. 29x energy advantage. RTL wins decisively.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4320" y="1353312"/>
            <a:ext cx="11643055" cy="4983481"/>
          </a:xfrm>
          <a:prstGeom prst="rect">
            <a:avLst/>
          </a:prstGeom>
          <a:solidFill>
            <a:srgbClr val="1A301A"/>
          </a:solidFill>
          <a:ln w="25400">
            <a:solidFill>
              <a:srgbClr val="2860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10896" y="1389888"/>
            <a:ext cx="11569903" cy="4910329"/>
          </a:xfrm>
          <a:prstGeom prst="rect">
            <a:avLst/>
          </a:prstGeom>
          <a:solidFill>
            <a:srgbClr val="1A301A"/>
          </a:solidFill>
          <a:ln w="6350">
            <a:solidFill>
              <a:srgbClr val="88AA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74320" y="2250338"/>
            <a:ext cx="1164305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50FA1E"/>
                </a:solidFill>
                <a:latin typeface="Segoe UI"/>
              </a:rPr>
              <a:t>[ INSERT FIGURE ]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8912" y="2616098"/>
            <a:ext cx="11313871" cy="42062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FAF9F6"/>
                </a:solidFill>
                <a:latin typeface="Segoe UI"/>
              </a:rPr>
              <a:t>Two side-by-side grouped bar charts (log-scale Y axis)
LEFT chart -- Throughput (fps, higher is better): 5 bars for HLS Baseline (0.3, gray), HLS Pipeline (2.1, gray), HLS Parallel (24, blue), HLS Final (24.84, blue), Our RTL (1216, green, tallest). Annotation: “49x faster than HLS Final” arrow pointing to Our RTL bar.
RIGHT chart -- Energy per Frame (J, lower is better): same 5 bars. HLS Baseline (5.2), HLS Pipeline (1.8), HLS Parallel (0.16), HLS Final (0.154), Our RTL (0.00529, green, shortest). Annotation: “29x more efficient” arrow. Title: “RTL vs HLS -- Progressive Optimization Study”.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98448"/>
          </a:xfrm>
          <a:prstGeom prst="rect">
            <a:avLst/>
          </a:prstGeom>
          <a:solidFill>
            <a:srgbClr val="10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1298448"/>
          </a:xfrm>
          <a:prstGeom prst="rect">
            <a:avLst/>
          </a:prstGeom>
          <a:solidFill>
            <a:srgbClr val="48A9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298448"/>
            <a:ext cx="12191695" cy="41148"/>
          </a:xfrm>
          <a:prstGeom prst="rect">
            <a:avLst/>
          </a:prstGeom>
          <a:solidFill>
            <a:srgbClr val="48A9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48A9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816852"/>
            <a:ext cx="12191695" cy="41148"/>
          </a:xfrm>
          <a:prstGeom prst="rect">
            <a:avLst/>
          </a:prstGeom>
          <a:solidFill>
            <a:srgbClr val="50F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551615" y="6783020"/>
            <a:ext cx="594360" cy="20116"/>
          </a:xfrm>
          <a:prstGeom prst="rect">
            <a:avLst/>
          </a:prstGeom>
          <a:solidFill>
            <a:srgbClr val="48A9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167567" y="6674389"/>
            <a:ext cx="978408" cy="19019"/>
          </a:xfrm>
          <a:prstGeom prst="rect">
            <a:avLst/>
          </a:prstGeom>
          <a:solidFill>
            <a:srgbClr val="1E52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0783519" y="6565758"/>
            <a:ext cx="1362456" cy="17922"/>
          </a:xfrm>
          <a:prstGeom prst="rect">
            <a:avLst/>
          </a:prstGeom>
          <a:solidFill>
            <a:srgbClr val="48A9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0399471" y="6457128"/>
            <a:ext cx="1746504" cy="16824"/>
          </a:xfrm>
          <a:prstGeom prst="rect">
            <a:avLst/>
          </a:prstGeom>
          <a:solidFill>
            <a:srgbClr val="1E52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0015423" y="6348497"/>
            <a:ext cx="2130552" cy="15727"/>
          </a:xfrm>
          <a:prstGeom prst="rect">
            <a:avLst/>
          </a:prstGeom>
          <a:solidFill>
            <a:srgbClr val="48A9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74320" y="192024"/>
            <a:ext cx="685800" cy="347472"/>
          </a:xfrm>
          <a:prstGeom prst="rect">
            <a:avLst/>
          </a:prstGeom>
          <a:solidFill>
            <a:srgbClr val="48A9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74320" y="192024"/>
            <a:ext cx="685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00000"/>
                </a:solidFill>
                <a:latin typeface="Segoe UI"/>
              </a:rPr>
              <a:t>7.3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33271" y="155448"/>
            <a:ext cx="10865815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AF9F6"/>
                </a:solidFill>
                <a:latin typeface="Segoe UI"/>
              </a:rPr>
              <a:t>Throughput vs Related Work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33271" y="923544"/>
            <a:ext cx="1086581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48A9C9"/>
                </a:solidFill>
                <a:latin typeface="Segoe UI"/>
              </a:rPr>
              <a:t>1,216 fps on ZU19EG â€” 8.75x better than the best prior RTL work on similar models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4320" y="1353312"/>
            <a:ext cx="11643055" cy="4983481"/>
          </a:xfrm>
          <a:prstGeom prst="rect">
            <a:avLst/>
          </a:prstGeom>
          <a:solidFill>
            <a:srgbClr val="1A301A"/>
          </a:solidFill>
          <a:ln w="25400">
            <a:solidFill>
              <a:srgbClr val="2860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10896" y="1389888"/>
            <a:ext cx="11569903" cy="4910329"/>
          </a:xfrm>
          <a:prstGeom prst="rect">
            <a:avLst/>
          </a:prstGeom>
          <a:solidFill>
            <a:srgbClr val="1A301A"/>
          </a:solidFill>
          <a:ln w="6350">
            <a:solidFill>
              <a:srgbClr val="88AA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74320" y="2250338"/>
            <a:ext cx="1164305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50FA1E"/>
                </a:solidFill>
                <a:latin typeface="Segoe UI"/>
              </a:rPr>
              <a:t>[ INSERT FIGURE ]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8912" y="2616098"/>
            <a:ext cx="11313871" cy="42062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FAF9F6"/>
                </a:solidFill>
                <a:latin typeface="Segoe UI"/>
              </a:rPr>
              <a:t>Horizontal bar chart comparing 5 designs
Bars (longest at top): Our RTL ZU19EG = 1216.0 fps (green, full width), HLS Final (this work) = 24.8 fps (blue), SqueezeNet RTL (prior work) = 139.0 fps (gray), ResNet-50 FPGA = 4.1 fps (gray), ZynqNet (2016) = 12.5 fps (gray). Vertical dashed line at x=30 fps labelled "30 fps real-time". Annotation: "8.75Ã— vs best prior work" with arrow to our bar. Title: "Throughput vs Related Work (ShuffleNet V2 / lightweight CNN)".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98448"/>
          </a:xfrm>
          <a:prstGeom prst="rect">
            <a:avLst/>
          </a:prstGeom>
          <a:solidFill>
            <a:srgbClr val="10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1298448"/>
          </a:xfrm>
          <a:prstGeom prst="rect">
            <a:avLst/>
          </a:prstGeom>
          <a:solidFill>
            <a:srgbClr val="48A9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298448"/>
            <a:ext cx="12191695" cy="41148"/>
          </a:xfrm>
          <a:prstGeom prst="rect">
            <a:avLst/>
          </a:prstGeom>
          <a:solidFill>
            <a:srgbClr val="48A9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48A9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816852"/>
            <a:ext cx="12191695" cy="41148"/>
          </a:xfrm>
          <a:prstGeom prst="rect">
            <a:avLst/>
          </a:prstGeom>
          <a:solidFill>
            <a:srgbClr val="50F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1298448"/>
            <a:ext cx="91440" cy="5285232"/>
          </a:xfrm>
          <a:prstGeom prst="rect">
            <a:avLst/>
          </a:prstGeom>
          <a:solidFill>
            <a:srgbClr val="48A9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74320" y="192024"/>
            <a:ext cx="685800" cy="347472"/>
          </a:xfrm>
          <a:prstGeom prst="rect">
            <a:avLst/>
          </a:prstGeom>
          <a:solidFill>
            <a:srgbClr val="48A9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320" y="192024"/>
            <a:ext cx="685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00000"/>
                </a:solidFill>
                <a:latin typeface="Segoe UI"/>
              </a:rPr>
              <a:t>7.4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3271" y="155448"/>
            <a:ext cx="10865815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AF9F6"/>
                </a:solidFill>
                <a:latin typeface="Segoe UI"/>
              </a:rPr>
              <a:t>RTL vs HLS â€” Complete Comparison Table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33271" y="923544"/>
            <a:ext cx="1086581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48A9C9"/>
                </a:solidFill>
                <a:latin typeface="Segoe UI"/>
              </a:rPr>
              <a:t>* HLS: C-synthesis estimates pre-P&amp;R. RTL: measured post place-and-route on real ZU19EG.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1444752"/>
            <a:ext cx="2011680" cy="530352"/>
          </a:xfrm>
          <a:prstGeom prst="rect">
            <a:avLst/>
          </a:prstGeom>
          <a:solidFill>
            <a:srgbClr val="48A9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21208" y="1527048"/>
            <a:ext cx="19202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00000"/>
                </a:solidFill>
                <a:latin typeface="Segoe UI"/>
              </a:rPr>
              <a:t>Metric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468880" y="1444752"/>
            <a:ext cx="2468880" cy="530352"/>
          </a:xfrm>
          <a:prstGeom prst="rect">
            <a:avLst/>
          </a:prstGeom>
          <a:solidFill>
            <a:srgbClr val="48A9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532888" y="1527048"/>
            <a:ext cx="23774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00000"/>
                </a:solidFill>
                <a:latin typeface="Segoe UI"/>
              </a:rPr>
              <a:t>Our RTL (ZU19EG)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937760" y="1444752"/>
            <a:ext cx="2651760" cy="530352"/>
          </a:xfrm>
          <a:prstGeom prst="rect">
            <a:avLst/>
          </a:prstGeom>
          <a:solidFill>
            <a:srgbClr val="48A9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01768" y="1527048"/>
            <a:ext cx="25603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00000"/>
                </a:solidFill>
                <a:latin typeface="Segoe UI"/>
              </a:rPr>
              <a:t>HLS Final (ZU19EG*)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589520" y="1444752"/>
            <a:ext cx="1828800" cy="530352"/>
          </a:xfrm>
          <a:prstGeom prst="rect">
            <a:avLst/>
          </a:prstGeom>
          <a:solidFill>
            <a:srgbClr val="48A9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53528" y="1527048"/>
            <a:ext cx="17373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00000"/>
                </a:solidFill>
                <a:latin typeface="Segoe UI"/>
              </a:rPr>
              <a:t>Advantage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1975104"/>
            <a:ext cx="2011680" cy="457200"/>
          </a:xfrm>
          <a:prstGeom prst="rect">
            <a:avLst/>
          </a:prstGeom>
          <a:solidFill>
            <a:srgbClr val="081C2E"/>
          </a:solidFill>
          <a:ln w="6350">
            <a:solidFill>
              <a:srgbClr val="102A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21208" y="2048256"/>
            <a:ext cx="1920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50FA1E"/>
                </a:solidFill>
                <a:latin typeface="Segoe UI"/>
              </a:rPr>
              <a:t>Clock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468880" y="1975104"/>
            <a:ext cx="2468880" cy="457200"/>
          </a:xfrm>
          <a:prstGeom prst="rect">
            <a:avLst/>
          </a:prstGeom>
          <a:solidFill>
            <a:srgbClr val="081C2E"/>
          </a:solidFill>
          <a:ln w="6350">
            <a:solidFill>
              <a:srgbClr val="102A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532888" y="2048256"/>
            <a:ext cx="2377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AF9F6"/>
                </a:solidFill>
                <a:latin typeface="Segoe UI"/>
              </a:rPr>
              <a:t>100 MHz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937760" y="1975104"/>
            <a:ext cx="2651760" cy="457200"/>
          </a:xfrm>
          <a:prstGeom prst="rect">
            <a:avLst/>
          </a:prstGeom>
          <a:solidFill>
            <a:srgbClr val="081C2E"/>
          </a:solidFill>
          <a:ln w="6350">
            <a:solidFill>
              <a:srgbClr val="102A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001768" y="2048256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50FA1E"/>
                </a:solidFill>
                <a:latin typeface="Segoe UI"/>
              </a:rPr>
              <a:t>80 MHz (C-synth est.)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589520" y="1975104"/>
            <a:ext cx="1828800" cy="457200"/>
          </a:xfrm>
          <a:prstGeom prst="rect">
            <a:avLst/>
          </a:prstGeom>
          <a:solidFill>
            <a:srgbClr val="081C2E"/>
          </a:solidFill>
          <a:ln w="6350">
            <a:solidFill>
              <a:srgbClr val="102A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653528" y="2048256"/>
            <a:ext cx="1737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AF9F6"/>
                </a:solidFill>
                <a:latin typeface="Segoe UI"/>
              </a:rPr>
              <a:t>RTL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57200" y="2432304"/>
            <a:ext cx="2011680" cy="457200"/>
          </a:xfrm>
          <a:prstGeom prst="rect">
            <a:avLst/>
          </a:prstGeom>
          <a:solidFill>
            <a:srgbClr val="102A44"/>
          </a:solidFill>
          <a:ln w="6350">
            <a:solidFill>
              <a:srgbClr val="102A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21208" y="2505456"/>
            <a:ext cx="1920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50FA1E"/>
                </a:solidFill>
                <a:latin typeface="Segoe UI"/>
              </a:rPr>
              <a:t>Latency/frame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468880" y="2432304"/>
            <a:ext cx="2468880" cy="457200"/>
          </a:xfrm>
          <a:prstGeom prst="rect">
            <a:avLst/>
          </a:prstGeom>
          <a:solidFill>
            <a:srgbClr val="102A44"/>
          </a:solidFill>
          <a:ln w="6350">
            <a:solidFill>
              <a:srgbClr val="102A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532888" y="2505456"/>
            <a:ext cx="2377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AF9F6"/>
                </a:solidFill>
                <a:latin typeface="Segoe UI"/>
              </a:rPr>
              <a:t>822 us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937760" y="2432304"/>
            <a:ext cx="2651760" cy="457200"/>
          </a:xfrm>
          <a:prstGeom prst="rect">
            <a:avLst/>
          </a:prstGeom>
          <a:solidFill>
            <a:srgbClr val="102A44"/>
          </a:solidFill>
          <a:ln w="6350">
            <a:solidFill>
              <a:srgbClr val="102A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001768" y="2505456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AF9F6"/>
                </a:solidFill>
                <a:latin typeface="Segoe UI"/>
              </a:rPr>
              <a:t>40.26 ms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589520" y="2432304"/>
            <a:ext cx="1828800" cy="457200"/>
          </a:xfrm>
          <a:prstGeom prst="rect">
            <a:avLst/>
          </a:prstGeom>
          <a:solidFill>
            <a:srgbClr val="102A44"/>
          </a:solidFill>
          <a:ln w="6350">
            <a:solidFill>
              <a:srgbClr val="102A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653528" y="2505456"/>
            <a:ext cx="1737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50FA1E"/>
                </a:solidFill>
                <a:latin typeface="Segoe UI"/>
              </a:rPr>
              <a:t>RTL (49x)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57200" y="2889504"/>
            <a:ext cx="2011680" cy="457200"/>
          </a:xfrm>
          <a:prstGeom prst="rect">
            <a:avLst/>
          </a:prstGeom>
          <a:solidFill>
            <a:srgbClr val="081C2E"/>
          </a:solidFill>
          <a:ln w="6350">
            <a:solidFill>
              <a:srgbClr val="102A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21208" y="2962656"/>
            <a:ext cx="1920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50FA1E"/>
                </a:solidFill>
                <a:latin typeface="Segoe UI"/>
              </a:rPr>
              <a:t>Throughput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468880" y="2889504"/>
            <a:ext cx="2468880" cy="457200"/>
          </a:xfrm>
          <a:prstGeom prst="rect">
            <a:avLst/>
          </a:prstGeom>
          <a:solidFill>
            <a:srgbClr val="081C2E"/>
          </a:solidFill>
          <a:ln w="6350">
            <a:solidFill>
              <a:srgbClr val="102A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532888" y="2962656"/>
            <a:ext cx="2377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AF9F6"/>
                </a:solidFill>
                <a:latin typeface="Segoe UI"/>
              </a:rPr>
              <a:t>1,216 fps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937760" y="2889504"/>
            <a:ext cx="2651760" cy="457200"/>
          </a:xfrm>
          <a:prstGeom prst="rect">
            <a:avLst/>
          </a:prstGeom>
          <a:solidFill>
            <a:srgbClr val="081C2E"/>
          </a:solidFill>
          <a:ln w="6350">
            <a:solidFill>
              <a:srgbClr val="102A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001768" y="2962656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AF9F6"/>
                </a:solidFill>
                <a:latin typeface="Segoe UI"/>
              </a:rPr>
              <a:t>24.84 fps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589520" y="2889504"/>
            <a:ext cx="1828800" cy="457200"/>
          </a:xfrm>
          <a:prstGeom prst="rect">
            <a:avLst/>
          </a:prstGeom>
          <a:solidFill>
            <a:srgbClr val="081C2E"/>
          </a:solidFill>
          <a:ln w="6350">
            <a:solidFill>
              <a:srgbClr val="102A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653528" y="2962656"/>
            <a:ext cx="1737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50FA1E"/>
                </a:solidFill>
                <a:latin typeface="Segoe UI"/>
              </a:rPr>
              <a:t>RTL (49x)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57200" y="3346704"/>
            <a:ext cx="2011680" cy="457200"/>
          </a:xfrm>
          <a:prstGeom prst="rect">
            <a:avLst/>
          </a:prstGeom>
          <a:solidFill>
            <a:srgbClr val="102A44"/>
          </a:solidFill>
          <a:ln w="6350">
            <a:solidFill>
              <a:srgbClr val="102A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21208" y="3419856"/>
            <a:ext cx="1920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50FA1E"/>
                </a:solidFill>
                <a:latin typeface="Segoe UI"/>
              </a:rPr>
              <a:t>LUT</a:t>
            </a:r>
          </a:p>
        </p:txBody>
      </p:sp>
      <p:sp>
        <p:nvSpPr>
          <p:cNvPr id="46" name="Rectangle 45"/>
          <p:cNvSpPr/>
          <p:nvPr/>
        </p:nvSpPr>
        <p:spPr>
          <a:xfrm>
            <a:off x="2468880" y="3346704"/>
            <a:ext cx="2468880" cy="457200"/>
          </a:xfrm>
          <a:prstGeom prst="rect">
            <a:avLst/>
          </a:prstGeom>
          <a:solidFill>
            <a:srgbClr val="102A44"/>
          </a:solidFill>
          <a:ln w="6350">
            <a:solidFill>
              <a:srgbClr val="102A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2532888" y="3419856"/>
            <a:ext cx="2377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AF9F6"/>
                </a:solidFill>
                <a:latin typeface="Segoe UI"/>
              </a:rPr>
              <a:t>13.07%</a:t>
            </a:r>
          </a:p>
        </p:txBody>
      </p:sp>
      <p:sp>
        <p:nvSpPr>
          <p:cNvPr id="48" name="Rectangle 47"/>
          <p:cNvSpPr/>
          <p:nvPr/>
        </p:nvSpPr>
        <p:spPr>
          <a:xfrm>
            <a:off x="4937760" y="3346704"/>
            <a:ext cx="2651760" cy="457200"/>
          </a:xfrm>
          <a:prstGeom prst="rect">
            <a:avLst/>
          </a:prstGeom>
          <a:solidFill>
            <a:srgbClr val="102A44"/>
          </a:solidFill>
          <a:ln w="6350">
            <a:solidFill>
              <a:srgbClr val="102A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001768" y="3419856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AF9F6"/>
                </a:solidFill>
                <a:latin typeface="Segoe UI"/>
              </a:rPr>
              <a:t>~46%</a:t>
            </a:r>
          </a:p>
        </p:txBody>
      </p:sp>
      <p:sp>
        <p:nvSpPr>
          <p:cNvPr id="50" name="Rectangle 49"/>
          <p:cNvSpPr/>
          <p:nvPr/>
        </p:nvSpPr>
        <p:spPr>
          <a:xfrm>
            <a:off x="7589520" y="3346704"/>
            <a:ext cx="1828800" cy="457200"/>
          </a:xfrm>
          <a:prstGeom prst="rect">
            <a:avLst/>
          </a:prstGeom>
          <a:solidFill>
            <a:srgbClr val="102A44"/>
          </a:solidFill>
          <a:ln w="6350">
            <a:solidFill>
              <a:srgbClr val="102A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653528" y="3419856"/>
            <a:ext cx="1737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AF9F6"/>
                </a:solidFill>
                <a:latin typeface="Segoe UI"/>
              </a:rPr>
              <a:t>RTL</a:t>
            </a:r>
          </a:p>
        </p:txBody>
      </p:sp>
      <p:sp>
        <p:nvSpPr>
          <p:cNvPr id="52" name="Rectangle 51"/>
          <p:cNvSpPr/>
          <p:nvPr/>
        </p:nvSpPr>
        <p:spPr>
          <a:xfrm>
            <a:off x="457200" y="3803904"/>
            <a:ext cx="2011680" cy="457200"/>
          </a:xfrm>
          <a:prstGeom prst="rect">
            <a:avLst/>
          </a:prstGeom>
          <a:solidFill>
            <a:srgbClr val="081C2E"/>
          </a:solidFill>
          <a:ln w="6350">
            <a:solidFill>
              <a:srgbClr val="102A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521208" y="3877056"/>
            <a:ext cx="1920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50FA1E"/>
                </a:solidFill>
                <a:latin typeface="Segoe UI"/>
              </a:rPr>
              <a:t>DSP</a:t>
            </a:r>
          </a:p>
        </p:txBody>
      </p:sp>
      <p:sp>
        <p:nvSpPr>
          <p:cNvPr id="54" name="Rectangle 53"/>
          <p:cNvSpPr/>
          <p:nvPr/>
        </p:nvSpPr>
        <p:spPr>
          <a:xfrm>
            <a:off x="2468880" y="3803904"/>
            <a:ext cx="2468880" cy="457200"/>
          </a:xfrm>
          <a:prstGeom prst="rect">
            <a:avLst/>
          </a:prstGeom>
          <a:solidFill>
            <a:srgbClr val="081C2E"/>
          </a:solidFill>
          <a:ln w="6350">
            <a:solidFill>
              <a:srgbClr val="102A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2532888" y="3877056"/>
            <a:ext cx="2377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AF9F6"/>
                </a:solidFill>
                <a:latin typeface="Segoe UI"/>
              </a:rPr>
              <a:t>78.76%</a:t>
            </a:r>
          </a:p>
        </p:txBody>
      </p:sp>
      <p:sp>
        <p:nvSpPr>
          <p:cNvPr id="56" name="Rectangle 55"/>
          <p:cNvSpPr/>
          <p:nvPr/>
        </p:nvSpPr>
        <p:spPr>
          <a:xfrm>
            <a:off x="4937760" y="3803904"/>
            <a:ext cx="2651760" cy="457200"/>
          </a:xfrm>
          <a:prstGeom prst="rect">
            <a:avLst/>
          </a:prstGeom>
          <a:solidFill>
            <a:srgbClr val="081C2E"/>
          </a:solidFill>
          <a:ln w="6350">
            <a:solidFill>
              <a:srgbClr val="102A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5001768" y="3877056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AF9F6"/>
                </a:solidFill>
                <a:latin typeface="Segoe UI"/>
              </a:rPr>
              <a:t>~54%</a:t>
            </a:r>
          </a:p>
        </p:txBody>
      </p:sp>
      <p:sp>
        <p:nvSpPr>
          <p:cNvPr id="58" name="Rectangle 57"/>
          <p:cNvSpPr/>
          <p:nvPr/>
        </p:nvSpPr>
        <p:spPr>
          <a:xfrm>
            <a:off x="7589520" y="3803904"/>
            <a:ext cx="1828800" cy="457200"/>
          </a:xfrm>
          <a:prstGeom prst="rect">
            <a:avLst/>
          </a:prstGeom>
          <a:solidFill>
            <a:srgbClr val="081C2E"/>
          </a:solidFill>
          <a:ln w="6350">
            <a:solidFill>
              <a:srgbClr val="102A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7653528" y="3877056"/>
            <a:ext cx="1737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AF9F6"/>
                </a:solidFill>
                <a:latin typeface="Segoe UI"/>
              </a:rPr>
              <a:t>Comparable</a:t>
            </a:r>
          </a:p>
        </p:txBody>
      </p:sp>
      <p:sp>
        <p:nvSpPr>
          <p:cNvPr id="60" name="Rectangle 59"/>
          <p:cNvSpPr/>
          <p:nvPr/>
        </p:nvSpPr>
        <p:spPr>
          <a:xfrm>
            <a:off x="457200" y="4261104"/>
            <a:ext cx="2011680" cy="457200"/>
          </a:xfrm>
          <a:prstGeom prst="rect">
            <a:avLst/>
          </a:prstGeom>
          <a:solidFill>
            <a:srgbClr val="102A44"/>
          </a:solidFill>
          <a:ln w="6350">
            <a:solidFill>
              <a:srgbClr val="102A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521208" y="4334256"/>
            <a:ext cx="1920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50FA1E"/>
                </a:solidFill>
                <a:latin typeface="Segoe UI"/>
              </a:rPr>
              <a:t>BRAM</a:t>
            </a:r>
          </a:p>
        </p:txBody>
      </p:sp>
      <p:sp>
        <p:nvSpPr>
          <p:cNvPr id="62" name="Rectangle 61"/>
          <p:cNvSpPr/>
          <p:nvPr/>
        </p:nvSpPr>
        <p:spPr>
          <a:xfrm>
            <a:off x="2468880" y="4261104"/>
            <a:ext cx="2468880" cy="457200"/>
          </a:xfrm>
          <a:prstGeom prst="rect">
            <a:avLst/>
          </a:prstGeom>
          <a:solidFill>
            <a:srgbClr val="102A44"/>
          </a:solidFill>
          <a:ln w="6350">
            <a:solidFill>
              <a:srgbClr val="102A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2532888" y="4334256"/>
            <a:ext cx="2377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AF9F6"/>
                </a:solidFill>
                <a:latin typeface="Segoe UI"/>
              </a:rPr>
              <a:t>55.95%</a:t>
            </a:r>
          </a:p>
        </p:txBody>
      </p:sp>
      <p:sp>
        <p:nvSpPr>
          <p:cNvPr id="64" name="Rectangle 63"/>
          <p:cNvSpPr/>
          <p:nvPr/>
        </p:nvSpPr>
        <p:spPr>
          <a:xfrm>
            <a:off x="4937760" y="4261104"/>
            <a:ext cx="2651760" cy="457200"/>
          </a:xfrm>
          <a:prstGeom prst="rect">
            <a:avLst/>
          </a:prstGeom>
          <a:solidFill>
            <a:srgbClr val="102A44"/>
          </a:solidFill>
          <a:ln w="6350">
            <a:solidFill>
              <a:srgbClr val="102A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5001768" y="4334256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AF9F6"/>
                </a:solidFill>
                <a:latin typeface="Segoe UI"/>
              </a:rPr>
              <a:t>~80%</a:t>
            </a:r>
          </a:p>
        </p:txBody>
      </p:sp>
      <p:sp>
        <p:nvSpPr>
          <p:cNvPr id="66" name="Rectangle 65"/>
          <p:cNvSpPr/>
          <p:nvPr/>
        </p:nvSpPr>
        <p:spPr>
          <a:xfrm>
            <a:off x="7589520" y="4261104"/>
            <a:ext cx="1828800" cy="457200"/>
          </a:xfrm>
          <a:prstGeom prst="rect">
            <a:avLst/>
          </a:prstGeom>
          <a:solidFill>
            <a:srgbClr val="102A44"/>
          </a:solidFill>
          <a:ln w="6350">
            <a:solidFill>
              <a:srgbClr val="102A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7653528" y="4334256"/>
            <a:ext cx="1737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AF9F6"/>
                </a:solidFill>
                <a:latin typeface="Segoe UI"/>
              </a:rPr>
              <a:t>RTL</a:t>
            </a:r>
          </a:p>
        </p:txBody>
      </p:sp>
      <p:sp>
        <p:nvSpPr>
          <p:cNvPr id="68" name="Rectangle 67"/>
          <p:cNvSpPr/>
          <p:nvPr/>
        </p:nvSpPr>
        <p:spPr>
          <a:xfrm>
            <a:off x="457200" y="4718304"/>
            <a:ext cx="2011680" cy="457200"/>
          </a:xfrm>
          <a:prstGeom prst="rect">
            <a:avLst/>
          </a:prstGeom>
          <a:solidFill>
            <a:srgbClr val="081C2E"/>
          </a:solidFill>
          <a:ln w="6350">
            <a:solidFill>
              <a:srgbClr val="102A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521208" y="4791456"/>
            <a:ext cx="1920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50FA1E"/>
                </a:solidFill>
                <a:latin typeface="Segoe UI"/>
              </a:rPr>
              <a:t>Total Power</a:t>
            </a:r>
          </a:p>
        </p:txBody>
      </p:sp>
      <p:sp>
        <p:nvSpPr>
          <p:cNvPr id="70" name="Rectangle 69"/>
          <p:cNvSpPr/>
          <p:nvPr/>
        </p:nvSpPr>
        <p:spPr>
          <a:xfrm>
            <a:off x="2468880" y="4718304"/>
            <a:ext cx="2468880" cy="457200"/>
          </a:xfrm>
          <a:prstGeom prst="rect">
            <a:avLst/>
          </a:prstGeom>
          <a:solidFill>
            <a:srgbClr val="081C2E"/>
          </a:solidFill>
          <a:ln w="6350">
            <a:solidFill>
              <a:srgbClr val="102A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2532888" y="4791456"/>
            <a:ext cx="2377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AF9F6"/>
                </a:solidFill>
                <a:latin typeface="Segoe UI"/>
              </a:rPr>
              <a:t>6.426 W</a:t>
            </a:r>
          </a:p>
        </p:txBody>
      </p:sp>
      <p:sp>
        <p:nvSpPr>
          <p:cNvPr id="72" name="Rectangle 71"/>
          <p:cNvSpPr/>
          <p:nvPr/>
        </p:nvSpPr>
        <p:spPr>
          <a:xfrm>
            <a:off x="4937760" y="4718304"/>
            <a:ext cx="2651760" cy="457200"/>
          </a:xfrm>
          <a:prstGeom prst="rect">
            <a:avLst/>
          </a:prstGeom>
          <a:solidFill>
            <a:srgbClr val="081C2E"/>
          </a:solidFill>
          <a:ln w="6350">
            <a:solidFill>
              <a:srgbClr val="102A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5001768" y="4791456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AF9F6"/>
                </a:solidFill>
                <a:latin typeface="Segoe UI"/>
              </a:rPr>
              <a:t>3.828 W</a:t>
            </a:r>
          </a:p>
        </p:txBody>
      </p:sp>
      <p:sp>
        <p:nvSpPr>
          <p:cNvPr id="74" name="Rectangle 73"/>
          <p:cNvSpPr/>
          <p:nvPr/>
        </p:nvSpPr>
        <p:spPr>
          <a:xfrm>
            <a:off x="7589520" y="4718304"/>
            <a:ext cx="1828800" cy="457200"/>
          </a:xfrm>
          <a:prstGeom prst="rect">
            <a:avLst/>
          </a:prstGeom>
          <a:solidFill>
            <a:srgbClr val="081C2E"/>
          </a:solidFill>
          <a:ln w="6350">
            <a:solidFill>
              <a:srgbClr val="102A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7653528" y="4791456"/>
            <a:ext cx="1737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AF9F6"/>
                </a:solidFill>
                <a:latin typeface="Segoe UI"/>
              </a:rPr>
              <a:t>HLS</a:t>
            </a:r>
          </a:p>
        </p:txBody>
      </p:sp>
      <p:sp>
        <p:nvSpPr>
          <p:cNvPr id="76" name="Rectangle 75"/>
          <p:cNvSpPr/>
          <p:nvPr/>
        </p:nvSpPr>
        <p:spPr>
          <a:xfrm>
            <a:off x="457200" y="5175504"/>
            <a:ext cx="2011680" cy="457200"/>
          </a:xfrm>
          <a:prstGeom prst="rect">
            <a:avLst/>
          </a:prstGeom>
          <a:solidFill>
            <a:srgbClr val="102A44"/>
          </a:solidFill>
          <a:ln w="6350">
            <a:solidFill>
              <a:srgbClr val="102A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521208" y="5248656"/>
            <a:ext cx="1920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50FA1E"/>
                </a:solidFill>
                <a:latin typeface="Segoe UI"/>
              </a:rPr>
              <a:t>Energy/frame</a:t>
            </a:r>
          </a:p>
        </p:txBody>
      </p:sp>
      <p:sp>
        <p:nvSpPr>
          <p:cNvPr id="78" name="Rectangle 77"/>
          <p:cNvSpPr/>
          <p:nvPr/>
        </p:nvSpPr>
        <p:spPr>
          <a:xfrm>
            <a:off x="2468880" y="5175504"/>
            <a:ext cx="2468880" cy="457200"/>
          </a:xfrm>
          <a:prstGeom prst="rect">
            <a:avLst/>
          </a:prstGeom>
          <a:solidFill>
            <a:srgbClr val="102A44"/>
          </a:solidFill>
          <a:ln w="6350">
            <a:solidFill>
              <a:srgbClr val="102A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2532888" y="5248656"/>
            <a:ext cx="2377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AF9F6"/>
                </a:solidFill>
                <a:latin typeface="Segoe UI"/>
              </a:rPr>
              <a:t>0.00529 J</a:t>
            </a:r>
          </a:p>
        </p:txBody>
      </p:sp>
      <p:sp>
        <p:nvSpPr>
          <p:cNvPr id="80" name="Rectangle 79"/>
          <p:cNvSpPr/>
          <p:nvPr/>
        </p:nvSpPr>
        <p:spPr>
          <a:xfrm>
            <a:off x="4937760" y="5175504"/>
            <a:ext cx="2651760" cy="457200"/>
          </a:xfrm>
          <a:prstGeom prst="rect">
            <a:avLst/>
          </a:prstGeom>
          <a:solidFill>
            <a:srgbClr val="102A44"/>
          </a:solidFill>
          <a:ln w="6350">
            <a:solidFill>
              <a:srgbClr val="102A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5001768" y="5248656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AF9F6"/>
                </a:solidFill>
                <a:latin typeface="Segoe UI"/>
              </a:rPr>
              <a:t>0.154 J</a:t>
            </a:r>
          </a:p>
        </p:txBody>
      </p:sp>
      <p:sp>
        <p:nvSpPr>
          <p:cNvPr id="82" name="Rectangle 81"/>
          <p:cNvSpPr/>
          <p:nvPr/>
        </p:nvSpPr>
        <p:spPr>
          <a:xfrm>
            <a:off x="7589520" y="5175504"/>
            <a:ext cx="1828800" cy="457200"/>
          </a:xfrm>
          <a:prstGeom prst="rect">
            <a:avLst/>
          </a:prstGeom>
          <a:solidFill>
            <a:srgbClr val="102A44"/>
          </a:solidFill>
          <a:ln w="6350">
            <a:solidFill>
              <a:srgbClr val="102A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7653528" y="5248656"/>
            <a:ext cx="1737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50FA1E"/>
                </a:solidFill>
                <a:latin typeface="Segoe UI"/>
              </a:rPr>
              <a:t>RTL (29x)</a:t>
            </a:r>
          </a:p>
        </p:txBody>
      </p:sp>
      <p:sp>
        <p:nvSpPr>
          <p:cNvPr id="84" name="Rectangle 83"/>
          <p:cNvSpPr/>
          <p:nvPr/>
        </p:nvSpPr>
        <p:spPr>
          <a:xfrm>
            <a:off x="457200" y="5632704"/>
            <a:ext cx="2011680" cy="457200"/>
          </a:xfrm>
          <a:prstGeom prst="rect">
            <a:avLst/>
          </a:prstGeom>
          <a:solidFill>
            <a:srgbClr val="081C2E"/>
          </a:solidFill>
          <a:ln w="6350">
            <a:solidFill>
              <a:srgbClr val="102A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521208" y="5705856"/>
            <a:ext cx="1920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50FA1E"/>
                </a:solidFill>
                <a:latin typeface="Segoe UI"/>
              </a:rPr>
              <a:t>Design Effort</a:t>
            </a:r>
          </a:p>
        </p:txBody>
      </p:sp>
      <p:sp>
        <p:nvSpPr>
          <p:cNvPr id="86" name="Rectangle 85"/>
          <p:cNvSpPr/>
          <p:nvPr/>
        </p:nvSpPr>
        <p:spPr>
          <a:xfrm>
            <a:off x="2468880" y="5632704"/>
            <a:ext cx="2468880" cy="457200"/>
          </a:xfrm>
          <a:prstGeom prst="rect">
            <a:avLst/>
          </a:prstGeom>
          <a:solidFill>
            <a:srgbClr val="081C2E"/>
          </a:solidFill>
          <a:ln w="6350">
            <a:solidFill>
              <a:srgbClr val="102A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2532888" y="5705856"/>
            <a:ext cx="2377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50FA1E"/>
                </a:solidFill>
                <a:latin typeface="Segoe UI"/>
              </a:rPr>
              <a:t>High (months)</a:t>
            </a:r>
          </a:p>
        </p:txBody>
      </p:sp>
      <p:sp>
        <p:nvSpPr>
          <p:cNvPr id="88" name="Rectangle 87"/>
          <p:cNvSpPr/>
          <p:nvPr/>
        </p:nvSpPr>
        <p:spPr>
          <a:xfrm>
            <a:off x="4937760" y="5632704"/>
            <a:ext cx="2651760" cy="457200"/>
          </a:xfrm>
          <a:prstGeom prst="rect">
            <a:avLst/>
          </a:prstGeom>
          <a:solidFill>
            <a:srgbClr val="081C2E"/>
          </a:solidFill>
          <a:ln w="6350">
            <a:solidFill>
              <a:srgbClr val="102A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5001768" y="5705856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50FA1E"/>
                </a:solidFill>
                <a:latin typeface="Segoe UI"/>
              </a:rPr>
              <a:t>Low (days)</a:t>
            </a:r>
          </a:p>
        </p:txBody>
      </p:sp>
      <p:sp>
        <p:nvSpPr>
          <p:cNvPr id="90" name="Rectangle 89"/>
          <p:cNvSpPr/>
          <p:nvPr/>
        </p:nvSpPr>
        <p:spPr>
          <a:xfrm>
            <a:off x="7589520" y="5632704"/>
            <a:ext cx="1828800" cy="457200"/>
          </a:xfrm>
          <a:prstGeom prst="rect">
            <a:avLst/>
          </a:prstGeom>
          <a:solidFill>
            <a:srgbClr val="081C2E"/>
          </a:solidFill>
          <a:ln w="6350">
            <a:solidFill>
              <a:srgbClr val="102A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7653528" y="5705856"/>
            <a:ext cx="1737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AF9F6"/>
                </a:solidFill>
                <a:latin typeface="Segoe UI"/>
              </a:rPr>
              <a:t>HLS</a:t>
            </a:r>
          </a:p>
        </p:txBody>
      </p:sp>
      <p:sp>
        <p:nvSpPr>
          <p:cNvPr id="92" name="Rectangle 91"/>
          <p:cNvSpPr/>
          <p:nvPr/>
        </p:nvSpPr>
        <p:spPr>
          <a:xfrm>
            <a:off x="457200" y="6089904"/>
            <a:ext cx="2011680" cy="457200"/>
          </a:xfrm>
          <a:prstGeom prst="rect">
            <a:avLst/>
          </a:prstGeom>
          <a:solidFill>
            <a:srgbClr val="102A44"/>
          </a:solidFill>
          <a:ln w="6350">
            <a:solidFill>
              <a:srgbClr val="102A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521208" y="6163056"/>
            <a:ext cx="1920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50FA1E"/>
                </a:solidFill>
                <a:latin typeface="Segoe UI"/>
              </a:rPr>
              <a:t>Accuracy (sw)</a:t>
            </a:r>
          </a:p>
        </p:txBody>
      </p:sp>
      <p:sp>
        <p:nvSpPr>
          <p:cNvPr id="94" name="Rectangle 93"/>
          <p:cNvSpPr/>
          <p:nvPr/>
        </p:nvSpPr>
        <p:spPr>
          <a:xfrm>
            <a:off x="2468880" y="6089904"/>
            <a:ext cx="2468880" cy="457200"/>
          </a:xfrm>
          <a:prstGeom prst="rect">
            <a:avLst/>
          </a:prstGeom>
          <a:solidFill>
            <a:srgbClr val="102A44"/>
          </a:solidFill>
          <a:ln w="6350">
            <a:solidFill>
              <a:srgbClr val="102A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2532888" y="6163056"/>
            <a:ext cx="2377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AF9F6"/>
                </a:solidFill>
                <a:latin typeface="Segoe UI"/>
              </a:rPr>
              <a:t>~71% Top-1</a:t>
            </a:r>
          </a:p>
        </p:txBody>
      </p:sp>
      <p:sp>
        <p:nvSpPr>
          <p:cNvPr id="96" name="Rectangle 95"/>
          <p:cNvSpPr/>
          <p:nvPr/>
        </p:nvSpPr>
        <p:spPr>
          <a:xfrm>
            <a:off x="4937760" y="6089904"/>
            <a:ext cx="2651760" cy="457200"/>
          </a:xfrm>
          <a:prstGeom prst="rect">
            <a:avLst/>
          </a:prstGeom>
          <a:solidFill>
            <a:srgbClr val="102A44"/>
          </a:solidFill>
          <a:ln w="6350">
            <a:solidFill>
              <a:srgbClr val="102A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5001768" y="6163056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AF9F6"/>
                </a:solidFill>
                <a:latin typeface="Segoe UI"/>
              </a:rPr>
              <a:t>~71% Top-1</a:t>
            </a:r>
          </a:p>
        </p:txBody>
      </p:sp>
      <p:sp>
        <p:nvSpPr>
          <p:cNvPr id="98" name="Rectangle 97"/>
          <p:cNvSpPr/>
          <p:nvPr/>
        </p:nvSpPr>
        <p:spPr>
          <a:xfrm>
            <a:off x="7589520" y="6089904"/>
            <a:ext cx="1828800" cy="457200"/>
          </a:xfrm>
          <a:prstGeom prst="rect">
            <a:avLst/>
          </a:prstGeom>
          <a:solidFill>
            <a:srgbClr val="102A44"/>
          </a:solidFill>
          <a:ln w="6350">
            <a:solidFill>
              <a:srgbClr val="102A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7653528" y="6163056"/>
            <a:ext cx="1737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AF9F6"/>
                </a:solidFill>
                <a:latin typeface="Segoe UI"/>
              </a:rPr>
              <a:t>Equal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6217920" y="1389888"/>
            <a:ext cx="5806440" cy="4937760"/>
          </a:xfrm>
          <a:prstGeom prst="rect">
            <a:avLst/>
          </a:prstGeom>
          <a:solidFill>
            <a:srgbClr val="1A301A"/>
          </a:solidFill>
          <a:ln w="25400">
            <a:solidFill>
              <a:srgbClr val="2860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Rectangle 100"/>
          <p:cNvSpPr/>
          <p:nvPr/>
        </p:nvSpPr>
        <p:spPr>
          <a:xfrm>
            <a:off x="6254496" y="1426464"/>
            <a:ext cx="5733288" cy="4864608"/>
          </a:xfrm>
          <a:prstGeom prst="rect">
            <a:avLst/>
          </a:prstGeom>
          <a:solidFill>
            <a:srgbClr val="1A301A"/>
          </a:solidFill>
          <a:ln w="6350">
            <a:solidFill>
              <a:srgbClr val="88AA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6217920" y="2278684"/>
            <a:ext cx="5806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50FA1E"/>
                </a:solidFill>
                <a:latin typeface="Segoe UI"/>
              </a:rPr>
              <a:t>[ INSERT FIGURE ]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6382512" y="2644444"/>
            <a:ext cx="5477256" cy="4160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FAF9F6"/>
                </a:solidFill>
                <a:latin typeface="Segoe UI"/>
              </a:rPr>
              <a:t>RTL vs HLS bar chart (same as slide 7.2)
Reuse the two-panel comparison chart showing fps and energy/frame for all 5 models. Alternatively use a single grouped bar chart with two metrics side by side.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017520"/>
          </a:xfrm>
          <a:prstGeom prst="rect">
            <a:avLst/>
          </a:prstGeom>
          <a:solidFill>
            <a:srgbClr val="08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48A9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3017520"/>
            <a:ext cx="12191695" cy="64008"/>
          </a:xfrm>
          <a:prstGeom prst="rect">
            <a:avLst/>
          </a:prstGeom>
          <a:solidFill>
            <a:srgbClr val="48A9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3081528"/>
            <a:ext cx="12191695" cy="29260"/>
          </a:xfrm>
          <a:prstGeom prst="rect">
            <a:avLst/>
          </a:prstGeom>
          <a:solidFill>
            <a:srgbClr val="50F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716975" y="45720"/>
            <a:ext cx="3200400" cy="2606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5500" b="1" i="0">
                <a:solidFill>
                  <a:srgbClr val="102A44"/>
                </a:solidFill>
                <a:latin typeface="Segoe UI"/>
              </a:rPr>
              <a:t>08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02920"/>
            <a:ext cx="8076895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 i="0">
                <a:solidFill>
                  <a:srgbClr val="FAF9F6"/>
                </a:solidFill>
                <a:latin typeface="Segoe UI"/>
              </a:rPr>
              <a:t>Hardware Demo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468880"/>
            <a:ext cx="108200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1">
                <a:solidFill>
                  <a:srgbClr val="48A9C9"/>
                </a:solidFill>
                <a:latin typeface="Segoe UI"/>
              </a:rPr>
              <a:t>From bitstream to inference in under 5 minutes</a:t>
            </a:r>
          </a:p>
        </p:txBody>
      </p:sp>
      <p:sp>
        <p:nvSpPr>
          <p:cNvPr id="9" name="Rectangle 8"/>
          <p:cNvSpPr/>
          <p:nvPr/>
        </p:nvSpPr>
        <p:spPr>
          <a:xfrm>
            <a:off x="11551615" y="6783020"/>
            <a:ext cx="594360" cy="20116"/>
          </a:xfrm>
          <a:prstGeom prst="rect">
            <a:avLst/>
          </a:prstGeom>
          <a:solidFill>
            <a:srgbClr val="48A9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1167567" y="6674389"/>
            <a:ext cx="978408" cy="19019"/>
          </a:xfrm>
          <a:prstGeom prst="rect">
            <a:avLst/>
          </a:prstGeom>
          <a:solidFill>
            <a:srgbClr val="1E52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0783519" y="6565758"/>
            <a:ext cx="1362456" cy="17922"/>
          </a:xfrm>
          <a:prstGeom prst="rect">
            <a:avLst/>
          </a:prstGeom>
          <a:solidFill>
            <a:srgbClr val="48A9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0399471" y="6457128"/>
            <a:ext cx="1746504" cy="16824"/>
          </a:xfrm>
          <a:prstGeom prst="rect">
            <a:avLst/>
          </a:prstGeom>
          <a:solidFill>
            <a:srgbClr val="1E52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0015423" y="6348497"/>
            <a:ext cx="2130552" cy="15727"/>
          </a:xfrm>
          <a:prstGeom prst="rect">
            <a:avLst/>
          </a:prstGeom>
          <a:solidFill>
            <a:srgbClr val="48A9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9631375" y="6239867"/>
            <a:ext cx="2514600" cy="14630"/>
          </a:xfrm>
          <a:prstGeom prst="rect">
            <a:avLst/>
          </a:prstGeom>
          <a:solidFill>
            <a:srgbClr val="1E52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9247327" y="6131235"/>
            <a:ext cx="2898648" cy="13533"/>
          </a:xfrm>
          <a:prstGeom prst="rect">
            <a:avLst/>
          </a:prstGeom>
          <a:solidFill>
            <a:srgbClr val="48A9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863279" y="6022606"/>
            <a:ext cx="3282696" cy="12435"/>
          </a:xfrm>
          <a:prstGeom prst="rect">
            <a:avLst/>
          </a:prstGeom>
          <a:solidFill>
            <a:srgbClr val="1E52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479231" y="5913974"/>
            <a:ext cx="3666744" cy="11338"/>
          </a:xfrm>
          <a:prstGeom prst="rect">
            <a:avLst/>
          </a:prstGeom>
          <a:solidFill>
            <a:srgbClr val="48A9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0" y="6812280"/>
            <a:ext cx="12191695" cy="45720"/>
          </a:xfrm>
          <a:prstGeom prst="rect">
            <a:avLst/>
          </a:prstGeom>
          <a:solidFill>
            <a:srgbClr val="50F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84048" y="6016752"/>
            <a:ext cx="228600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50FA1E"/>
                </a:solidFill>
                <a:latin typeface="Segoe UI"/>
              </a:rPr>
              <a:t>XLR8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98448"/>
          </a:xfrm>
          <a:prstGeom prst="rect">
            <a:avLst/>
          </a:prstGeom>
          <a:solidFill>
            <a:srgbClr val="10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1298448"/>
          </a:xfrm>
          <a:prstGeom prst="rect">
            <a:avLst/>
          </a:prstGeom>
          <a:solidFill>
            <a:srgbClr val="48A9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298448"/>
            <a:ext cx="12191695" cy="41148"/>
          </a:xfrm>
          <a:prstGeom prst="rect">
            <a:avLst/>
          </a:prstGeom>
          <a:solidFill>
            <a:srgbClr val="48A9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48A9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816852"/>
            <a:ext cx="12191695" cy="41148"/>
          </a:xfrm>
          <a:prstGeom prst="rect">
            <a:avLst/>
          </a:prstGeom>
          <a:solidFill>
            <a:srgbClr val="50F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551615" y="54864"/>
            <a:ext cx="594360" cy="20116"/>
          </a:xfrm>
          <a:prstGeom prst="rect">
            <a:avLst/>
          </a:prstGeom>
          <a:solidFill>
            <a:srgbClr val="48A9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167567" y="173736"/>
            <a:ext cx="978408" cy="19019"/>
          </a:xfrm>
          <a:prstGeom prst="rect">
            <a:avLst/>
          </a:prstGeom>
          <a:solidFill>
            <a:srgbClr val="1E52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0783519" y="292608"/>
            <a:ext cx="1362456" cy="17922"/>
          </a:xfrm>
          <a:prstGeom prst="rect">
            <a:avLst/>
          </a:prstGeom>
          <a:solidFill>
            <a:srgbClr val="48A9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0399471" y="411480"/>
            <a:ext cx="1746504" cy="16824"/>
          </a:xfrm>
          <a:prstGeom prst="rect">
            <a:avLst/>
          </a:prstGeom>
          <a:solidFill>
            <a:srgbClr val="1E52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0015423" y="530352"/>
            <a:ext cx="2130552" cy="15727"/>
          </a:xfrm>
          <a:prstGeom prst="rect">
            <a:avLst/>
          </a:prstGeom>
          <a:solidFill>
            <a:srgbClr val="48A9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0" y="1298448"/>
            <a:ext cx="91440" cy="5285232"/>
          </a:xfrm>
          <a:prstGeom prst="rect">
            <a:avLst/>
          </a:prstGeom>
          <a:solidFill>
            <a:srgbClr val="48A9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74320" y="192024"/>
            <a:ext cx="685800" cy="347472"/>
          </a:xfrm>
          <a:prstGeom prst="rect">
            <a:avLst/>
          </a:prstGeom>
          <a:solidFill>
            <a:srgbClr val="48A9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74320" y="192024"/>
            <a:ext cx="685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00000"/>
                </a:solidFill>
                <a:latin typeface="Segoe UI"/>
              </a:rPr>
              <a:t>8.1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33271" y="155448"/>
            <a:ext cx="10865815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AF9F6"/>
                </a:solidFill>
                <a:latin typeface="Segoe UI"/>
              </a:rPr>
              <a:t>Board Setup â€” ZU19EG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1417320"/>
            <a:ext cx="5394960" cy="49834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700" b="0">
                <a:solidFill>
                  <a:srgbClr val="FAF9F6"/>
                </a:solidFill>
                <a:latin typeface="Segoe UI"/>
              </a:rPr>
              <a:t>â–¸  Hardware: iWave iW-G35M SOM with Xilinx Zynq UltraScale+ ZU19EG</a:t>
            </a:r>
          </a:p>
          <a:p>
            <a:pPr>
              <a:spcBef>
                <a:spcPts val="500"/>
              </a:spcBef>
            </a:pPr>
            <a:r>
              <a:rPr sz="1700" b="0">
                <a:solidFill>
                  <a:srgbClr val="FAF9F6"/>
                </a:solidFill>
                <a:latin typeface="Segoe UI"/>
              </a:rPr>
              <a:t>â–¸  PS: ARM Cortex-A53 quad-core running Linux  |  PL: 522K LUTs, 1968 DSPs, 984 BRAM36K</a:t>
            </a:r>
          </a:p>
          <a:p>
            <a:pPr>
              <a:spcBef>
                <a:spcPts val="500"/>
              </a:spcBef>
            </a:pPr>
            <a:r>
              <a:rPr sz="1700" b="0">
                <a:solidFill>
                  <a:srgbClr val="FAF9F6"/>
                </a:solidFill>
                <a:latin typeface="Segoe UI"/>
              </a:rPr>
              <a:t>â–¸  Step 1: Program bitstream via Vivado Hardware Manager (JTAG)</a:t>
            </a:r>
          </a:p>
          <a:p>
            <a:pPr>
              <a:spcBef>
                <a:spcPts val="200"/>
              </a:spcBef>
            </a:pPr>
            <a:r>
              <a:rPr sz="1500" b="0">
                <a:solidFill>
                  <a:srgbClr val="88AABB"/>
                </a:solidFill>
                <a:latin typeface="Segoe UI"/>
              </a:rPr>
              <a:t>      â€¢  File: shufflenet.bit (34.7 MB) â€” loads in ~10 seconds. DONE LED lights up.</a:t>
            </a:r>
          </a:p>
          <a:p>
            <a:pPr>
              <a:spcBef>
                <a:spcPts val="500"/>
              </a:spcBef>
            </a:pPr>
            <a:r>
              <a:rPr sz="1700" b="0">
                <a:solidFill>
                  <a:srgbClr val="FAF9F6"/>
                </a:solidFill>
                <a:latin typeface="Segoe UI"/>
              </a:rPr>
              <a:t>â–¸  Step 2: Prepare test image on PC</a:t>
            </a:r>
          </a:p>
          <a:p>
            <a:pPr>
              <a:spcBef>
                <a:spcPts val="200"/>
              </a:spcBef>
            </a:pPr>
            <a:r>
              <a:rPr sz="1400" b="0">
                <a:solidFill>
                  <a:srgbClr val="50FA1E"/>
                </a:solidFill>
                <a:latin typeface="Segoe UI"/>
              </a:rPr>
              <a:t>      â€¢  python sw/gen_test_image.py --image photo.jpg --out image.bin</a:t>
            </a:r>
          </a:p>
          <a:p>
            <a:pPr>
              <a:spcBef>
                <a:spcPts val="200"/>
              </a:spcBef>
            </a:pPr>
            <a:r>
              <a:rPr sz="1500" b="0">
                <a:solidFill>
                  <a:srgbClr val="88AABB"/>
                </a:solidFill>
                <a:latin typeface="Segoe UI"/>
              </a:rPr>
              <a:t>      â€¢  Output: 150,528 bytes â€” 224Ã—224Ã—3 planar RGB (R then G then B), 8-bit/pixel</a:t>
            </a:r>
          </a:p>
          <a:p>
            <a:pPr>
              <a:spcBef>
                <a:spcPts val="500"/>
              </a:spcBef>
            </a:pPr>
            <a:r>
              <a:rPr sz="1700" b="0">
                <a:solidFill>
                  <a:srgbClr val="FAF9F6"/>
                </a:solidFill>
                <a:latin typeface="Segoe UI"/>
              </a:rPr>
              <a:t>â–¸  Step 3: Transfer, compile, run</a:t>
            </a:r>
          </a:p>
          <a:p>
            <a:pPr>
              <a:spcBef>
                <a:spcPts val="200"/>
              </a:spcBef>
            </a:pPr>
            <a:r>
              <a:rPr sz="1400" b="0">
                <a:solidFill>
                  <a:srgbClr val="50FA1E"/>
                </a:solidFill>
                <a:latin typeface="Segoe UI"/>
              </a:rPr>
              <a:t>      â€¢  scp shufflenet_test.c image.bin root@&lt;board-ip&gt;:~/</a:t>
            </a:r>
          </a:p>
          <a:p>
            <a:pPr>
              <a:spcBef>
                <a:spcPts val="200"/>
              </a:spcBef>
            </a:pPr>
            <a:r>
              <a:rPr sz="1400" b="0">
                <a:solidFill>
                  <a:srgbClr val="50FA1E"/>
                </a:solidFill>
                <a:latin typeface="Segoe UI"/>
              </a:rPr>
              <a:t>      â€¢  gcc -O2 -o shufflenet_test shufflenet_test.c</a:t>
            </a:r>
          </a:p>
          <a:p>
            <a:pPr>
              <a:spcBef>
                <a:spcPts val="200"/>
              </a:spcBef>
            </a:pPr>
            <a:r>
              <a:rPr sz="1400" b="0">
                <a:solidFill>
                  <a:srgbClr val="50FA1E"/>
                </a:solidFill>
                <a:latin typeface="Segoe UI"/>
              </a:rPr>
              <a:t>      â€¢  sudo ./shufflenet_test image.bin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035040" y="1389888"/>
            <a:ext cx="5989320" cy="4937760"/>
          </a:xfrm>
          <a:prstGeom prst="rect">
            <a:avLst/>
          </a:prstGeom>
          <a:solidFill>
            <a:srgbClr val="1A301A"/>
          </a:solidFill>
          <a:ln w="25400">
            <a:solidFill>
              <a:srgbClr val="2860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071616" y="1426464"/>
            <a:ext cx="5916168" cy="4864608"/>
          </a:xfrm>
          <a:prstGeom prst="rect">
            <a:avLst/>
          </a:prstGeom>
          <a:solidFill>
            <a:srgbClr val="1A301A"/>
          </a:solidFill>
          <a:ln w="6350">
            <a:solidFill>
              <a:srgbClr val="88AA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035040" y="2278684"/>
            <a:ext cx="5989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50FA1E"/>
                </a:solidFill>
                <a:latin typeface="Segoe UI"/>
              </a:rPr>
              <a:t>[ INSERT FIGURE ]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99632" y="2644444"/>
            <a:ext cx="5660136" cy="4160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FAF9F6"/>
                </a:solidFill>
                <a:latin typeface="Segoe UI"/>
              </a:rPr>
              <a:t>ZU19EG block diagram
Same as slide 2.1: PS (blue border) with ARM A53, DDR4, peripherals, AXI interconnect, Linux label. PL (green border) with MMCM, AXI4-Lite slave, ShuffleNet accelerator, resource count. AXI arrow between PS and PL.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98448"/>
          </a:xfrm>
          <a:prstGeom prst="rect">
            <a:avLst/>
          </a:prstGeom>
          <a:solidFill>
            <a:srgbClr val="10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1298448"/>
          </a:xfrm>
          <a:prstGeom prst="rect">
            <a:avLst/>
          </a:prstGeom>
          <a:solidFill>
            <a:srgbClr val="48A9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298448"/>
            <a:ext cx="12191695" cy="41148"/>
          </a:xfrm>
          <a:prstGeom prst="rect">
            <a:avLst/>
          </a:prstGeom>
          <a:solidFill>
            <a:srgbClr val="48A9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48A9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816852"/>
            <a:ext cx="12191695" cy="41148"/>
          </a:xfrm>
          <a:prstGeom prst="rect">
            <a:avLst/>
          </a:prstGeom>
          <a:solidFill>
            <a:srgbClr val="50F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551615" y="54864"/>
            <a:ext cx="594360" cy="20116"/>
          </a:xfrm>
          <a:prstGeom prst="rect">
            <a:avLst/>
          </a:prstGeom>
          <a:solidFill>
            <a:srgbClr val="48A9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167567" y="173736"/>
            <a:ext cx="978408" cy="19019"/>
          </a:xfrm>
          <a:prstGeom prst="rect">
            <a:avLst/>
          </a:prstGeom>
          <a:solidFill>
            <a:srgbClr val="1E52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0783519" y="292608"/>
            <a:ext cx="1362456" cy="17922"/>
          </a:xfrm>
          <a:prstGeom prst="rect">
            <a:avLst/>
          </a:prstGeom>
          <a:solidFill>
            <a:srgbClr val="48A9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0399471" y="411480"/>
            <a:ext cx="1746504" cy="16824"/>
          </a:xfrm>
          <a:prstGeom prst="rect">
            <a:avLst/>
          </a:prstGeom>
          <a:solidFill>
            <a:srgbClr val="1E52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0015423" y="530352"/>
            <a:ext cx="2130552" cy="15727"/>
          </a:xfrm>
          <a:prstGeom prst="rect">
            <a:avLst/>
          </a:prstGeom>
          <a:solidFill>
            <a:srgbClr val="48A9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0" y="1298448"/>
            <a:ext cx="91440" cy="5285232"/>
          </a:xfrm>
          <a:prstGeom prst="rect">
            <a:avLst/>
          </a:prstGeom>
          <a:solidFill>
            <a:srgbClr val="48A9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74320" y="192024"/>
            <a:ext cx="685800" cy="347472"/>
          </a:xfrm>
          <a:prstGeom prst="rect">
            <a:avLst/>
          </a:prstGeom>
          <a:solidFill>
            <a:srgbClr val="48A9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74320" y="192024"/>
            <a:ext cx="685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00000"/>
                </a:solidFill>
                <a:latin typeface="Segoe UI"/>
              </a:rPr>
              <a:t>8.2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33271" y="155448"/>
            <a:ext cx="10865815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AF9F6"/>
                </a:solidFill>
                <a:latin typeface="Segoe UI"/>
              </a:rPr>
              <a:t>Inference Demo â€” Expected Output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33271" y="923544"/>
            <a:ext cx="108658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48A9C9"/>
                </a:solidFill>
                <a:latin typeface="Segoe UI"/>
              </a:rPr>
              <a:t>150K AXI writes + 0.8 ms pipeline inference = real-time classification at the edge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1417320"/>
            <a:ext cx="11533327" cy="49834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700" b="0">
                <a:solidFill>
                  <a:srgbClr val="FAF9F6"/>
                </a:solidFill>
                <a:latin typeface="Segoe UI"/>
              </a:rPr>
              <a:t>â–¸  shufflenet_test.c opens /dev/mem and mmap's 0xA000_0000 (32 MB window)</a:t>
            </a:r>
          </a:p>
          <a:p>
            <a:pPr>
              <a:spcBef>
                <a:spcPts val="500"/>
              </a:spcBef>
            </a:pPr>
            <a:r>
              <a:rPr sz="1700" b="0">
                <a:solidFill>
                  <a:srgbClr val="FAF9F6"/>
                </a:solidFill>
                <a:latin typeface="Segoe UI"/>
              </a:rPr>
              <a:t>â–¸  Writes all 150,528 pixels via memory-mapped AXI â€” one 32-bit write per pixel</a:t>
            </a:r>
          </a:p>
          <a:p>
            <a:pPr>
              <a:spcBef>
                <a:spcPts val="500"/>
              </a:spcBef>
            </a:pPr>
            <a:r>
              <a:rPr sz="1700" b="0">
                <a:solidFill>
                  <a:srgbClr val="FAF9F6"/>
                </a:solidFill>
                <a:latin typeface="Segoe UI"/>
              </a:rPr>
              <a:t>â–¸  Sets photo_ready CSR bit â€” inference starts on the next clock cycle</a:t>
            </a:r>
          </a:p>
          <a:p>
            <a:pPr>
              <a:spcBef>
                <a:spcPts val="500"/>
              </a:spcBef>
            </a:pPr>
            <a:r>
              <a:rPr sz="1700" b="0">
                <a:solidFill>
                  <a:srgbClr val="FAF9F6"/>
                </a:solidFill>
                <a:latin typeface="Segoe UI"/>
              </a:rPr>
              <a:t>â–¸  Polls classification_done bit every 1 ms â€” asserts after ~0.8 ms</a:t>
            </a:r>
          </a:p>
          <a:p>
            <a:pPr>
              <a:spcBef>
                <a:spcPts val="500"/>
              </a:spcBef>
            </a:pPr>
            <a:r>
              <a:rPr sz="1700" b="0">
                <a:solidFill>
                  <a:srgbClr val="FAF9F6"/>
                </a:solidFill>
                <a:latin typeface="Segoe UI"/>
              </a:rPr>
              <a:t>â–¸  Reads class_idx[9:0] from CSR â€” maps to ImageNet label</a:t>
            </a:r>
          </a:p>
          <a:p>
            <a:pPr>
              <a:spcBef>
                <a:spcPts val="500"/>
              </a:spcBef>
            </a:pPr>
            <a:r>
              <a:rPr sz="1700" b="1">
                <a:solidFill>
                  <a:srgbClr val="50FA1E"/>
                </a:solidFill>
                <a:latin typeface="Segoe UI"/>
              </a:rPr>
              <a:t>â–¸  Expected terminal output:</a:t>
            </a:r>
          </a:p>
          <a:p>
            <a:pPr>
              <a:spcBef>
                <a:spcPts val="200"/>
              </a:spcBef>
            </a:pPr>
            <a:r>
              <a:rPr sz="1400" b="0">
                <a:solidFill>
                  <a:srgbClr val="50FA1E"/>
                </a:solidFill>
                <a:latin typeface="Segoe UI"/>
              </a:rPr>
              <a:t>      â€¢  Image loaded: image.bin  (50176 pixels x 3 channels)</a:t>
            </a:r>
          </a:p>
          <a:p>
            <a:pPr>
              <a:spcBef>
                <a:spcPts val="200"/>
              </a:spcBef>
            </a:pPr>
            <a:r>
              <a:rPr sz="1400" b="0">
                <a:solidFill>
                  <a:srgbClr val="50FA1E"/>
                </a:solidFill>
                <a:latin typeface="Segoe UI"/>
              </a:rPr>
              <a:t>      â€¢  Writing to photo memory (ping buffer, mem_select=0)...</a:t>
            </a:r>
          </a:p>
          <a:p>
            <a:pPr>
              <a:spcBef>
                <a:spcPts val="200"/>
              </a:spcBef>
            </a:pPr>
            <a:r>
              <a:rPr sz="1400" b="1">
                <a:solidFill>
                  <a:srgbClr val="50FA1E"/>
                </a:solidFill>
                <a:latin typeface="Segoe UI"/>
              </a:rPr>
              <a:t>      â€¢  === INFERENCE RESULT ===</a:t>
            </a:r>
          </a:p>
          <a:p>
            <a:pPr>
              <a:spcBef>
                <a:spcPts val="200"/>
              </a:spcBef>
            </a:pPr>
            <a:r>
              <a:rPr sz="1400" b="1">
                <a:solidFill>
                  <a:srgbClr val="50FA1E"/>
                </a:solidFill>
                <a:latin typeface="Segoe UI"/>
              </a:rPr>
              <a:t>      â€¢    class_idx  :  207   (Golden Retriever)</a:t>
            </a:r>
          </a:p>
          <a:p>
            <a:pPr>
              <a:spcBef>
                <a:spcPts val="200"/>
              </a:spcBef>
            </a:pPr>
            <a:r>
              <a:rPr sz="1400" b="1">
                <a:solidFill>
                  <a:srgbClr val="50FA1E"/>
                </a:solidFill>
                <a:latin typeface="Segoe UI"/>
              </a:rPr>
              <a:t>      â€¢    inference  :  0.8 ms</a:t>
            </a:r>
          </a:p>
          <a:p>
            <a:pPr>
              <a:spcBef>
                <a:spcPts val="500"/>
              </a:spcBef>
            </a:pPr>
            <a:r>
              <a:rPr sz="1700" b="1">
                <a:solidFill>
                  <a:srgbClr val="48A9C9"/>
                </a:solidFill>
                <a:latin typeface="Segoe UI"/>
              </a:rPr>
              <a:t>â–¸  [ LIVE BOARD DEMO â€” show actual hardware inference here ]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017520"/>
          </a:xfrm>
          <a:prstGeom prst="rect">
            <a:avLst/>
          </a:prstGeom>
          <a:solidFill>
            <a:srgbClr val="08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48A9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3017520"/>
            <a:ext cx="12191695" cy="64008"/>
          </a:xfrm>
          <a:prstGeom prst="rect">
            <a:avLst/>
          </a:prstGeom>
          <a:solidFill>
            <a:srgbClr val="48A9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3081528"/>
            <a:ext cx="12191695" cy="29260"/>
          </a:xfrm>
          <a:prstGeom prst="rect">
            <a:avLst/>
          </a:prstGeom>
          <a:solidFill>
            <a:srgbClr val="50F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716975" y="45720"/>
            <a:ext cx="3200400" cy="2606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5500" b="1" i="0">
                <a:solidFill>
                  <a:srgbClr val="102A44"/>
                </a:solidFill>
                <a:latin typeface="Segoe UI"/>
              </a:rPr>
              <a:t>09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02920"/>
            <a:ext cx="8076895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 i="0">
                <a:solidFill>
                  <a:srgbClr val="FAF9F6"/>
                </a:solidFill>
                <a:latin typeface="Segoe UI"/>
              </a:rPr>
              <a:t>Conclusion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468880"/>
            <a:ext cx="108200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1">
                <a:solidFill>
                  <a:srgbClr val="48A9C9"/>
                </a:solidFill>
                <a:latin typeface="Segoe UI"/>
              </a:rPr>
              <a:t>All objectives delivered. With numbers.</a:t>
            </a:r>
          </a:p>
        </p:txBody>
      </p:sp>
      <p:sp>
        <p:nvSpPr>
          <p:cNvPr id="9" name="Rectangle 8"/>
          <p:cNvSpPr/>
          <p:nvPr/>
        </p:nvSpPr>
        <p:spPr>
          <a:xfrm>
            <a:off x="11551615" y="6783020"/>
            <a:ext cx="594360" cy="20116"/>
          </a:xfrm>
          <a:prstGeom prst="rect">
            <a:avLst/>
          </a:prstGeom>
          <a:solidFill>
            <a:srgbClr val="48A9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1167567" y="6674389"/>
            <a:ext cx="978408" cy="19019"/>
          </a:xfrm>
          <a:prstGeom prst="rect">
            <a:avLst/>
          </a:prstGeom>
          <a:solidFill>
            <a:srgbClr val="1E52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0783519" y="6565758"/>
            <a:ext cx="1362456" cy="17922"/>
          </a:xfrm>
          <a:prstGeom prst="rect">
            <a:avLst/>
          </a:prstGeom>
          <a:solidFill>
            <a:srgbClr val="48A9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0399471" y="6457128"/>
            <a:ext cx="1746504" cy="16824"/>
          </a:xfrm>
          <a:prstGeom prst="rect">
            <a:avLst/>
          </a:prstGeom>
          <a:solidFill>
            <a:srgbClr val="1E52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0015423" y="6348497"/>
            <a:ext cx="2130552" cy="15727"/>
          </a:xfrm>
          <a:prstGeom prst="rect">
            <a:avLst/>
          </a:prstGeom>
          <a:solidFill>
            <a:srgbClr val="48A9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9631375" y="6239867"/>
            <a:ext cx="2514600" cy="14630"/>
          </a:xfrm>
          <a:prstGeom prst="rect">
            <a:avLst/>
          </a:prstGeom>
          <a:solidFill>
            <a:srgbClr val="1E52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9247327" y="6131235"/>
            <a:ext cx="2898648" cy="13533"/>
          </a:xfrm>
          <a:prstGeom prst="rect">
            <a:avLst/>
          </a:prstGeom>
          <a:solidFill>
            <a:srgbClr val="48A9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863279" y="6022606"/>
            <a:ext cx="3282696" cy="12435"/>
          </a:xfrm>
          <a:prstGeom prst="rect">
            <a:avLst/>
          </a:prstGeom>
          <a:solidFill>
            <a:srgbClr val="1E52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479231" y="5913974"/>
            <a:ext cx="3666744" cy="11338"/>
          </a:xfrm>
          <a:prstGeom prst="rect">
            <a:avLst/>
          </a:prstGeom>
          <a:solidFill>
            <a:srgbClr val="48A9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0" y="6812280"/>
            <a:ext cx="12191695" cy="45720"/>
          </a:xfrm>
          <a:prstGeom prst="rect">
            <a:avLst/>
          </a:prstGeom>
          <a:solidFill>
            <a:srgbClr val="50F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84048" y="6016752"/>
            <a:ext cx="228600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50FA1E"/>
                </a:solidFill>
                <a:latin typeface="Segoe UI"/>
              </a:rPr>
              <a:t>XLR8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98448"/>
          </a:xfrm>
          <a:prstGeom prst="rect">
            <a:avLst/>
          </a:prstGeom>
          <a:solidFill>
            <a:srgbClr val="10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1298448"/>
          </a:xfrm>
          <a:prstGeom prst="rect">
            <a:avLst/>
          </a:prstGeom>
          <a:solidFill>
            <a:srgbClr val="48A9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298448"/>
            <a:ext cx="12191695" cy="41148"/>
          </a:xfrm>
          <a:prstGeom prst="rect">
            <a:avLst/>
          </a:prstGeom>
          <a:solidFill>
            <a:srgbClr val="48A9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48A9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816852"/>
            <a:ext cx="12191695" cy="41148"/>
          </a:xfrm>
          <a:prstGeom prst="rect">
            <a:avLst/>
          </a:prstGeom>
          <a:solidFill>
            <a:srgbClr val="50F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551615" y="6783020"/>
            <a:ext cx="594360" cy="20116"/>
          </a:xfrm>
          <a:prstGeom prst="rect">
            <a:avLst/>
          </a:prstGeom>
          <a:solidFill>
            <a:srgbClr val="48A9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167567" y="6674389"/>
            <a:ext cx="978408" cy="19019"/>
          </a:xfrm>
          <a:prstGeom prst="rect">
            <a:avLst/>
          </a:prstGeom>
          <a:solidFill>
            <a:srgbClr val="1E52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0783519" y="6565758"/>
            <a:ext cx="1362456" cy="17922"/>
          </a:xfrm>
          <a:prstGeom prst="rect">
            <a:avLst/>
          </a:prstGeom>
          <a:solidFill>
            <a:srgbClr val="48A9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0399471" y="6457128"/>
            <a:ext cx="1746504" cy="16824"/>
          </a:xfrm>
          <a:prstGeom prst="rect">
            <a:avLst/>
          </a:prstGeom>
          <a:solidFill>
            <a:srgbClr val="1E52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0015423" y="6348497"/>
            <a:ext cx="2130552" cy="15727"/>
          </a:xfrm>
          <a:prstGeom prst="rect">
            <a:avLst/>
          </a:prstGeom>
          <a:solidFill>
            <a:srgbClr val="48A9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74320" y="192024"/>
            <a:ext cx="685800" cy="347472"/>
          </a:xfrm>
          <a:prstGeom prst="rect">
            <a:avLst/>
          </a:prstGeom>
          <a:solidFill>
            <a:srgbClr val="48A9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74320" y="192024"/>
            <a:ext cx="685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00000"/>
                </a:solidFill>
                <a:latin typeface="Segoe UI"/>
              </a:rPr>
              <a:t>9.1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33271" y="155448"/>
            <a:ext cx="10865815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AF9F6"/>
                </a:solidFill>
                <a:latin typeface="Segoe UI"/>
              </a:rPr>
              <a:t>All Objectives â€” Delivered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33271" y="923544"/>
            <a:ext cx="1086581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48A9C9"/>
                </a:solidFill>
                <a:latin typeface="Segoe UI"/>
              </a:rPr>
              <a:t>Defined before design began. Measured post place-and-route. All three met.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4320" y="1353312"/>
            <a:ext cx="11643055" cy="4983481"/>
          </a:xfrm>
          <a:prstGeom prst="rect">
            <a:avLst/>
          </a:prstGeom>
          <a:solidFill>
            <a:srgbClr val="1A301A"/>
          </a:solidFill>
          <a:ln w="25400">
            <a:solidFill>
              <a:srgbClr val="2860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10896" y="1389888"/>
            <a:ext cx="11569903" cy="4910329"/>
          </a:xfrm>
          <a:prstGeom prst="rect">
            <a:avLst/>
          </a:prstGeom>
          <a:solidFill>
            <a:srgbClr val="1A301A"/>
          </a:solidFill>
          <a:ln w="6350">
            <a:solidFill>
              <a:srgbClr val="88AA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74320" y="2250338"/>
            <a:ext cx="1164305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50FA1E"/>
                </a:solidFill>
                <a:latin typeface="Segoe UI"/>
              </a:rPr>
              <a:t>[ INSERT FIGURE ]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8912" y="2616098"/>
            <a:ext cx="11313871" cy="42062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FAF9F6"/>
                </a:solidFill>
                <a:latin typeface="Segoe UI"/>
              </a:rPr>
              <a:t>Objectives scorecard (3 card rows)
Three horizontally-stretched cards, each with:
â€¢ Large green checkmark "âœ“" on the left
â€¢ Objective label (small gray text), bold title (white), result line (green)
Card 1: "Objective 1" / "Design RTL accelerator for ShuffleNet V2" / "50 RTL modules | 48 testbenches | All passing"
Card 2: "Objective 2" / "Meet hardware targets (timing, resources, throughput)" / "WNS=+0.125 ns âœ“ | DSP=78.76% âœ“ | BRAM=55.95% âœ“ | 1,216 fps âœ“"
Card 3: "Objective 3" / "Prove RTL methodology outperforms HLS" / "49Ã— higher throughput | 20Ã— lower energy per frame"
Green border on each card. Title: "All Objectives â€” Delivered with Measured Results".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98448"/>
          </a:xfrm>
          <a:prstGeom prst="rect">
            <a:avLst/>
          </a:prstGeom>
          <a:solidFill>
            <a:srgbClr val="10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1298448"/>
          </a:xfrm>
          <a:prstGeom prst="rect">
            <a:avLst/>
          </a:prstGeom>
          <a:solidFill>
            <a:srgbClr val="48A9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298448"/>
            <a:ext cx="12191695" cy="41148"/>
          </a:xfrm>
          <a:prstGeom prst="rect">
            <a:avLst/>
          </a:prstGeom>
          <a:solidFill>
            <a:srgbClr val="48A9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48A9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816852"/>
            <a:ext cx="12191695" cy="41148"/>
          </a:xfrm>
          <a:prstGeom prst="rect">
            <a:avLst/>
          </a:prstGeom>
          <a:solidFill>
            <a:srgbClr val="50F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551615" y="54864"/>
            <a:ext cx="594360" cy="20116"/>
          </a:xfrm>
          <a:prstGeom prst="rect">
            <a:avLst/>
          </a:prstGeom>
          <a:solidFill>
            <a:srgbClr val="48A9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167567" y="173736"/>
            <a:ext cx="978408" cy="19019"/>
          </a:xfrm>
          <a:prstGeom prst="rect">
            <a:avLst/>
          </a:prstGeom>
          <a:solidFill>
            <a:srgbClr val="1E52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0783519" y="292608"/>
            <a:ext cx="1362456" cy="17922"/>
          </a:xfrm>
          <a:prstGeom prst="rect">
            <a:avLst/>
          </a:prstGeom>
          <a:solidFill>
            <a:srgbClr val="48A9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0399471" y="411480"/>
            <a:ext cx="1746504" cy="16824"/>
          </a:xfrm>
          <a:prstGeom prst="rect">
            <a:avLst/>
          </a:prstGeom>
          <a:solidFill>
            <a:srgbClr val="1E52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0015423" y="530352"/>
            <a:ext cx="2130552" cy="15727"/>
          </a:xfrm>
          <a:prstGeom prst="rect">
            <a:avLst/>
          </a:prstGeom>
          <a:solidFill>
            <a:srgbClr val="48A9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0" y="1298448"/>
            <a:ext cx="91440" cy="5285232"/>
          </a:xfrm>
          <a:prstGeom prst="rect">
            <a:avLst/>
          </a:prstGeom>
          <a:solidFill>
            <a:srgbClr val="48A9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74320" y="192024"/>
            <a:ext cx="685800" cy="347472"/>
          </a:xfrm>
          <a:prstGeom prst="rect">
            <a:avLst/>
          </a:prstGeom>
          <a:solidFill>
            <a:srgbClr val="48A9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74320" y="192024"/>
            <a:ext cx="685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00000"/>
                </a:solidFill>
                <a:latin typeface="Segoe UI"/>
              </a:rPr>
              <a:t>9.2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33271" y="155448"/>
            <a:ext cx="10865815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AF9F6"/>
                </a:solidFill>
                <a:latin typeface="Segoe UI"/>
              </a:rPr>
              <a:t>Key Contributions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33271" y="923544"/>
            <a:ext cx="108658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48A9C9"/>
                </a:solidFill>
                <a:latin typeface="Segoe UI"/>
              </a:rPr>
              <a:t>Six contributions that stand independently beyond this project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1417320"/>
            <a:ext cx="11533327" cy="49834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700" b="1">
                <a:solidFill>
                  <a:srgbClr val="FAF9F6"/>
                </a:solidFill>
                <a:latin typeface="Segoe UI"/>
              </a:rPr>
              <a:t>â–¸  1.  Complete, verified RTL accelerator for ShuffleNet V2</a:t>
            </a:r>
          </a:p>
          <a:p>
            <a:pPr>
              <a:spcBef>
                <a:spcPts val="200"/>
              </a:spcBef>
            </a:pPr>
            <a:r>
              <a:rPr sz="1500" b="0">
                <a:solidFill>
                  <a:srgbClr val="88AABB"/>
                </a:solidFill>
                <a:latin typeface="Segoe UI"/>
              </a:rPr>
              <a:t>      â€¢  50 Verilog modules, 48 self-checking testbenches, all passing, synthesizable on ZU19EG</a:t>
            </a:r>
          </a:p>
          <a:p>
            <a:pPr>
              <a:spcBef>
                <a:spcPts val="500"/>
              </a:spcBef>
            </a:pPr>
            <a:r>
              <a:rPr sz="1700" b="1">
                <a:solidFill>
                  <a:srgbClr val="FAF9F6"/>
                </a:solidFill>
                <a:latin typeface="Segoe UI"/>
              </a:rPr>
              <a:t>â–¸  2.  End-to-end Q6.8 fixed-point toolchain</a:t>
            </a:r>
          </a:p>
          <a:p>
            <a:pPr>
              <a:spcBef>
                <a:spcPts val="200"/>
              </a:spcBef>
            </a:pPr>
            <a:r>
              <a:rPr sz="1500" b="0">
                <a:solidFill>
                  <a:srgbClr val="88AABB"/>
                </a:solidFill>
                <a:latin typeface="Segoe UI"/>
              </a:rPr>
              <a:t>      â€¢  PyTorch â†’ BN folding â†’ quantization â†’ bit-true Python model â†’ hex weights â†’ BRAM</a:t>
            </a:r>
          </a:p>
          <a:p>
            <a:pPr>
              <a:spcBef>
                <a:spcPts val="200"/>
              </a:spcBef>
            </a:pPr>
            <a:r>
              <a:rPr sz="1500" b="0">
                <a:solidFill>
                  <a:srgbClr val="88AABB"/>
                </a:solidFill>
                <a:latin typeface="Segoe UI"/>
              </a:rPr>
              <a:t>      â€¢  3 arithmetic bugs found and fixed before hardware synthesis</a:t>
            </a:r>
          </a:p>
          <a:p>
            <a:pPr>
              <a:spcBef>
                <a:spcPts val="500"/>
              </a:spcBef>
            </a:pPr>
            <a:r>
              <a:rPr sz="1700" b="1">
                <a:solidFill>
                  <a:srgbClr val="FAF9F6"/>
                </a:solidFill>
                <a:latin typeface="Segoe UI"/>
              </a:rPr>
              <a:t>â–¸  3.  Progressive 4-model HLS implementation</a:t>
            </a:r>
          </a:p>
          <a:p>
            <a:pPr>
              <a:spcBef>
                <a:spcPts val="200"/>
              </a:spcBef>
            </a:pPr>
            <a:r>
              <a:rPr sz="1500" b="0">
                <a:solidFill>
                  <a:srgbClr val="88AABB"/>
                </a:solidFill>
                <a:latin typeface="Segoe UI"/>
              </a:rPr>
              <a:t>      â€¢  Baseline â†’ Pipeline â†’ Parallelism â†’ Final: rigorous methodology, 4 C-sim passes</a:t>
            </a:r>
          </a:p>
          <a:p>
            <a:pPr>
              <a:spcBef>
                <a:spcPts val="500"/>
              </a:spcBef>
            </a:pPr>
            <a:r>
              <a:rPr sz="1700" b="1">
                <a:solidFill>
                  <a:srgbClr val="FAF9F6"/>
                </a:solidFill>
                <a:latin typeface="Segoe UI"/>
              </a:rPr>
              <a:t>â–¸  4.  Quantified RTL vs HLS comparison</a:t>
            </a:r>
          </a:p>
          <a:p>
            <a:pPr>
              <a:spcBef>
                <a:spcPts val="200"/>
              </a:spcBef>
            </a:pPr>
            <a:r>
              <a:rPr sz="1500" b="0">
                <a:solidFill>
                  <a:srgbClr val="88AABB"/>
                </a:solidFill>
                <a:latin typeface="Segoe UI"/>
              </a:rPr>
              <a:t>      â€¢  20Ã— energy efficiency advantage, 49Ã— throughput advantage â€” measured on same model</a:t>
            </a:r>
          </a:p>
          <a:p>
            <a:pPr>
              <a:spcBef>
                <a:spcPts val="500"/>
              </a:spcBef>
            </a:pPr>
            <a:r>
              <a:rPr sz="1700" b="1">
                <a:solidFill>
                  <a:srgbClr val="FAF9F6"/>
                </a:solidFill>
                <a:latin typeface="Segoe UI"/>
              </a:rPr>
              <a:t>â–¸  5.  Production-ready integration package</a:t>
            </a:r>
          </a:p>
          <a:p>
            <a:pPr>
              <a:spcBef>
                <a:spcPts val="200"/>
              </a:spcBef>
            </a:pPr>
            <a:r>
              <a:rPr sz="1500" b="0">
                <a:solidFill>
                  <a:srgbClr val="88AABB"/>
                </a:solidFill>
                <a:latin typeface="Segoe UI"/>
              </a:rPr>
              <a:t>      â€¢  AXI4-Lite interface, Linux test app, XSA platform, JTAG-programmable bitstream</a:t>
            </a:r>
          </a:p>
          <a:p>
            <a:pPr>
              <a:spcBef>
                <a:spcPts val="500"/>
              </a:spcBef>
            </a:pPr>
            <a:r>
              <a:rPr sz="1700" b="1">
                <a:solidFill>
                  <a:srgbClr val="FAF9F6"/>
                </a:solidFill>
                <a:latin typeface="Segoe UI"/>
              </a:rPr>
              <a:t>â–¸  6.  Split OOC synthesis flow for large designs under RAM constraints</a:t>
            </a:r>
          </a:p>
          <a:p>
            <a:pPr>
              <a:spcBef>
                <a:spcPts val="200"/>
              </a:spcBef>
            </a:pPr>
            <a:r>
              <a:rPr sz="1500" b="0">
                <a:solidFill>
                  <a:srgbClr val="88AABB"/>
                </a:solidFill>
                <a:latin typeface="Segoe UI"/>
              </a:rPr>
              <a:t>      â€¢  4-script reproducible flow with DCP injection â€” documented and available on GitHub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98448"/>
          </a:xfrm>
          <a:prstGeom prst="rect">
            <a:avLst/>
          </a:prstGeom>
          <a:solidFill>
            <a:srgbClr val="10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1298448"/>
          </a:xfrm>
          <a:prstGeom prst="rect">
            <a:avLst/>
          </a:prstGeom>
          <a:solidFill>
            <a:srgbClr val="48A9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298448"/>
            <a:ext cx="12191695" cy="41148"/>
          </a:xfrm>
          <a:prstGeom prst="rect">
            <a:avLst/>
          </a:prstGeom>
          <a:solidFill>
            <a:srgbClr val="48A9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48A9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816852"/>
            <a:ext cx="12191695" cy="41148"/>
          </a:xfrm>
          <a:prstGeom prst="rect">
            <a:avLst/>
          </a:prstGeom>
          <a:solidFill>
            <a:srgbClr val="50F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551615" y="54864"/>
            <a:ext cx="594360" cy="20116"/>
          </a:xfrm>
          <a:prstGeom prst="rect">
            <a:avLst/>
          </a:prstGeom>
          <a:solidFill>
            <a:srgbClr val="48A9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167567" y="173736"/>
            <a:ext cx="978408" cy="19019"/>
          </a:xfrm>
          <a:prstGeom prst="rect">
            <a:avLst/>
          </a:prstGeom>
          <a:solidFill>
            <a:srgbClr val="1E52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0783519" y="292608"/>
            <a:ext cx="1362456" cy="17922"/>
          </a:xfrm>
          <a:prstGeom prst="rect">
            <a:avLst/>
          </a:prstGeom>
          <a:solidFill>
            <a:srgbClr val="48A9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0399471" y="411480"/>
            <a:ext cx="1746504" cy="16824"/>
          </a:xfrm>
          <a:prstGeom prst="rect">
            <a:avLst/>
          </a:prstGeom>
          <a:solidFill>
            <a:srgbClr val="1E52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0015423" y="530352"/>
            <a:ext cx="2130552" cy="15727"/>
          </a:xfrm>
          <a:prstGeom prst="rect">
            <a:avLst/>
          </a:prstGeom>
          <a:solidFill>
            <a:srgbClr val="48A9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0" y="1298448"/>
            <a:ext cx="91440" cy="5285232"/>
          </a:xfrm>
          <a:prstGeom prst="rect">
            <a:avLst/>
          </a:prstGeom>
          <a:solidFill>
            <a:srgbClr val="48A9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74320" y="192024"/>
            <a:ext cx="685800" cy="347472"/>
          </a:xfrm>
          <a:prstGeom prst="rect">
            <a:avLst/>
          </a:prstGeom>
          <a:solidFill>
            <a:srgbClr val="48A9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74320" y="192024"/>
            <a:ext cx="685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00000"/>
                </a:solidFill>
                <a:latin typeface="Segoe UI"/>
              </a:rPr>
              <a:t>9.3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33271" y="155448"/>
            <a:ext cx="10865815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AF9F6"/>
                </a:solidFill>
                <a:latin typeface="Segoe UI"/>
              </a:rPr>
              <a:t>Future Work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33271" y="923544"/>
            <a:ext cx="108658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48A9C9"/>
                </a:solidFill>
                <a:latin typeface="Segoe UI"/>
              </a:rPr>
              <a:t>A solid foundation â€” one step away from a commercial product or ASIC tape-out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1417320"/>
            <a:ext cx="11533327" cy="49834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700" b="1">
                <a:solidFill>
                  <a:srgbClr val="FAF9F6"/>
                </a:solidFill>
                <a:latin typeface="Segoe UI"/>
              </a:rPr>
              <a:t>â–¸  1.  Full physical board validation</a:t>
            </a:r>
          </a:p>
          <a:p>
            <a:pPr>
              <a:spcBef>
                <a:spcPts val="200"/>
              </a:spcBef>
            </a:pPr>
            <a:r>
              <a:rPr sz="1500" b="0">
                <a:solidFill>
                  <a:srgbClr val="88AABB"/>
                </a:solidFill>
                <a:latin typeface="Segoe UI"/>
              </a:rPr>
              <a:t>      â€¢  Run shufflenet_test.c on physical ZU19EG â€” measure actual inference time and accuracy</a:t>
            </a:r>
          </a:p>
          <a:p>
            <a:pPr>
              <a:spcBef>
                <a:spcPts val="500"/>
              </a:spcBef>
            </a:pPr>
            <a:r>
              <a:rPr sz="1700" b="1">
                <a:solidFill>
                  <a:srgbClr val="FAF9F6"/>
                </a:solidFill>
                <a:latin typeface="Segoe UI"/>
              </a:rPr>
              <a:t>â–¸  2.  Quantization-aware retraining for the DWâˆ¥PW architecture</a:t>
            </a:r>
          </a:p>
          <a:p>
            <a:pPr>
              <a:spcBef>
                <a:spcPts val="200"/>
              </a:spcBef>
            </a:pPr>
            <a:r>
              <a:rPr sz="1500" b="0">
                <a:solidFill>
                  <a:srgbClr val="88AABB"/>
                </a:solidFill>
                <a:latin typeface="Segoe UI"/>
              </a:rPr>
              <a:t>      â€¢  Fine-tune the PyTorch model with Q6.8 constraints and the simplified topology</a:t>
            </a:r>
          </a:p>
          <a:p>
            <a:pPr>
              <a:spcBef>
                <a:spcPts val="500"/>
              </a:spcBef>
            </a:pPr>
            <a:r>
              <a:rPr sz="1700" b="1">
                <a:solidFill>
                  <a:srgbClr val="FAF9F6"/>
                </a:solidFill>
                <a:latin typeface="Segoe UI"/>
              </a:rPr>
              <a:t>â–¸  3.  Extend to other lightweight models</a:t>
            </a:r>
          </a:p>
          <a:p>
            <a:pPr>
              <a:spcBef>
                <a:spcPts val="200"/>
              </a:spcBef>
            </a:pPr>
            <a:r>
              <a:rPr sz="1500" b="0">
                <a:solidFill>
                  <a:srgbClr val="88AABB"/>
                </a:solidFill>
                <a:latin typeface="Segoe UI"/>
              </a:rPr>
              <a:t>      â€¢  Apply the same RTL methodology to MobileNetV2 and EfficientNet-Lite</a:t>
            </a:r>
          </a:p>
          <a:p>
            <a:pPr>
              <a:spcBef>
                <a:spcPts val="500"/>
              </a:spcBef>
            </a:pPr>
            <a:r>
              <a:rPr sz="1700" b="1">
                <a:solidFill>
                  <a:srgbClr val="FAF9F6"/>
                </a:solidFill>
                <a:latin typeface="Segoe UI"/>
              </a:rPr>
              <a:t>â–¸  4.  ASIC migration path</a:t>
            </a:r>
          </a:p>
          <a:p>
            <a:pPr>
              <a:spcBef>
                <a:spcPts val="200"/>
              </a:spcBef>
            </a:pPr>
            <a:r>
              <a:rPr sz="1500" b="0">
                <a:solidFill>
                  <a:srgbClr val="88AABB"/>
                </a:solidFill>
                <a:latin typeface="Segoe UI"/>
              </a:rPr>
              <a:t>      â€¢  Use this verified RTL as the basis for a tape-out â€” estimated 10â€“50Ã— power reduction vs FPGA</a:t>
            </a:r>
          </a:p>
          <a:p>
            <a:pPr>
              <a:spcBef>
                <a:spcPts val="500"/>
              </a:spcBef>
            </a:pPr>
            <a:r>
              <a:rPr sz="1700" b="1">
                <a:solidFill>
                  <a:srgbClr val="FAF9F6"/>
                </a:solidFill>
                <a:latin typeface="Segoe UI"/>
              </a:rPr>
              <a:t>â–¸  5.  Complete HLS place-and-route</a:t>
            </a:r>
          </a:p>
          <a:p>
            <a:pPr>
              <a:spcBef>
                <a:spcPts val="200"/>
              </a:spcBef>
            </a:pPr>
            <a:r>
              <a:rPr sz="1500" b="0">
                <a:solidFill>
                  <a:srgbClr val="88AABB"/>
                </a:solidFill>
                <a:latin typeface="Segoe UI"/>
              </a:rPr>
              <a:t>      â€¢  Reduce UNROLL factors further â†’ enable full P&amp;R for complete HLS comparison</a:t>
            </a:r>
          </a:p>
          <a:p>
            <a:pPr>
              <a:spcBef>
                <a:spcPts val="500"/>
              </a:spcBef>
            </a:pPr>
            <a:r>
              <a:rPr sz="1700" b="1">
                <a:solidFill>
                  <a:srgbClr val="FAF9F6"/>
                </a:solidFill>
                <a:latin typeface="Segoe UI"/>
              </a:rPr>
              <a:t>â–¸  6.  Real-time object detection extension</a:t>
            </a:r>
          </a:p>
          <a:p>
            <a:pPr>
              <a:spcBef>
                <a:spcPts val="200"/>
              </a:spcBef>
            </a:pPr>
            <a:r>
              <a:rPr sz="1500" b="0">
                <a:solidFill>
                  <a:srgbClr val="88AABB"/>
                </a:solidFill>
                <a:latin typeface="Segoe UI"/>
              </a:rPr>
              <a:t>      â€¢  Replace classification head with YOLO-style detection head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98448"/>
          </a:xfrm>
          <a:prstGeom prst="rect">
            <a:avLst/>
          </a:prstGeom>
          <a:solidFill>
            <a:srgbClr val="10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1298448"/>
          </a:xfrm>
          <a:prstGeom prst="rect">
            <a:avLst/>
          </a:prstGeom>
          <a:solidFill>
            <a:srgbClr val="48A9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298448"/>
            <a:ext cx="12191695" cy="41148"/>
          </a:xfrm>
          <a:prstGeom prst="rect">
            <a:avLst/>
          </a:prstGeom>
          <a:solidFill>
            <a:srgbClr val="48A9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48A9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816852"/>
            <a:ext cx="12191695" cy="41148"/>
          </a:xfrm>
          <a:prstGeom prst="rect">
            <a:avLst/>
          </a:prstGeom>
          <a:solidFill>
            <a:srgbClr val="50F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551615" y="54864"/>
            <a:ext cx="594360" cy="20116"/>
          </a:xfrm>
          <a:prstGeom prst="rect">
            <a:avLst/>
          </a:prstGeom>
          <a:solidFill>
            <a:srgbClr val="48A9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167567" y="173736"/>
            <a:ext cx="978408" cy="19019"/>
          </a:xfrm>
          <a:prstGeom prst="rect">
            <a:avLst/>
          </a:prstGeom>
          <a:solidFill>
            <a:srgbClr val="1E52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0783519" y="292608"/>
            <a:ext cx="1362456" cy="17922"/>
          </a:xfrm>
          <a:prstGeom prst="rect">
            <a:avLst/>
          </a:prstGeom>
          <a:solidFill>
            <a:srgbClr val="48A9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0399471" y="411480"/>
            <a:ext cx="1746504" cy="16824"/>
          </a:xfrm>
          <a:prstGeom prst="rect">
            <a:avLst/>
          </a:prstGeom>
          <a:solidFill>
            <a:srgbClr val="1E52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0015423" y="530352"/>
            <a:ext cx="2130552" cy="15727"/>
          </a:xfrm>
          <a:prstGeom prst="rect">
            <a:avLst/>
          </a:prstGeom>
          <a:solidFill>
            <a:srgbClr val="48A9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0" y="1298448"/>
            <a:ext cx="91440" cy="5285232"/>
          </a:xfrm>
          <a:prstGeom prst="rect">
            <a:avLst/>
          </a:prstGeom>
          <a:solidFill>
            <a:srgbClr val="48A9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74320" y="192024"/>
            <a:ext cx="685800" cy="347472"/>
          </a:xfrm>
          <a:prstGeom prst="rect">
            <a:avLst/>
          </a:prstGeom>
          <a:solidFill>
            <a:srgbClr val="48A9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74320" y="192024"/>
            <a:ext cx="685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00000"/>
                </a:solidFill>
                <a:latin typeface="Segoe UI"/>
              </a:rPr>
              <a:t>9.4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33271" y="155448"/>
            <a:ext cx="10865815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AF9F6"/>
                </a:solidFill>
                <a:latin typeface="Segoe UI"/>
              </a:rPr>
              <a:t>Closing â€” The Convergence, Delivered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33271" y="923544"/>
            <a:ext cx="108658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48A9C9"/>
                </a:solidFill>
                <a:latin typeface="Segoe UI"/>
              </a:rPr>
              <a:t>From the first transistor in 1958 to 1,216 fps of real-time AI â€” the convergence, delivered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1417320"/>
            <a:ext cx="11533327" cy="49834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700" b="0">
                <a:solidFill>
                  <a:srgbClr val="FAF9F6"/>
                </a:solidFill>
                <a:latin typeface="Segoe UI"/>
              </a:rPr>
              <a:t>â–¸  We opened with a question: how do you bring AI intelligence to the embedded edge?</a:t>
            </a:r>
          </a:p>
          <a:p>
            <a:pPr>
              <a:spcBef>
                <a:spcPts val="500"/>
              </a:spcBef>
            </a:pPr>
            <a:r>
              <a:rPr sz="1700" b="0">
                <a:solidFill>
                  <a:srgbClr val="FAF9F6"/>
                </a:solidFill>
                <a:latin typeface="Segoe UI"/>
              </a:rPr>
              <a:t>â–¸  We traced the journey from its roots:</a:t>
            </a:r>
          </a:p>
          <a:p>
            <a:pPr>
              <a:spcBef>
                <a:spcPts val="200"/>
              </a:spcBef>
            </a:pPr>
            <a:r>
              <a:rPr sz="1500" b="0">
                <a:solidFill>
                  <a:srgbClr val="88AABB"/>
                </a:solidFill>
                <a:latin typeface="Segoe UI"/>
              </a:rPr>
              <a:t>      â€¢  1958: the first integrated circuit â€” 6 transistors on a germanium chip</a:t>
            </a:r>
          </a:p>
          <a:p>
            <a:pPr>
              <a:spcBef>
                <a:spcPts val="200"/>
              </a:spcBef>
            </a:pPr>
            <a:r>
              <a:rPr sz="1500" b="0">
                <a:solidFill>
                  <a:srgbClr val="88AABB"/>
                </a:solidFill>
                <a:latin typeface="Segoe UI"/>
              </a:rPr>
              <a:t>      â€¢  1957: the first artificial neuron â€” a single weighted sum</a:t>
            </a:r>
          </a:p>
          <a:p>
            <a:pPr>
              <a:spcBef>
                <a:spcPts val="200"/>
              </a:spcBef>
            </a:pPr>
            <a:r>
              <a:rPr sz="1500" b="0">
                <a:solidFill>
                  <a:srgbClr val="88AABB"/>
                </a:solidFill>
                <a:latin typeface="Segoe UI"/>
              </a:rPr>
              <a:t>      â€¢  2024: our ShuffleNet V2 RTL â€” billions of transistors, 146 M MACs per frame</a:t>
            </a:r>
          </a:p>
          <a:p>
            <a:pPr>
              <a:spcBef>
                <a:spcPts val="500"/>
              </a:spcBef>
            </a:pPr>
            <a:r>
              <a:rPr sz="1700" b="0">
                <a:solidFill>
                  <a:srgbClr val="FAF9F6"/>
                </a:solidFill>
                <a:latin typeface="Segoe UI"/>
              </a:rPr>
              <a:t>â–¸  We answered the edge AI challenge:</a:t>
            </a:r>
          </a:p>
          <a:p>
            <a:pPr>
              <a:spcBef>
                <a:spcPts val="200"/>
              </a:spcBef>
            </a:pPr>
            <a:r>
              <a:rPr sz="1500" b="1">
                <a:solidFill>
                  <a:srgbClr val="50FA1E"/>
                </a:solidFill>
                <a:latin typeface="Segoe UI"/>
              </a:rPr>
              <a:t>      â€¢  1,216 fps at 6.426 W on a single FPGA evaluation board</a:t>
            </a:r>
          </a:p>
          <a:p>
            <a:pPr>
              <a:spcBef>
                <a:spcPts val="200"/>
              </a:spcBef>
            </a:pPr>
            <a:r>
              <a:rPr sz="1500" b="0">
                <a:solidFill>
                  <a:srgbClr val="50FA1E"/>
                </a:solidFill>
                <a:latin typeface="Segoe UI"/>
              </a:rPr>
              <a:t>      â€¢  20Ã— more energy-efficient than the best HLS alternative</a:t>
            </a:r>
          </a:p>
          <a:p>
            <a:pPr>
              <a:spcBef>
                <a:spcPts val="200"/>
              </a:spcBef>
            </a:pPr>
            <a:r>
              <a:rPr sz="1500" b="0">
                <a:solidFill>
                  <a:srgbClr val="50FA1E"/>
                </a:solidFill>
                <a:latin typeface="Segoe UI"/>
              </a:rPr>
              <a:t>      â€¢  Fully verified, 48 passing testbenches, open-source on GitHub</a:t>
            </a:r>
          </a:p>
          <a:p>
            <a:pPr>
              <a:spcBef>
                <a:spcPts val="500"/>
              </a:spcBef>
            </a:pPr>
            <a:r>
              <a:rPr sz="1700" b="1">
                <a:solidFill>
                  <a:srgbClr val="48A9C9"/>
                </a:solidFill>
                <a:latin typeface="Segoe UI"/>
              </a:rPr>
              <a:t>â–¸  When the workload is fixed and the constraints are tight, custom hardware wins.</a:t>
            </a:r>
          </a:p>
          <a:p>
            <a:pPr>
              <a:spcBef>
                <a:spcPts val="500"/>
              </a:spcBef>
            </a:pPr>
            <a:r>
              <a:rPr sz="1700" b="0">
                <a:solidFill>
                  <a:srgbClr val="FAF9F6"/>
                </a:solidFill>
                <a:latin typeface="Segoe UI"/>
              </a:rPr>
              <a:t>â–¸  FPGAs give you that custom hardware today â€” without a 2-year ASIC tape-out.</a:t>
            </a:r>
          </a:p>
          <a:p>
            <a:pPr>
              <a:spcBef>
                <a:spcPts val="500"/>
              </a:spcBef>
            </a:pPr>
            <a:r>
              <a:rPr sz="1700" b="1">
                <a:solidFill>
                  <a:srgbClr val="50FA1E"/>
                </a:solidFill>
                <a:latin typeface="Segoe UI"/>
              </a:rPr>
              <a:t>â–¸  Team XLR8. We designed for speed â€” because every microsecond matters.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017520"/>
          </a:xfrm>
          <a:prstGeom prst="rect">
            <a:avLst/>
          </a:prstGeom>
          <a:solidFill>
            <a:srgbClr val="08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48A9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3017520"/>
            <a:ext cx="12191695" cy="64008"/>
          </a:xfrm>
          <a:prstGeom prst="rect">
            <a:avLst/>
          </a:prstGeom>
          <a:solidFill>
            <a:srgbClr val="48A9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3081528"/>
            <a:ext cx="12191695" cy="29260"/>
          </a:xfrm>
          <a:prstGeom prst="rect">
            <a:avLst/>
          </a:prstGeom>
          <a:solidFill>
            <a:srgbClr val="50F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716975" y="45720"/>
            <a:ext cx="3200400" cy="2606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5500" b="1" i="0">
                <a:solidFill>
                  <a:srgbClr val="102A44"/>
                </a:solidFill>
                <a:latin typeface="Segoe UI"/>
              </a:rPr>
              <a:t>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02920"/>
            <a:ext cx="8076895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 i="0">
                <a:solidFill>
                  <a:srgbClr val="FAF9F6"/>
                </a:solidFill>
                <a:latin typeface="Segoe UI"/>
              </a:rPr>
              <a:t>Q&amp;A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468880"/>
            <a:ext cx="108200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1">
                <a:solidFill>
                  <a:srgbClr val="48A9C9"/>
                </a:solidFill>
                <a:latin typeface="Segoe UI"/>
              </a:rPr>
              <a:t>Questions, discussion, and backup slides ready</a:t>
            </a:r>
          </a:p>
        </p:txBody>
      </p:sp>
      <p:sp>
        <p:nvSpPr>
          <p:cNvPr id="9" name="Rectangle 8"/>
          <p:cNvSpPr/>
          <p:nvPr/>
        </p:nvSpPr>
        <p:spPr>
          <a:xfrm>
            <a:off x="11551615" y="6783020"/>
            <a:ext cx="594360" cy="20116"/>
          </a:xfrm>
          <a:prstGeom prst="rect">
            <a:avLst/>
          </a:prstGeom>
          <a:solidFill>
            <a:srgbClr val="48A9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1167567" y="6674389"/>
            <a:ext cx="978408" cy="19019"/>
          </a:xfrm>
          <a:prstGeom prst="rect">
            <a:avLst/>
          </a:prstGeom>
          <a:solidFill>
            <a:srgbClr val="1E52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0783519" y="6565758"/>
            <a:ext cx="1362456" cy="17922"/>
          </a:xfrm>
          <a:prstGeom prst="rect">
            <a:avLst/>
          </a:prstGeom>
          <a:solidFill>
            <a:srgbClr val="48A9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0399471" y="6457128"/>
            <a:ext cx="1746504" cy="16824"/>
          </a:xfrm>
          <a:prstGeom prst="rect">
            <a:avLst/>
          </a:prstGeom>
          <a:solidFill>
            <a:srgbClr val="1E52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0015423" y="6348497"/>
            <a:ext cx="2130552" cy="15727"/>
          </a:xfrm>
          <a:prstGeom prst="rect">
            <a:avLst/>
          </a:prstGeom>
          <a:solidFill>
            <a:srgbClr val="48A9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9631375" y="6239867"/>
            <a:ext cx="2514600" cy="14630"/>
          </a:xfrm>
          <a:prstGeom prst="rect">
            <a:avLst/>
          </a:prstGeom>
          <a:solidFill>
            <a:srgbClr val="1E52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9247327" y="6131235"/>
            <a:ext cx="2898648" cy="13533"/>
          </a:xfrm>
          <a:prstGeom prst="rect">
            <a:avLst/>
          </a:prstGeom>
          <a:solidFill>
            <a:srgbClr val="48A9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863279" y="6022606"/>
            <a:ext cx="3282696" cy="12435"/>
          </a:xfrm>
          <a:prstGeom prst="rect">
            <a:avLst/>
          </a:prstGeom>
          <a:solidFill>
            <a:srgbClr val="1E52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479231" y="5913974"/>
            <a:ext cx="3666744" cy="11338"/>
          </a:xfrm>
          <a:prstGeom prst="rect">
            <a:avLst/>
          </a:prstGeom>
          <a:solidFill>
            <a:srgbClr val="48A9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0" y="6812280"/>
            <a:ext cx="12191695" cy="45720"/>
          </a:xfrm>
          <a:prstGeom prst="rect">
            <a:avLst/>
          </a:prstGeom>
          <a:solidFill>
            <a:srgbClr val="50F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84048" y="6016752"/>
            <a:ext cx="228600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50FA1E"/>
                </a:solidFill>
                <a:latin typeface="Segoe UI"/>
              </a:rPr>
              <a:t>XLR8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98448"/>
          </a:xfrm>
          <a:prstGeom prst="rect">
            <a:avLst/>
          </a:prstGeom>
          <a:solidFill>
            <a:srgbClr val="10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1298448"/>
          </a:xfrm>
          <a:prstGeom prst="rect">
            <a:avLst/>
          </a:prstGeom>
          <a:solidFill>
            <a:srgbClr val="48A9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298448"/>
            <a:ext cx="12191695" cy="41148"/>
          </a:xfrm>
          <a:prstGeom prst="rect">
            <a:avLst/>
          </a:prstGeom>
          <a:solidFill>
            <a:srgbClr val="48A9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48A9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816852"/>
            <a:ext cx="12191695" cy="41148"/>
          </a:xfrm>
          <a:prstGeom prst="rect">
            <a:avLst/>
          </a:prstGeom>
          <a:solidFill>
            <a:srgbClr val="50F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551615" y="54864"/>
            <a:ext cx="594360" cy="20116"/>
          </a:xfrm>
          <a:prstGeom prst="rect">
            <a:avLst/>
          </a:prstGeom>
          <a:solidFill>
            <a:srgbClr val="48A9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167567" y="173736"/>
            <a:ext cx="978408" cy="19019"/>
          </a:xfrm>
          <a:prstGeom prst="rect">
            <a:avLst/>
          </a:prstGeom>
          <a:solidFill>
            <a:srgbClr val="1E52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0783519" y="292608"/>
            <a:ext cx="1362456" cy="17922"/>
          </a:xfrm>
          <a:prstGeom prst="rect">
            <a:avLst/>
          </a:prstGeom>
          <a:solidFill>
            <a:srgbClr val="48A9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0399471" y="411480"/>
            <a:ext cx="1746504" cy="16824"/>
          </a:xfrm>
          <a:prstGeom prst="rect">
            <a:avLst/>
          </a:prstGeom>
          <a:solidFill>
            <a:srgbClr val="1E52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0015423" y="530352"/>
            <a:ext cx="2130552" cy="15727"/>
          </a:xfrm>
          <a:prstGeom prst="rect">
            <a:avLst/>
          </a:prstGeom>
          <a:solidFill>
            <a:srgbClr val="48A9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0" y="1298448"/>
            <a:ext cx="91440" cy="5285232"/>
          </a:xfrm>
          <a:prstGeom prst="rect">
            <a:avLst/>
          </a:prstGeom>
          <a:solidFill>
            <a:srgbClr val="48A9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74320" y="192024"/>
            <a:ext cx="685800" cy="347472"/>
          </a:xfrm>
          <a:prstGeom prst="rect">
            <a:avLst/>
          </a:prstGeom>
          <a:solidFill>
            <a:srgbClr val="48A9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74320" y="192024"/>
            <a:ext cx="685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00000"/>
                </a:solidFill>
                <a:latin typeface="Segoe UI"/>
              </a:rPr>
              <a:t>10.1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33271" y="155448"/>
            <a:ext cx="10865815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AF9F6"/>
                </a:solidFill>
                <a:latin typeface="Segoe UI"/>
              </a:rPr>
              <a:t>Backup Slides â€” Ready for Committee Questions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33271" y="923544"/>
            <a:ext cx="108658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48A9C9"/>
                </a:solidFill>
                <a:latin typeface="Segoe UI"/>
              </a:rPr>
              <a:t>Prepared answers for the 4 most likely technical committee questions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1417320"/>
            <a:ext cx="11533327" cy="49834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700" b="1">
                <a:solidFill>
                  <a:srgbClr val="FAF9F6"/>
                </a:solidFill>
                <a:latin typeface="Segoe UI"/>
              </a:rPr>
              <a:t>â–¸  Q6.8 Arithmetic Bugs Found and Fixed:</a:t>
            </a:r>
          </a:p>
          <a:p>
            <a:pPr>
              <a:spcBef>
                <a:spcPts val="200"/>
              </a:spcBef>
            </a:pPr>
            <a:r>
              <a:rPr sz="1500" b="0">
                <a:solidFill>
                  <a:srgbClr val="88AABB"/>
                </a:solidFill>
                <a:latin typeface="Segoe UI"/>
              </a:rPr>
              <a:t>      â€¢  Bug 1: MAC rounding â€” (dÃ—w)&gt;&gt;7 wrong â†’ correct: ((dÃ—w)+64)&gt;&gt;7 (round-to-nearest)</a:t>
            </a:r>
          </a:p>
          <a:p>
            <a:pPr>
              <a:spcBef>
                <a:spcPts val="200"/>
              </a:spcBef>
            </a:pPr>
            <a:r>
              <a:rPr sz="1500" b="0">
                <a:solidFill>
                  <a:srgbClr val="88AABB"/>
                </a:solidFill>
                <a:latin typeface="Segoe UI"/>
              </a:rPr>
              <a:t>      â€¢  Bug 2: Missing &gt;&gt;1 in conv layer before bias add â†’ outputs exactly 2Ã— too large</a:t>
            </a:r>
          </a:p>
          <a:p>
            <a:pPr>
              <a:spcBef>
                <a:spcPts val="200"/>
              </a:spcBef>
            </a:pPr>
            <a:r>
              <a:rPr sz="1500" b="0">
                <a:solidFill>
                  <a:srgbClr val="88AABB"/>
                </a:solidFill>
                <a:latin typeface="Segoe UI"/>
              </a:rPr>
              <a:t>      â€¢  Bug 3: AvgPool shift &gt;&gt;7 instead of &gt;&gt;8 â†’ 2Ã— error in global average pooling output</a:t>
            </a:r>
          </a:p>
          <a:p>
            <a:pPr>
              <a:spcBef>
                <a:spcPts val="200"/>
              </a:spcBef>
            </a:pPr>
            <a:r>
              <a:rPr sz="1500" b="0">
                <a:solidFill>
                  <a:srgbClr val="88AABB"/>
                </a:solidFill>
                <a:latin typeface="Segoe UI"/>
              </a:rPr>
              <a:t>      â€¢  All 3 diagnosed via bit-true Python shadow model and fixed before hardware synthesis</a:t>
            </a:r>
          </a:p>
          <a:p>
            <a:pPr>
              <a:spcBef>
                <a:spcPts val="500"/>
              </a:spcBef>
            </a:pPr>
            <a:r>
              <a:rPr sz="1700" b="1">
                <a:solidFill>
                  <a:srgbClr val="FAF9F6"/>
                </a:solidFill>
                <a:latin typeface="Segoe UI"/>
              </a:rPr>
              <a:t>â–¸  DWâˆ¥PW Design Tradeoff Defense:</a:t>
            </a:r>
          </a:p>
          <a:p>
            <a:pPr>
              <a:spcBef>
                <a:spcPts val="200"/>
              </a:spcBef>
            </a:pPr>
            <a:r>
              <a:rPr sz="1500" b="0">
                <a:solidFill>
                  <a:srgbClr val="88AABB"/>
                </a:solidFill>
                <a:latin typeface="Segoe UI"/>
              </a:rPr>
              <a:t>      â€¢  Eliminates one full PW1 conv bank â€” saves DSPs and intermediate BRAM buffer</a:t>
            </a:r>
          </a:p>
          <a:p>
            <a:pPr>
              <a:spcBef>
                <a:spcPts val="200"/>
              </a:spcBef>
            </a:pPr>
            <a:r>
              <a:rPr sz="1500" b="0">
                <a:solidFill>
                  <a:srgbClr val="88AABB"/>
                </a:solidFill>
                <a:latin typeface="Segoe UI"/>
              </a:rPr>
              <a:t>      â€¢  Explicitly documented as a deliberate area/latency optimization decision</a:t>
            </a:r>
          </a:p>
          <a:p>
            <a:pPr>
              <a:spcBef>
                <a:spcPts val="200"/>
              </a:spcBef>
            </a:pPr>
            <a:r>
              <a:rPr sz="1500" b="0">
                <a:solidFill>
                  <a:srgbClr val="88AABB"/>
                </a:solidFill>
                <a:latin typeface="Segoe UI"/>
              </a:rPr>
              <a:t>      â€¢  HLS uses full PWâ†’DWâ†’PW for rigorous comparison â€” not the simplified version</a:t>
            </a:r>
          </a:p>
          <a:p>
            <a:pPr>
              <a:spcBef>
                <a:spcPts val="500"/>
              </a:spcBef>
            </a:pPr>
            <a:r>
              <a:rPr sz="1700" b="1">
                <a:solidFill>
                  <a:srgbClr val="FAF9F6"/>
                </a:solidFill>
                <a:latin typeface="Segoe UI"/>
              </a:rPr>
              <a:t>â–¸  Power Breakdown (6.426 W):</a:t>
            </a:r>
          </a:p>
          <a:p>
            <a:pPr>
              <a:spcBef>
                <a:spcPts val="200"/>
              </a:spcBef>
            </a:pPr>
            <a:r>
              <a:rPr sz="1500" b="0">
                <a:solidFill>
                  <a:srgbClr val="88AABB"/>
                </a:solidFill>
                <a:latin typeface="Segoe UI"/>
              </a:rPr>
              <a:t>      â€¢  DSP switching ~4.2 W  |  BRAM ~1.8 W  |  Routing + clock ~2.1 W  |  Logic ~1.0 W</a:t>
            </a:r>
          </a:p>
          <a:p>
            <a:pPr>
              <a:spcBef>
                <a:spcPts val="500"/>
              </a:spcBef>
            </a:pPr>
            <a:r>
              <a:rPr sz="1700" b="1">
                <a:solidFill>
                  <a:srgbClr val="FAF9F6"/>
                </a:solidFill>
                <a:latin typeface="Segoe UI"/>
              </a:rPr>
              <a:t>â–¸  Split Synthesis Flow Rationale:</a:t>
            </a:r>
          </a:p>
          <a:p>
            <a:pPr>
              <a:spcBef>
                <a:spcPts val="200"/>
              </a:spcBef>
            </a:pPr>
            <a:r>
              <a:rPr sz="1500" b="0">
                <a:solidFill>
                  <a:srgbClr val="88AABB"/>
                </a:solidFill>
                <a:latin typeface="Segoe UI"/>
              </a:rPr>
              <a:t>      â€¢  Group 3 OOC crashed at 28 GB RAM â†’ split to G3-no-FC + fc_core separately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48A9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98564"/>
            <a:ext cx="12191695" cy="59436"/>
          </a:xfrm>
          <a:prstGeom prst="rect">
            <a:avLst/>
          </a:prstGeom>
          <a:solidFill>
            <a:srgbClr val="50F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551615" y="54864"/>
            <a:ext cx="594360" cy="20116"/>
          </a:xfrm>
          <a:prstGeom prst="rect">
            <a:avLst/>
          </a:prstGeom>
          <a:solidFill>
            <a:srgbClr val="48A9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1167567" y="173736"/>
            <a:ext cx="978408" cy="19019"/>
          </a:xfrm>
          <a:prstGeom prst="rect">
            <a:avLst/>
          </a:prstGeom>
          <a:solidFill>
            <a:srgbClr val="1E52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0783519" y="292608"/>
            <a:ext cx="1362456" cy="17922"/>
          </a:xfrm>
          <a:prstGeom prst="rect">
            <a:avLst/>
          </a:prstGeom>
          <a:solidFill>
            <a:srgbClr val="48A9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0399471" y="411480"/>
            <a:ext cx="1746504" cy="16824"/>
          </a:xfrm>
          <a:prstGeom prst="rect">
            <a:avLst/>
          </a:prstGeom>
          <a:solidFill>
            <a:srgbClr val="1E52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0015423" y="530352"/>
            <a:ext cx="2130552" cy="15727"/>
          </a:xfrm>
          <a:prstGeom prst="rect">
            <a:avLst/>
          </a:prstGeom>
          <a:solidFill>
            <a:srgbClr val="48A9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9631375" y="649224"/>
            <a:ext cx="2514600" cy="14630"/>
          </a:xfrm>
          <a:prstGeom prst="rect">
            <a:avLst/>
          </a:prstGeom>
          <a:solidFill>
            <a:srgbClr val="1E52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9247327" y="768096"/>
            <a:ext cx="2898648" cy="13533"/>
          </a:xfrm>
          <a:prstGeom prst="rect">
            <a:avLst/>
          </a:prstGeom>
          <a:solidFill>
            <a:srgbClr val="48A9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863279" y="886968"/>
            <a:ext cx="3282696" cy="12435"/>
          </a:xfrm>
          <a:prstGeom prst="rect">
            <a:avLst/>
          </a:prstGeom>
          <a:solidFill>
            <a:srgbClr val="1E52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479231" y="1005840"/>
            <a:ext cx="3666744" cy="11338"/>
          </a:xfrm>
          <a:prstGeom prst="rect">
            <a:avLst/>
          </a:prstGeom>
          <a:solidFill>
            <a:srgbClr val="48A9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095184" y="1124712"/>
            <a:ext cx="4050791" cy="10241"/>
          </a:xfrm>
          <a:prstGeom prst="rect">
            <a:avLst/>
          </a:prstGeom>
          <a:solidFill>
            <a:srgbClr val="1E52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711135" y="1243584"/>
            <a:ext cx="4434840" cy="9144"/>
          </a:xfrm>
          <a:prstGeom prst="rect">
            <a:avLst/>
          </a:prstGeom>
          <a:solidFill>
            <a:srgbClr val="48A9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327087" y="1362456"/>
            <a:ext cx="4818888" cy="8229"/>
          </a:xfrm>
          <a:prstGeom prst="rect">
            <a:avLst/>
          </a:prstGeom>
          <a:solidFill>
            <a:srgbClr val="1E52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943039" y="1481328"/>
            <a:ext cx="5202936" cy="8229"/>
          </a:xfrm>
          <a:prstGeom prst="rect">
            <a:avLst/>
          </a:prstGeom>
          <a:solidFill>
            <a:srgbClr val="48A9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5720" y="6783020"/>
            <a:ext cx="594360" cy="20116"/>
          </a:xfrm>
          <a:prstGeom prst="rect">
            <a:avLst/>
          </a:prstGeom>
          <a:solidFill>
            <a:srgbClr val="48A9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5720" y="6674389"/>
            <a:ext cx="978408" cy="19019"/>
          </a:xfrm>
          <a:prstGeom prst="rect">
            <a:avLst/>
          </a:prstGeom>
          <a:solidFill>
            <a:srgbClr val="1E52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5720" y="6565758"/>
            <a:ext cx="1362456" cy="17922"/>
          </a:xfrm>
          <a:prstGeom prst="rect">
            <a:avLst/>
          </a:prstGeom>
          <a:solidFill>
            <a:srgbClr val="48A9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5720" y="6457128"/>
            <a:ext cx="1746504" cy="16824"/>
          </a:xfrm>
          <a:prstGeom prst="rect">
            <a:avLst/>
          </a:prstGeom>
          <a:solidFill>
            <a:srgbClr val="1E52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5720" y="6348497"/>
            <a:ext cx="2130552" cy="15727"/>
          </a:xfrm>
          <a:prstGeom prst="rect">
            <a:avLst/>
          </a:prstGeom>
          <a:solidFill>
            <a:srgbClr val="48A9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5720" y="6239867"/>
            <a:ext cx="2514600" cy="14630"/>
          </a:xfrm>
          <a:prstGeom prst="rect">
            <a:avLst/>
          </a:prstGeom>
          <a:solidFill>
            <a:srgbClr val="1E52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5720" y="6131235"/>
            <a:ext cx="2898648" cy="13533"/>
          </a:xfrm>
          <a:prstGeom prst="rect">
            <a:avLst/>
          </a:prstGeom>
          <a:solidFill>
            <a:srgbClr val="48A9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5720" y="6022606"/>
            <a:ext cx="3282696" cy="12435"/>
          </a:xfrm>
          <a:prstGeom prst="rect">
            <a:avLst/>
          </a:prstGeom>
          <a:solidFill>
            <a:srgbClr val="1E52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5720" y="5913974"/>
            <a:ext cx="3666744" cy="11338"/>
          </a:xfrm>
          <a:prstGeom prst="rect">
            <a:avLst/>
          </a:prstGeom>
          <a:solidFill>
            <a:srgbClr val="48A9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5720" y="5805343"/>
            <a:ext cx="4050791" cy="10241"/>
          </a:xfrm>
          <a:prstGeom prst="rect">
            <a:avLst/>
          </a:prstGeom>
          <a:solidFill>
            <a:srgbClr val="1E52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0" y="822960"/>
            <a:ext cx="12191695" cy="2514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800" b="1" i="0">
                <a:solidFill>
                  <a:srgbClr val="48A9C9"/>
                </a:solidFill>
                <a:latin typeface="Segoe UI"/>
              </a:rPr>
              <a:t>Q&amp;A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286000" y="3520440"/>
            <a:ext cx="7616952" cy="59436"/>
          </a:xfrm>
          <a:prstGeom prst="rect">
            <a:avLst/>
          </a:prstGeom>
          <a:solidFill>
            <a:srgbClr val="48A9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2743200" y="3584448"/>
            <a:ext cx="6702552" cy="27432"/>
          </a:xfrm>
          <a:prstGeom prst="rect">
            <a:avLst/>
          </a:prstGeom>
          <a:solidFill>
            <a:srgbClr val="50F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0" y="3749039"/>
            <a:ext cx="12191695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100" b="1" i="0">
                <a:solidFill>
                  <a:srgbClr val="FAF9F6"/>
                </a:solidFill>
                <a:latin typeface="Segoe UI"/>
              </a:rPr>
              <a:t>Questions &amp; Discussion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560320" y="4617720"/>
            <a:ext cx="707105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0" i="1">
                <a:solidFill>
                  <a:srgbClr val="88AABB"/>
                </a:solidFill>
                <a:latin typeface="Segoe UI"/>
              </a:rPr>
              <a:t>We are ready to defend every design decision.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0" y="6263640"/>
            <a:ext cx="121916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50FA1E"/>
                </a:solidFill>
                <a:latin typeface="Segoe UI"/>
              </a:rPr>
              <a:t>Team XLR8  |  Graduation Project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