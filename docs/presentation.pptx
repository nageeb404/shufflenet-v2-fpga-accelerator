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E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2103120"/>
            <a:ext cx="73152" cy="1828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ED6F1"/>
                </a:solidFill>
              </a:rPr>
              <a:t>Design and Implementation of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ShuffleNet Accelerator on FPGA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67E22"/>
                </a:solidFill>
              </a:rPr>
              <a:t>with RTL and HLS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ED6F1"/>
                </a:solidFill>
              </a:rPr>
              <a:t>iWave ZU19EG Development Kit  |  Zynq UltraScale+ MPSoC  |  100 MHz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Ahmed Ahmed Nageeb Ahmed Elbermawy  |  Yousef Abdulrahman Abdulnabi Abdulrahman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978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Mohamed Ahmed Roshdy Saad  |  Basmala Hatem Abdullah Mostafa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09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FB3D3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ED6F1"/>
                </a:solidFill>
              </a:rPr>
              <a:t>Why a custom FPGA accelerator?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D6F1"/>
                </a:solidFill>
              </a:rPr>
              <a:t>Design and Implementation of a ShuffleNet Accelerator on FPGA with RTL and HLS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17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276"/>
                </a:solidFill>
              </a:rPr>
              <a:t>The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28800"/>
            <a:ext cx="563382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333333"/>
                </a:solidFill>
              </a:rPr>
              <a:t>▸  Real-time image classification at the edge requires &lt; 50 </a:t>
            </a:r>
            <a:r>
              <a:rPr sz="1500" b="0" i="0" dirty="0" err="1" smtClean="0">
                <a:solidFill>
                  <a:srgbClr val="333333"/>
                </a:solidFill>
              </a:rPr>
              <a:t>ms</a:t>
            </a:r>
            <a:r>
              <a:rPr sz="1500" b="0" i="0" dirty="0" smtClean="0">
                <a:solidFill>
                  <a:srgbClr val="333333"/>
                </a:solidFill>
              </a:rPr>
              <a:t> latency</a:t>
            </a:r>
            <a:endParaRPr sz="1500" b="0" i="0" dirty="0">
              <a:solidFill>
                <a:srgbClr val="333333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2176272"/>
            <a:ext cx="61190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333333"/>
                </a:solidFill>
              </a:rPr>
              <a:t>▸  ARM Cortex-A53 software inference: hundreds of milliseconds per frame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523744"/>
            <a:ext cx="572713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333333"/>
                </a:solidFill>
              </a:rPr>
              <a:t>▸  GPU/cloud solutions: too power-hungry and unavailable at the 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871216"/>
            <a:ext cx="57271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333333"/>
                </a:solidFill>
              </a:rPr>
              <a:t>▸  HLS-generated accelerators: high resource overhead, suboptimal 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276"/>
                </a:solidFill>
              </a:rPr>
              <a:t>Our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5486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▸  Hand-crafted RTL Verilog for ShuffleNet V2 × 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76272"/>
            <a:ext cx="5486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▸  Q6.8 fixed-point datapath with per-layer width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23744"/>
            <a:ext cx="5486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▸  All weights stored on-chip (no DDR access during inference)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71216"/>
            <a:ext cx="5486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▸  HLS models for quantitative RTL vs. HLS comparison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63440"/>
            <a:ext cx="11430000" cy="155448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800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276"/>
                </a:solidFill>
              </a:rPr>
              <a:t>Target: iWave ZU19EG (Zynq UltraScale+ MPSoC)  |  xczu19eg-ffvc1760-1-i  |  100 MHz PL clock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66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</a:rPr>
              <a:t>1,968 DSPs  •  984 BRAM Tiles  •  522,720 LUTs  •  AXI4-Lite PS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ShuffleNet V2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ED6F1"/>
                </a:solidFill>
              </a:rPr>
              <a:t>Three hardware groups, pipelined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D6F1"/>
                </a:solidFill>
              </a:rPr>
              <a:t>Design and Implementation of a ShuffleNet Accelerator on FPGA with RTL and HLS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474720" cy="3474720"/>
          </a:xfrm>
          <a:prstGeom prst="rect">
            <a:avLst/>
          </a:prstGeom>
          <a:solidFill>
            <a:srgbClr val="F0F4F8"/>
          </a:solidFill>
          <a:ln w="317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347472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49047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Group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574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67E22"/>
                </a:solidFill>
              </a:rPr>
              <a:t>3×3 Conv
+ MaxPool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926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</a:rPr>
              <a:t>224×224×3
→ 56×56×24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03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24 DSPs
216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6060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86C1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463040"/>
            <a:ext cx="3474720" cy="3474720"/>
          </a:xfrm>
          <a:prstGeom prst="rect">
            <a:avLst/>
          </a:prstGeom>
          <a:solidFill>
            <a:srgbClr val="F0F4F8"/>
          </a:solidFill>
          <a:ln w="317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97680" y="1463040"/>
            <a:ext cx="347472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149047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Group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0574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86C1"/>
                </a:solidFill>
              </a:rPr>
              <a:t>16 Shuffle
Blocks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926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</a:rPr>
              <a:t>56×56×24
→ 7×7×464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703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58 filters
1218 DSPs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6060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86C1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463040"/>
            <a:ext cx="3474720" cy="3474720"/>
          </a:xfrm>
          <a:prstGeom prst="rect">
            <a:avLst/>
          </a:prstGeom>
          <a:solidFill>
            <a:srgbClr val="F0F4F8"/>
          </a:solidFill>
          <a:ln w="3175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29600" y="1463040"/>
            <a:ext cx="3474720" cy="50292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149047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Group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0574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8449"/>
                </a:solidFill>
              </a:rPr>
              <a:t>PW + AvgPool
+ FC + Argmax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926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</a:rPr>
              <a:t>7×7×464
→ class_idx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703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16+32 parallel
464 DSPs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120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276"/>
                </a:solidFill>
              </a:rPr>
              <a:t>5-state pipelined FSM: while G3 classifies image N, G1 loads image N+1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486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</a:rPr>
              <a:t>Q6.8 fixed-point throughout  •  All weights on-chip (no DDR)  •  AXI4-Lite PS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RTL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ED6F1"/>
                </a:solidFill>
              </a:rPr>
              <a:t>Hand-crafted Verilog for maximum efficiency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D6F1"/>
                </a:solidFill>
              </a:rPr>
              <a:t>Design and Implementation of a ShuffleNet Accelerator on FPGA with RTL and HLS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276"/>
                </a:solidFill>
              </a:rPr>
              <a:t>Key Design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83080"/>
            <a:ext cx="5486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Q6.8 fixed-point: 15-bit signed, per-layer width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30552"/>
            <a:ext cx="5486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Group 2: 58-filter DW + 12-parallel PW over 16 accumulation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78024"/>
            <a:ext cx="5486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Internal 58×784-word dist. RAM buffer between DW and PW phases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825496"/>
            <a:ext cx="5486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Group 3: full-precision 27-bit PW output, bypasses quantizer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172968"/>
            <a:ext cx="5486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BN parameters folded offline using PyTorch — no run-time normalization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4173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276"/>
                </a:solidFill>
              </a:rPr>
              <a:t>Per-Layer Datapath Widths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2880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Group 1 Conv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828800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8-bit (pixels)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182880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12-bit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1828800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10-bit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13969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Group 2 DW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13969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10-bit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13969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15-bit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2139696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12-bit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450591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Group 2 PW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450591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12-bit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2450591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11-bit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2450591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12-bit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761487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Group 3 PW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761487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12-bit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2761487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9-bit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2761487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27-bit (full)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072383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Group 3 FC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072383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9-bit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3072383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9-bit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3072383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9-bit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89120"/>
            <a:ext cx="11430000" cy="1097280"/>
          </a:xfrm>
          <a:prstGeom prst="rect">
            <a:avLst/>
          </a:prstGeom>
          <a:solidFill>
            <a:srgbClr val="EAF2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44622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276"/>
                </a:solidFill>
              </a:rPr>
              <a:t>Split Synthesis Flow — Fits in 16 GB RAM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773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Each group synthesized as separate OOC checkpoint → merged at implementation
G1: ~3 min  |  G2: ~9 min  |  G3: ~11 min  |  Top-level P&amp;R: ~1–3 hours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ED6F1"/>
                </a:solidFill>
              </a:rPr>
              <a:t>48 self-checking testbenches — all pass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D6F1"/>
                </a:solidFill>
              </a:rPr>
              <a:t>Design and Implementation of a ShuffleNet Accelerator on FPGA with RTL and HLS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2103120" cy="2194560"/>
          </a:xfrm>
          <a:prstGeom prst="rect">
            <a:avLst/>
          </a:prstGeom>
          <a:solidFill>
            <a:srgbClr val="F0F4F8"/>
          </a:solidFill>
          <a:ln w="1905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276"/>
                </a:solidFill>
              </a:rPr>
              <a:t>Common
Primitives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03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E8449"/>
                </a:solidFill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97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99923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mac_unit, adder_trees,
quantizer, FIFOs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1463040"/>
            <a:ext cx="2103120" cy="2194560"/>
          </a:xfrm>
          <a:prstGeom prst="rect">
            <a:avLst/>
          </a:prstGeom>
          <a:solidFill>
            <a:srgbClr val="F0F4F8"/>
          </a:solidFill>
          <a:ln w="1905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70048" y="15087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276"/>
                </a:solidFill>
              </a:rPr>
              <a:t>Group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2103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E8449"/>
                </a:solidFill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2697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modules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0048" y="299923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conv3x3, maxpool,
photo_mem, ROMs, ctrl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74336" y="1463040"/>
            <a:ext cx="2103120" cy="2194560"/>
          </a:xfrm>
          <a:prstGeom prst="rect">
            <a:avLst/>
          </a:prstGeom>
          <a:solidFill>
            <a:srgbClr val="F0F4F8"/>
          </a:solidFill>
          <a:ln w="1905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74336" y="15087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276"/>
                </a:solidFill>
              </a:rPr>
              <a:t>Group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4336" y="2103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E8449"/>
                </a:solidFill>
              </a:rP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4336" y="2697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modules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74336" y="299923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DW, PW, FIFOs,
ROMs, ctrl, top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78624" y="1463040"/>
            <a:ext cx="2103120" cy="2194560"/>
          </a:xfrm>
          <a:prstGeom prst="rect">
            <a:avLst/>
          </a:prstGeom>
          <a:solidFill>
            <a:srgbClr val="F0F4F8"/>
          </a:solidFill>
          <a:ln w="1905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78624" y="15087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276"/>
                </a:solidFill>
              </a:rPr>
              <a:t>Group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624" y="2103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E8449"/>
                </a:solidFill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8624" y="2697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modules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78624" y="299923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PW, avgpool, FC,
ROMs, ctrl, top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82912" y="1463040"/>
            <a:ext cx="2103120" cy="2194560"/>
          </a:xfrm>
          <a:prstGeom prst="rect">
            <a:avLst/>
          </a:prstGeom>
          <a:solidFill>
            <a:srgbClr val="F0F4F8"/>
          </a:solidFill>
          <a:ln w="1905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82912" y="15087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276"/>
                </a:solidFill>
              </a:rPr>
              <a:t>Mem + AXI
+ Top Level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82912" y="2103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E8449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82912" y="2697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modules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2912" y="299923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extra_mem, AXI slave,
accel_ctrl, accel_top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3840480"/>
            <a:ext cx="7589520" cy="59436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377440" y="3913632"/>
            <a:ext cx="7406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  48 / 48 TESTBENCHES PASS — Zero failures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663440"/>
            <a:ext cx="11430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Self-contained: no external hex vector files required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010912"/>
            <a:ext cx="11430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Q6.8 Python model: ~71% Top-1 on 100 ImageNet validation images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358383"/>
            <a:ext cx="11430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BN-fold coefficient error: 7.63×10⁻⁶ (within tolerance)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Implementation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ED6F1"/>
                </a:solidFill>
              </a:rPr>
              <a:t>Post-place-and-route on xczu19eg-ffvc1760-1-i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D6F1"/>
                </a:solidFill>
              </a:rPr>
              <a:t>Design and Implementation of a ShuffleNet Accelerator on FPGA with RTL and HLS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-1" y="1463040"/>
            <a:ext cx="2313305" cy="10058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-64135" y="15087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5276"/>
                </a:solidFill>
              </a:rPr>
              <a:t>100 MHz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64135" y="208483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Target Clock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04745" y="1463040"/>
            <a:ext cx="2377440" cy="10058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04745" y="15087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8449"/>
                </a:solidFill>
              </a:rPr>
              <a:t>+0.125 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4745" y="208483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WNS (Timing Closed)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3625" y="1463040"/>
            <a:ext cx="2377440" cy="10058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73625" y="15087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67E22"/>
                </a:solidFill>
              </a:rPr>
              <a:t>78.76%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625" y="208483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DSP Utilization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42505" y="1463040"/>
            <a:ext cx="2377440" cy="10058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42505" y="15087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86C1"/>
                </a:solidFill>
              </a:rPr>
              <a:t>55.95%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505" y="208483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BRAM Utilization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11385" y="1463040"/>
            <a:ext cx="2377440" cy="10058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11385" y="15087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33333"/>
                </a:solidFill>
              </a:rPr>
              <a:t>13.07%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385" y="208483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LUT Utilization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606040"/>
            <a:ext cx="11430000" cy="164592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26700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276"/>
                </a:solidFill>
              </a:rPr>
              <a:t>Resource 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017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76"/>
                </a:solidFill>
              </a:rPr>
              <a:t>Resource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017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76"/>
                </a:solidFill>
              </a:rPr>
              <a:t>Used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3017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76"/>
                </a:solidFill>
              </a:rPr>
              <a:t>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76"/>
                </a:solidFill>
              </a:rPr>
              <a:t>Utilization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29184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DSP48E2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329184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1,550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29184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1,968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291840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78.76%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51129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BRAM Tile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3511296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550.5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351129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984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511296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55.95%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73075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LUT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3730752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68,299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373075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522,720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73075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13.07%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95020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Flip-Flop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3950208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15,285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395020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1,045,440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395020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1.46%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70832"/>
            <a:ext cx="11430000" cy="118872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8640" y="446227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8449"/>
                </a:solidFill>
              </a:rPr>
              <a:t>✓  Timing closed at 100 MHz  |  WNS = +0.125 ns  |  WHS = +0.011 ns  |  0 failing endpoints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82803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Board-level performance (fps, latency, power) pending hardware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RTL vs HLS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ED6F1"/>
                </a:solidFill>
              </a:rPr>
              <a:t>Four progressively optimized Vitis HLS models — ZU19EG 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D6F1"/>
                </a:solidFill>
              </a:rPr>
              <a:t>Design and Implementation of a ShuffleNet Accelerator on FPGA with RTL and HLS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2606040" cy="2560320"/>
          </a:xfrm>
          <a:prstGeom prst="rect">
            <a:avLst/>
          </a:prstGeom>
          <a:solidFill>
            <a:srgbClr val="F0F4F8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2606040" cy="502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48132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Model 1
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1168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</a:rPr>
              <a:t>Sequential
No directives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88036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Key: Reference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463040"/>
            <a:ext cx="2606040" cy="2560320"/>
          </a:xfrm>
          <a:prstGeom prst="rect">
            <a:avLst/>
          </a:prstGeom>
          <a:solidFill>
            <a:srgbClr val="F0F4F8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46120" y="1463040"/>
            <a:ext cx="260604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46120" y="148132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Model 2
Pipelined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01168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86C1"/>
                </a:solidFill>
              </a:rPr>
              <a:t>#pragma HLS
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88036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Key: Pipelining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463040"/>
            <a:ext cx="2606040" cy="2560320"/>
          </a:xfrm>
          <a:prstGeom prst="rect">
            <a:avLst/>
          </a:prstGeom>
          <a:solidFill>
            <a:srgbClr val="F0F4F8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0" y="1463040"/>
            <a:ext cx="260604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148132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Model 3
Parallelism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01168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7E22"/>
                </a:solidFill>
              </a:rPr>
              <a:t>UNROLL factor
16/32 + PARTITION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88036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Key: Parallelism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1463040"/>
            <a:ext cx="2606040" cy="2560320"/>
          </a:xfrm>
          <a:prstGeom prst="rect">
            <a:avLst/>
          </a:prstGeom>
          <a:solidFill>
            <a:srgbClr val="F0F4F8"/>
          </a:solidFill>
          <a:ln w="2540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06840" y="1463040"/>
            <a:ext cx="2606040" cy="50292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06840" y="148132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Model 4
Final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01168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8449"/>
                </a:solidFill>
              </a:rPr>
              <a:t>Pipeline +
Parallelism + 7 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88036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Key: Combined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206240"/>
            <a:ext cx="11430000" cy="960120"/>
          </a:xfrm>
          <a:prstGeom prst="rect">
            <a:avLst/>
          </a:prstGeom>
          <a:solidFill>
            <a:srgbClr val="F0F4F8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427939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⚠  Models 3 &amp; 4 originally caused Vitis HLS scheduler crashes (fully-unrolled 116×116 MACs)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59028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Fixed by reducing UNROLL factor to 16 (116-ch loops) and 32 (232-ch loops)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349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276"/>
                </a:solidFill>
              </a:rPr>
              <a:t>Performance comparison (fps, power, latency) pending board-level measurements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D6F1"/>
                </a:solidFill>
              </a:rPr>
              <a:t>Design and Implementation of a ShuffleNet Accelerator on FPGA with RTL and HLS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276"/>
                </a:solidFill>
              </a:rPr>
              <a:t>What We Delivered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01368"/>
            <a:ext cx="6035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333333"/>
                </a:solidFill>
              </a:rPr>
              <a:t>▸  Complete RTL implementation of </a:t>
            </a:r>
            <a:r>
              <a:rPr sz="1400" b="0" i="0" dirty="0" err="1">
                <a:solidFill>
                  <a:srgbClr val="333333"/>
                </a:solidFill>
              </a:rPr>
              <a:t>ShuffleNet</a:t>
            </a:r>
            <a:r>
              <a:rPr sz="1400" b="0" i="0" dirty="0">
                <a:solidFill>
                  <a:srgbClr val="333333"/>
                </a:solidFill>
              </a:rPr>
              <a:t> V2 — timing closed at 100 MHz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48840"/>
            <a:ext cx="5394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48 RTL modules, 48 self-checking testbenches — all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96312"/>
            <a:ext cx="5394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Q6.8 fixed-point model: ~71% Top-1 accuracy on ImageNet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843784"/>
            <a:ext cx="5394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Four Vitis HLS models for RTL vs HLS comparison on ZU19EG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191256"/>
            <a:ext cx="5394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Full documentation: README, block diagrams, 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276"/>
                </a:solidFill>
              </a:rPr>
              <a:t>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5486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Program ZU19EG and run end-to-end inference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5486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Measure throughput, latency, and on-chip power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96312"/>
            <a:ext cx="5486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Run HLS models and compile RTL vs HLS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43784"/>
            <a:ext cx="5486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Present final performance comparison results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572000"/>
            <a:ext cx="11430000" cy="16916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Key Achievement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Fully custom RTL ShuffleNet V2 accelerator synthesized and timing-closed on ZU19EG at 100 MHz
DSP: 78.76%  |  BRAM: 55.95%  |  LUT: 13.07%  |  WNS: +0.125 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989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ED6F1"/>
                </a:solidFill>
              </a:rPr>
              <a:t>Ahmed Elbermawy  •  Yousef Abdulrahman  •  Mohamed Roshdy  •  Basmala Mostafa  —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984</Words>
  <Application>Microsoft Office PowerPoint</Application>
  <PresentationFormat>Custom</PresentationFormat>
  <Paragraphs>177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Ahmed</cp:lastModifiedBy>
  <cp:revision>2</cp:revision>
  <dcterms:created xsi:type="dcterms:W3CDTF">2013-01-27T09:14:16Z</dcterms:created>
  <dcterms:modified xsi:type="dcterms:W3CDTF">2026-05-31T17:10:08Z</dcterms:modified>
  <cp:category/>
</cp:coreProperties>
</file>