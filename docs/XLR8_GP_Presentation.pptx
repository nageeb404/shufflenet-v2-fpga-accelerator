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583515" cy="68580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8564"/>
            <a:ext cx="12191695" cy="594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256032"/>
            <a:ext cx="685800" cy="5486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256032"/>
            <a:ext cx="54864" cy="68580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249863" y="5916168"/>
            <a:ext cx="685800" cy="54864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0799" y="5916168"/>
            <a:ext cx="54864" cy="6858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88775" y="164592"/>
            <a:ext cx="502920" cy="292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066983" y="676656"/>
            <a:ext cx="1124712" cy="27889"/>
          </a:xfrm>
          <a:prstGeom prst="rect">
            <a:avLst/>
          </a:prstGeom>
          <a:solidFill>
            <a:srgbClr val="14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45191" y="1188720"/>
            <a:ext cx="1746504" cy="2651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823399" y="1700784"/>
            <a:ext cx="2368296" cy="2514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01607" y="2212848"/>
            <a:ext cx="2990088" cy="23774"/>
          </a:xfrm>
          <a:prstGeom prst="rect">
            <a:avLst/>
          </a:prstGeom>
          <a:solidFill>
            <a:srgbClr val="14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79815" y="2724912"/>
            <a:ext cx="3611880" cy="2240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8023" y="3236976"/>
            <a:ext cx="4233672" cy="2103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36231" y="3749040"/>
            <a:ext cx="4855464" cy="19659"/>
          </a:xfrm>
          <a:prstGeom prst="rect">
            <a:avLst/>
          </a:prstGeom>
          <a:solidFill>
            <a:srgbClr val="14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14439" y="4261104"/>
            <a:ext cx="5477256" cy="1828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2647" y="4773168"/>
            <a:ext cx="6099048" cy="169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70855" y="5285232"/>
            <a:ext cx="6720840" cy="15544"/>
          </a:xfrm>
          <a:prstGeom prst="rect">
            <a:avLst/>
          </a:prstGeom>
          <a:solidFill>
            <a:srgbClr val="14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9063" y="5797296"/>
            <a:ext cx="7342632" cy="1417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27271" y="6309360"/>
            <a:ext cx="7964424" cy="1280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55448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2880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0312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411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" y="1920240"/>
            <a:ext cx="5029200" cy="6400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" y="212140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88AABB"/>
                </a:solidFill>
                <a:latin typeface="Segoe UI"/>
              </a:rPr>
              <a:t>Design and Implementation of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2606040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AF9F6"/>
                </a:solidFill>
                <a:latin typeface="Segoe UI"/>
              </a:rPr>
              <a:t>ShuffleNet V2 Accelerator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5305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48A9C9"/>
                </a:solidFill>
                <a:latin typeface="Segoe UI"/>
              </a:rPr>
              <a:t>using RTL and HLS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4297680"/>
            <a:ext cx="5486400" cy="3474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4434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ABB"/>
                </a:solidFill>
                <a:latin typeface="Segoe UI"/>
              </a:rPr>
              <a:t>Graduation Project Discussion  |  Faculty of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8280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ABB"/>
                </a:solidFill>
                <a:latin typeface="Segoe UI"/>
              </a:rPr>
              <a:t>Academic Year 2025 –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5440680"/>
            <a:ext cx="4572000" cy="54864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5495544"/>
            <a:ext cx="4434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A9C9"/>
                </a:solidFill>
                <a:latin typeface="Segoe UI"/>
              </a:rPr>
              <a:t>  Target :  Xilinx Zynq UltraScale+  ZU19EG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9231" y="1005840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5184" y="1124712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AF9F6"/>
                </a:solidFill>
                <a:latin typeface="Segoe UI"/>
              </a:rPr>
              <a:t>What We Built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00584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50F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1005840"/>
            <a:ext cx="3840480" cy="9144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11430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0FA1E"/>
                </a:solidFill>
                <a:latin typeface="Segoe UI"/>
              </a:rPr>
              <a:t>1,216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fps throughput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100584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17720" y="1005840"/>
            <a:ext cx="3840480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11430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8A9C9"/>
                </a:solidFill>
                <a:latin typeface="Segoe UI"/>
              </a:rPr>
              <a:t>78.76%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DSP utilization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65176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50F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2651760"/>
            <a:ext cx="3840480" cy="9144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2788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0FA1E"/>
                </a:solidFill>
                <a:latin typeface="Segoe UI"/>
              </a:rPr>
              <a:t>9.156 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total power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65176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17720" y="2651760"/>
            <a:ext cx="3840480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7720" y="2788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8A9C9"/>
                </a:solidFill>
                <a:latin typeface="Segoe UI"/>
              </a:rPr>
              <a:t>0.0075 J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energy per frame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29768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50F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4297680"/>
            <a:ext cx="3840480" cy="9144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44348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0FA1E"/>
                </a:solidFill>
                <a:latin typeface="Segoe UI"/>
              </a:rPr>
              <a:t>+0.125 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WNS — timing closed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429768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617720" y="4297680"/>
            <a:ext cx="3840480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17720" y="44348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8A9C9"/>
                </a:solidFill>
                <a:latin typeface="Segoe UI"/>
              </a:rPr>
              <a:t>20x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more efficient than HLS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26364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AABB"/>
                </a:solidFill>
                <a:latin typeface="Segoe UI"/>
              </a:rPr>
              <a:t>One custom FPGA accelerator. ShuffleNet V2. Zynq UltraScale+ ZU19EG.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55448"/>
            <a:ext cx="1173449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AF9F6"/>
                </a:solidFill>
                <a:latin typeface="Segoe UI"/>
              </a:rPr>
              <a:t>Team XLR8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877824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48A9C9"/>
                </a:solidFill>
                <a:latin typeface="Segoe UI"/>
              </a:rPr>
              <a:t>Graduation Project Members — 2025 /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119" y="1572768"/>
            <a:ext cx="2651760" cy="416052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1119" y="1572768"/>
            <a:ext cx="2651760" cy="1188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01087" y="1773936"/>
            <a:ext cx="402336" cy="4023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37663" y="1801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Segoe U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326" y="2029968"/>
            <a:ext cx="1609344" cy="1609344"/>
          </a:xfrm>
          <a:prstGeom prst="rect">
            <a:avLst/>
          </a:prstGeom>
          <a:solidFill>
            <a:srgbClr val="081C2E"/>
          </a:solidFill>
          <a:ln w="127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759" y="257860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BB"/>
                </a:solidFill>
                <a:latin typeface="Segoe UI"/>
              </a:rPr>
              <a:t>[ PHOTO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847" y="3813048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F9F6"/>
                </a:solidFill>
                <a:latin typeface="Segoe UI"/>
              </a:rPr>
              <a:t>Ahmed Ahmed Nageeb
Ahmed Elbermawy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0847" y="4864608"/>
            <a:ext cx="2432304" cy="658368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5711" y="4910328"/>
            <a:ext cx="2322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8A9C9"/>
                </a:solidFill>
                <a:latin typeface="Segoe UI"/>
              </a:rPr>
              <a:t>RTL Architecture
&amp; Project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0351" y="1572768"/>
            <a:ext cx="2651760" cy="416052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70351" y="1572768"/>
            <a:ext cx="2651760" cy="1188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00319" y="1773936"/>
            <a:ext cx="402336" cy="4023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36895" y="1801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Segoe U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1558" y="2029968"/>
            <a:ext cx="1609344" cy="1609344"/>
          </a:xfrm>
          <a:prstGeom prst="rect">
            <a:avLst/>
          </a:prstGeom>
          <a:solidFill>
            <a:srgbClr val="081C2E"/>
          </a:solidFill>
          <a:ln w="127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18991" y="257860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BB"/>
                </a:solidFill>
                <a:latin typeface="Segoe UI"/>
              </a:rPr>
              <a:t>[ PHOTO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0079" y="3813048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F9F6"/>
                </a:solidFill>
                <a:latin typeface="Segoe UI"/>
              </a:rPr>
              <a:t>Yousef Abdulrahman
Abdulnabi Abdulrahman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0079" y="4864608"/>
            <a:ext cx="2432304" cy="658368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34943" y="4910328"/>
            <a:ext cx="2322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8A9C9"/>
                </a:solidFill>
                <a:latin typeface="Segoe UI"/>
              </a:rPr>
              <a:t>HLS Design
&amp; Verification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9583" y="1572768"/>
            <a:ext cx="2651760" cy="416052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9583" y="1572768"/>
            <a:ext cx="2651760" cy="1188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99551" y="1773936"/>
            <a:ext cx="402336" cy="4023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6127" y="1801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Segoe UI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90790" y="2029968"/>
            <a:ext cx="1609344" cy="1609344"/>
          </a:xfrm>
          <a:prstGeom prst="rect">
            <a:avLst/>
          </a:prstGeom>
          <a:solidFill>
            <a:srgbClr val="081C2E"/>
          </a:solidFill>
          <a:ln w="127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8223" y="257860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BB"/>
                </a:solidFill>
                <a:latin typeface="Segoe UI"/>
              </a:rPr>
              <a:t>[ PHOTO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9311" y="3813048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F9F6"/>
                </a:solidFill>
                <a:latin typeface="Segoe UI"/>
              </a:rPr>
              <a:t>Mohamed Ahmed
Roshdy Saad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9311" y="4864608"/>
            <a:ext cx="2432304" cy="658368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4175" y="4910328"/>
            <a:ext cx="2322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8A9C9"/>
                </a:solidFill>
                <a:latin typeface="Segoe UI"/>
              </a:rPr>
              <a:t>Software Model
&amp; Toolchain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68815" y="1572768"/>
            <a:ext cx="2651760" cy="416052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268815" y="1572768"/>
            <a:ext cx="2651760" cy="1188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298783" y="1773936"/>
            <a:ext cx="402336" cy="4023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335359" y="1801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Segoe UI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90022" y="2029968"/>
            <a:ext cx="1609344" cy="1609344"/>
          </a:xfrm>
          <a:prstGeom prst="rect">
            <a:avLst/>
          </a:prstGeom>
          <a:solidFill>
            <a:srgbClr val="081C2E"/>
          </a:solidFill>
          <a:ln w="127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17455" y="257860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BB"/>
                </a:solidFill>
                <a:latin typeface="Segoe UI"/>
              </a:rPr>
              <a:t>[ PHOTO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8543" y="3813048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F9F6"/>
                </a:solidFill>
                <a:latin typeface="Segoe UI"/>
              </a:rPr>
              <a:t>Basmala Hatem
Abdullah Mostafa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8543" y="4864608"/>
            <a:ext cx="2432304" cy="658368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33407" y="4910328"/>
            <a:ext cx="2322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8A9C9"/>
                </a:solidFill>
                <a:latin typeface="Segoe UI"/>
              </a:rPr>
              <a:t>Documentation
&amp;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6364224"/>
            <a:ext cx="10362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0FA1E"/>
                </a:solidFill>
                <a:latin typeface="Segoe UI"/>
              </a:rPr>
              <a:t>"Speed is our design principle."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55448"/>
            <a:ext cx="117344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9F6"/>
                </a:solidFill>
                <a:latin typeface="Segoe UI"/>
              </a:rPr>
              <a:t>Presentation Outline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877824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48A9C9"/>
                </a:solidFill>
                <a:latin typeface="Segoe UI"/>
              </a:rPr>
              <a:t>What we will cover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63040"/>
            <a:ext cx="5577840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463040"/>
            <a:ext cx="54864" cy="45720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15270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Segoe UI"/>
              </a:rPr>
              <a:t>  Act I — Introduction &amp;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96596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20299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1.   The Edge AI Challenge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6888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46888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5328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2.   Our Platform &amp;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7180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303580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3.   Q6.8 Quantization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7472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47472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53872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4.   Hardware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7764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97764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0416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5.   Verification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1463040"/>
            <a:ext cx="5577840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46520" y="1463040"/>
            <a:ext cx="54864" cy="45720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56248" y="15270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Segoe UI"/>
              </a:rPr>
              <a:t>  Act II — Results &amp; Conclusion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196596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46520" y="196596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56248" y="20299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6.   Synthesis Results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246888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46520" y="246888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56248" y="25328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7.   RTL vs HLS Comparison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297180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46520" y="297180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56248" y="303580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8.   Hardware Demo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347472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46520" y="347472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56248" y="353872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9.   Conclusion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97764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46520" y="397764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56248" y="40416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10.  Q&amp;A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9231" y="1005840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5184" y="1124712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11135" y="1243584"/>
            <a:ext cx="4434840" cy="9144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256032"/>
            <a:ext cx="137160" cy="1371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2688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25295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517904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0" y="685800"/>
            <a:ext cx="121916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02A44"/>
                </a:solidFill>
                <a:latin typeface="Segoe UI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600200"/>
            <a:ext cx="12191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081C2E"/>
                </a:solidFill>
                <a:latin typeface="Segoe U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703320"/>
            <a:ext cx="7068312" cy="5943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17520" y="3767328"/>
            <a:ext cx="6153912" cy="2743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0" y="3931920"/>
            <a:ext cx="121916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AF9F6"/>
                </a:solidFill>
                <a:latin typeface="Segoe UI"/>
              </a:rPr>
              <a:t>INTRODUCTION &amp; DESIGN JOURNEY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956048"/>
            <a:ext cx="8168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AABB"/>
                </a:solidFill>
                <a:latin typeface="Segoe UI"/>
              </a:rPr>
              <a:t>From the first transistor to real-time AI inference on FPGA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The Edge AI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Why cloud AI fails at the edge — and what it takes to fix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VLSI + AI: 60 Years of Convergence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Two independent revolutions that collided in the 2010s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1958 — Jack Kilby invents the IC: 6 transistors on germanium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Moore’s Law (1965): transistor count doubles every ~18 months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▸  2023 — Apple M3: 19 billion transistors on a single chip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1957 — Rosenblatt’s Perceptron: the first artificial neuron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▸  2012 — AlexNet wins ImageNet with a GPU: the AI breakthrough moment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Today — AI compute demand grows 10× per year; hardware barely keeps up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The answer is custom hardware — and FPGAs are the programmable path to it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89888"/>
            <a:ext cx="59893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Power vs. Performance — The Edge AI 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Cloud GPUs are overkill. Embedded ARM is too slow. FPGAs hit the sweet spot.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1.3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Why Cloud AI Fails at the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The embedded edge demands intelligence without the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Latency: 50–500 ms round trip — useless for real-time control or robotics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Privacy: raw video leaves the device and travels the internet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Bandwidth: streaming HD to the cloud consumes significant network resources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Reliability: no connectivity = no AI — fails in tunnels, remote sites, factories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Power: a data-center GPU draws 300 W — impossible on a battery or embedded rail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Edge AI — run the model locally, on the device itself: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Sub-millisecond latency — data stays on device — works offline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Requires a power budget of watts, not kilowatts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Our solution: ShuffleNet V2 on Zynq UltraScale+ ZU19EG — 1,216 fps at 9.156 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Platform &amp;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Choosing the right hardware and the right neural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Our Platform — iWave ZU19EG SoC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ARM PS runs Linux and controls the system. Custom PL runs ShuffleNet at 100 MHz.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Why ShuffleNet V2?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ShuffleNet V2 x1.0 (Ma et al., ECCV 2018) — designed for hardware efficiency: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146 M MACs per 224×224 image — lowest among competitive CNNs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71.8% Top-1 accuracy on ImageNet (PyTorch pretrained)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2.3 M parameters — fits entirely in on-chip BRAM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Why it maps perfectly to FPGA hardware: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Equal channel widths minimize memory access cost (analytically proven in the paper)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Depthwise separable convolutions map directly to our parallel filter unit design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No batch normalization in inference (folded into weights) — simpler hardware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Avoids element-wise add — uses concat instead (cheaper on FPGA)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▸  Full pipeline: Conv1 → MaxPool → 16 Shuffle Blocks → Conv5 → AvgPool → FC → Top-1 class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89888"/>
            <a:ext cx="59893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ShuffleNet V2 — Architecture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3 hardware groups processing 3 different images concurrently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Computational Profile — Where the MACs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146 M total MACs per inference — distributed across all layers: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Conv1 (3×3): 43 M MACs — 24 parallel filter units process this stage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Stage 2–4 (DW+PW): 72 M MACs — 58 parallel DW + 58 parallel PW filter units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Conv5 + AvgPool + FC: 24 M MACs — Group 3, the pipeline bottleneck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Group 3 (822 μs) is the bottleneck — pipeline throughput = 1/822μs = 1,216 fps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All hardware parallelism decisions flow from this analysis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89888"/>
            <a:ext cx="59893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Q6.8 Quantization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Turning floating-point weights into pure integers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3.1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Q6.8 Fixed-Point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15-bit signed: 1 sign + 6 integer + 8 fractional bits. No floating-point hardware needed.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3.2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The Quantization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PyTorch → BN-folding → Q6.8 quantization → bit-true Python → RTL-ready hex 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Step 1 — Load pretrained weights from PyTorch (float32, 71.8% Top-1)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Step 2 — Batch Normalization Folding: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8AABB"/>
                </a:solidFill>
                <a:latin typeface="Segoe UI"/>
              </a:rPr>
              <a:t>      •  Absorb BN scale/shift into preceding Conv: w’ = w×(γ/σ), b’ = (b−μ)×(γ/σ)+β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8AABB"/>
                </a:solidFill>
                <a:latin typeface="Segoe UI"/>
              </a:rPr>
              <a:t>      •  Result: only Conv + ReLU remain — no BN hardware needed at all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Step 3 — Q6.8 quantization: multiply by 256, round to nearest integer, clamp to 15-bit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Step 4 — Build a bit-true Python model that mirrors exact hardware arithmetic: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8AABB"/>
                </a:solidFill>
                <a:latin typeface="Segoe UI"/>
              </a:rPr>
              <a:t>      •  Integer MACs, right-shift accumulation, saturating clamping, ReLU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8AABB"/>
                </a:solidFill>
                <a:latin typeface="Segoe UI"/>
              </a:rPr>
              <a:t>      •  3 arithmetic bugs found and fixed during development (see Q&amp;A backup slides)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Step 5 — Accuracy validation: ~71% Top-1 retained after quantization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▸  Step 6 — Export weights as .hex files → $readmemh → synthesized BRAMs and ROMs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Per-layer bit-width optimization: G1=12-bit, G2-DW=15-bit, G2-PW=11-bit, FC=9-bit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Hardware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50 modules, 48 testbenches, 1 silicon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3-Group Pipelined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Group 1, 2, and 3 run concurrently on 3 different frames at all times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Pipeline Timing — How 1,216 fps is Achieved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G3 at 822 us is the bottleneck. Pipeline throughput = 1/822 us = 1,216 fps.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The Shuffle Block — Our Key Design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Each of the 16 shuffle blocks in Group 2 processes one stage of the network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Full ShuffleNet V2: Branch 2 runs PW1×1 → DW3×3 → PW2×1 (3 sequential convolutions)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▸  Our RTL design — a deliberate architectural choice: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•  DW3×3 ∥ PW1×1 — both run simultaneously as a single parallel stage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Why this choice was made: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Eliminates the PW1 multiplier bank — saves DSPs and BRAM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No intermediate buffer between PW1 and DW — saves BRAM tiles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Reduces Group 2 latency — better overall pipeline balance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Trade-off: hardware computes different operations from the trained model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Full hardware accuracy measurement requires board testing (in progress)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Our HLS implementation uses the full PW→DW→PW for rigorous comparison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89888"/>
            <a:ext cx="59893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Group 1 — Conv3×3 + MaxPool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648 MACs/cycle in G1, 58+58 in G2, 32 in G3 — spatial parallelism at every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24 parallel filter units × 3 input channels × 9 taps = 648 MACs per clock cycle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3-cycle spatial accumulation: one column of taps per cycle — no idle cycles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FIFO-based streaming: pixels flow conv3×3 → maxpool without intermediate storage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Weights: LUT-based ROM, 648 entries × 12-bit BN-folded Q2.9 values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▸  Group 2 — 16 Shuffle Blocks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58 parallel DW filter units — each owns its own 9-tap data slice (depthwise property)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58 parallel PW filter units — all share the same 29 input channels (pointwise property)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group2_fifo: variable-depth shift-register FIFO — 4 widths (7, 14, 28, 56 stages)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A060E0"/>
                </a:solidFill>
                <a:latin typeface="Segoe UI"/>
              </a:rPr>
              <a:t>▸  Group 3 — AvgPool + FC (the bottleneck)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16 parallel 1×1 PW filter units → 1024-element vector via register file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32 parallel FC filter units + adder_tree_32 — argmax gives class_idx 0–999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Group 3 latency = 822 μs — sets pipeline throughput ceiling at 1,216 fps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Memory Architecture — Zero DRAM During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Every weight and every activation lives on-chip. No external memory access.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AXI4-Lite Memory Map — PS to PL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Linux writes 150,528 pixels, sets photo_ready, polls done, reads class_idx.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System Integration — Block Design &amp; Synthesis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One script chain from source to bitstream, fully repeatable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Vivado Block Design: Zynq PS + SmartConnect + shufflenet_board_top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PS AXI master → SmartConnect → AXI4-Lite slave (0xA000_0000, 32 MB range)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shufflenet_board_top.v: MMCM (100 MHz) + AXI slave + accelerator_top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Split synthesis flow — 4 Tcl scripts (required by peak RAM constraints):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Part 0: Group 1 OOC synthesis (~3 min)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Part 1: Group 2 OOC synthesis (~9 min)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Part 2: Group 3 OOC synthesis (~11 min)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Part 3: Top-level synth + P&amp;R — injects group DCPs via read_checkpoint -cell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Outputs: shufflenet.bit (34.7 MB) + shufflenet_routed.dcp (85.2 MB) + shufflenet.xsa (6.1 MB)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▸  One chip, two subsystems: ARM Linux PS + ShuffleNet RTL PL, talking over AXI4-Lite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48 testbenches. Zero surprises at synthesis.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5.1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Verification Flow — Bottom-Up, Python-Driven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Every module independently verified against a bit-true Python golden model before integration.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Verification by the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No surprises at synthesis. Every line of RTL was tested before it was integrated.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Bottom-up strategy: primitives → cores → group tops → system top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50 synthesizable RTL modules, 48 self-checking Verilog testbenches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Key test coverage: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mac_unit.v: 213 vectors — normal, saturation, zero, all corner cases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adder_tree_9.v: random + structured + all-same input vectors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group2_fifo: 1,040 step-checks across 8 width/depth configurations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weights_rom_3x3: 648 / 648 vectors — real BN-folded Q2.9 weights, max error &lt; 1 LSB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conv3x3_core, maxpool_core, avg_pool_core: full spatial pass with golden output compare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accelerator_top: 8 structural smoke-test checks at integration level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▸  3 Q6.8 arithmetic bugs found and fixed during development: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MAC rounding, conv layer shift, avgpool shift — all caught by Python golden model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All 48 testbenches pass — zero failing endpoints entering synthesis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9231" y="1005840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5184" y="1124712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11135" y="1243584"/>
            <a:ext cx="4434840" cy="9144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256032"/>
            <a:ext cx="137160" cy="1371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2688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25295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517904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0" y="685800"/>
            <a:ext cx="121916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02A44"/>
                </a:solidFill>
                <a:latin typeface="Segoe UI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600200"/>
            <a:ext cx="12191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081C2E"/>
                </a:solidFill>
                <a:latin typeface="Segoe U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703320"/>
            <a:ext cx="7068312" cy="5943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17520" y="3767328"/>
            <a:ext cx="6153912" cy="2743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0" y="3931920"/>
            <a:ext cx="121916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AF9F6"/>
                </a:solidFill>
                <a:latin typeface="Segoe UI"/>
              </a:rPr>
              <a:t>RESULTS &amp;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956048"/>
            <a:ext cx="8168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AABB"/>
                </a:solidFill>
                <a:latin typeface="Segoe UI"/>
              </a:rPr>
              <a:t>Numbers do not lie — what the hardware actually achieved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Synthesis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Post place-and-route on real silicon — not estimates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6.1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Resource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LUT 13.07%  |  DSP 78.76%  |  BRAM 55.95%  —  all targets met, room to grow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6.2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Timing &amp; Performance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Target: 100 MHz clock on xczu19eg-ffvc1760-1-i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Post place-and-route timing result: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•  WNS = +0.125 ns  →  TIMING CLOSED ✓  —  zero failing endpoints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Clock period = 10.000 ns  |  Worst slack = +0.125 ns  |  All paths met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Pipeline throughput: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Group 1 latency: 633 μs  |  Group 2: 798 μs  |  Group 3: 822 μs (bottleneck)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•  Throughput = 1 / 822 μs = 1,216 fps — 40× the 30 fps real-time requirement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Power &amp; energy: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•  Total power: 9.156 W  |  Energy per frame: 0.0075 J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▸  FF: 10.21%  |  LUT: 13.07%  |  DSP: 78.76%  |  BRAM: 55.95%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89888"/>
            <a:ext cx="59893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6.3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Power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9.156 W total. DSP switching dominates. 0.0075 J per classified image.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RTL vs HLS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The same model. Two methodologies. One clear winner.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7.1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HLS Implementation — 4 Progressive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Same model, same quantization, same target device — different design philosophy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Tool: Vitis HLS 2024.2  |  Same ShuffleNet V2 x1.0  |  Full PW→DW→PW architecture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Model 1 — Baseline: plain C++, no pragmas (establishes C-sim ground truth)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Model 2 — Pipeline: #pragma HLS PIPELINE on innermost loops only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C-synth on Virtex-7: 150.4 M cycles at 7.10 ns period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Model 3 — Parallelism: PIPELINE + UNROLL + DATAFLOW + sub-function decomposition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0FA1E"/>
                </a:solidFill>
                <a:latin typeface="Segoe UI"/>
              </a:rPr>
              <a:t>      •  C-synth on ZU19EG: 22.1 M cycles at 7.28 ns — class 207 verified correct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Model 4 — Final: Model 3 + dynamic quantization + quad-window maxpool + dual-window DW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0FA1E"/>
                </a:solidFill>
                <a:latin typeface="Segoe UI"/>
              </a:rPr>
              <a:t>      •  C-synth on ZU19EG: 21.8 M cycles at 5.11 ns — fastest HLS result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▸  Key challenge: full UNROLL on 464-channel loops → HLS scheduler hangs (38+ min)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Fix: reduce UNROLL factors to 4 in 3 functions — scheduler completes in minutes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P&amp;R infeasible: HLS-generated design exceeds device resources before pragma tuning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7.2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RTL vs HLS — Progressive Optimization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49x throughput advantage. 20x energy advantage. RTL wins decisively.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7.3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Throughput vs Related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1,216 fps on ZU19EG — 8.75x better than the best prior RTL work on similar models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7.4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RTL vs HLS — Complete Comparison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* HLS: C-synthesis estimates pre-P&amp;R. RTL: measured post place-and-route on real ZU19EG.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44752"/>
            <a:ext cx="2011680" cy="53035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152704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444752"/>
            <a:ext cx="2468880" cy="53035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32888" y="152704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Our RTL (ZU19EG)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444752"/>
            <a:ext cx="2651760" cy="53035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152704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HLS Final (ZU19EG*)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444752"/>
            <a:ext cx="1828800" cy="53035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53528" y="15270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Advantage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9751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" y="20482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Clock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19751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32888" y="20482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100 MHz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9751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2048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80 MHz (C-synth est.)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9751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53528" y="20482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RTL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323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8" y="25054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Latency/frame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24323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32888" y="25054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822 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24323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01768" y="2505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40.26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4323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53528" y="25054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RTL (49x)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895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1208" y="29626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Throughput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28895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32888" y="29626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1,216 fps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28895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01768" y="29626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24.84 fps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28895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53528" y="2962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RTL (49x)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3467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1208" y="34198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LUT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33467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32888" y="34198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13.07%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33467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01768" y="3419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~46%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33467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653528" y="34198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RTL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8039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1208" y="38770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DSP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0" y="38039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532888" y="38770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78.76%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38039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01768" y="3877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~54%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38039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653528" y="38770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Comparable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2611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21208" y="43342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BRAM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68880" y="42611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532888" y="43342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55.95%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37760" y="42611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01768" y="4334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~80%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0" y="42611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53528" y="43342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RTL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7183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21208" y="47914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Total Power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68880" y="47183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532888" y="47914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9.156 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37760" y="47183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01768" y="4791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3.828 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89520" y="47183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653528" y="47914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HLS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51755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21208" y="52486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Energy/frame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68880" y="51755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532888" y="52486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0.0075 J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37760" y="51755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01768" y="52486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0.154 J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89520" y="51755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653528" y="5248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RTL (20x)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6327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21208" y="57058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Design Effort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68880" y="56327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532888" y="57058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High (months)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37760" y="56327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01768" y="5705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Low (days)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589520" y="56327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653528" y="57058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HLS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60899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21208" y="61630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Accuracy (sw)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68880" y="60899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532888" y="61630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~71% Top-1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60899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001768" y="6163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~71% Top-1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89520" y="60899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653528" y="61630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Equal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89888"/>
            <a:ext cx="5806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Hardware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From bitstream to inference in under 5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8.1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Board Setup — ZU19EG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Hardware: iWave iW-G35M SOM with Xilinx Zynq UltraScale+ ZU19EG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PS: ARM Cortex-A53 quad-core running Linux  |  PL: 522K LUTs, 1968 DSPs, 984 BRAM36K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Step 1: Program bitstream via Vivado Hardware Manager (JTAG)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File: shufflenet.bit (34.7 MB) — loads in ~10 seconds. DONE LED lights up.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Step 2: Prepare test image on PC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•  python sw/gen_test_image.py --image photo.jpg --out image.bin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Output: 150,528 bytes — 224×224×3 planar RGB (R then G then B), 8-bit/pixel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Step 3: Transfer, compile, run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•  scp shufflenet_test.c image.bin root@&lt;board-ip&gt;:~/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•  gcc -O2 -o shufflenet_test shufflenet_test.c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•  sudo ./shufflenet_test image.bin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89888"/>
            <a:ext cx="59893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8.2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Inference Demo — Expected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150K AXI writes + 0.8 ms pipeline inference = real-time classification at the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shufflenet_test.c opens /dev/mem and mmap’s 0xA000_0000 (32 MB window)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Writes all 150,528 pixels via memory-mapped AXI — one 32-bit write per pixel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Sets photo_ready CSR bit — inference starts on the next clock cycle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Polls classification_done bit every 1 ms — asserts after ~0.8 ms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Reads class_idx[9:0] from CSR — maps to ImageNet label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Expected terminal output: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•  Image loaded: image.bin  (50176 pixels x 3 channels)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•  Writing to photo memory (ping buffer, mem_select=0)...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50FA1E"/>
                </a:solidFill>
                <a:latin typeface="Segoe UI"/>
              </a:rPr>
              <a:t>      •  === INFERENCE RESULT ===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50FA1E"/>
                </a:solidFill>
                <a:latin typeface="Segoe UI"/>
              </a:rPr>
              <a:t>      •    class_idx  :  207   (Golden Retriever)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50FA1E"/>
                </a:solidFill>
                <a:latin typeface="Segoe UI"/>
              </a:rPr>
              <a:t>      •    inference  :  0.8 ms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▸  [ LIVE BOARD DEMO — show actual hardware inference here 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All objectives delivered. With numbers.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9.1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All Objectives —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Defined before design began. Measured post place-and-route. All three met.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11643055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9.2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Key Contributions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Six contributions that stand independently beyond this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1.  Complete, verified RTL accelerator for ShuffleNet V2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50 Verilog modules, 48 self-checking testbenches, all passing, synthesizable on ZU19EG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2.  End-to-end Q6.8 fixed-point toolchain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PyTorch → BN folding → quantization → bit-true Python model → hex weights → BRAM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3 arithmetic bugs found and fixed before hardware synthesis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3.  Progressive 4-model HLS implementation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Baseline → Pipeline → Parallelism → Final: rigorous methodology, 4 C-sim passes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4.  Quantified RTL vs HLS comparison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20× energy efficiency advantage, 49× throughput advantage — measured on same model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5.  Production-ready integration package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AXI4-Lite interface, Linux test app, XSA hardware platform (6.1 MB), JTAG-programmable bitstream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6.  Split OOC synthesis flow for large designs under RAM constraints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4-script reproducible flow with DCP injection — documented and available on GitHub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A solid foundation — one step away from a commercial product or ASIC tape-out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1.  Full physical board validation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Run shufflenet_test.c on physical ZU19EG — measure actual inference time and accuracy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2.  Quantization-aware retraining for the DW∥PW architecture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Fine-tune the PyTorch model with Q6.8 constraints and the simplified topology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3.  Extend to other lightweight models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Apply the same RTL methodology to MobileNetV2 and EfficientNet-Lite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4.  ASIC migration path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Use this verified RTL as the basis for a tape-out — estimated 10–50× power reduction vs FPGA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5.  Complete HLS place-and-route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Reduce UNROLL factors further → enable full P&amp;R for complete HLS comparison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6.  Real-time object detection extension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Replace classification head with YOLO-style detection head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9.4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Closing — The Convergence,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From the first transistor in 1958 to 1,216 fps of real-time AI — the convergence, delivered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We opened with a question: how do you bring AI intelligence to the embedded edge?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We traced the journey from its roots: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1958: the first integrated circuit — 6 transistors on a germanium chip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1957: the first artificial neuron — a single weighted sum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2024: our ShuffleNet V2 RTL — billions of transistors, 146 M MACs per frame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We answered the edge AI challenge with a custom silicon mindset on programmable hardware: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•  1,216 fps at 9.156 W on a single FPGA evaluation board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0FA1E"/>
                </a:solidFill>
                <a:latin typeface="Segoe UI"/>
              </a:rPr>
              <a:t>      •  20× more energy-efficient than the best HLS alternative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0FA1E"/>
                </a:solidFill>
                <a:latin typeface="Segoe UI"/>
              </a:rPr>
              <a:t>      •  Fully verified, 48 passing testbenches, open-source on GitHub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▸  When the workload is fixed and the constraints are tight, custom hardware wins.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▸  FPGAs give you that custom hardware today — without a 2-year ASIC tape-out.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▸  Team XLR8. We designed for speed — because every microsecond matters.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Questions, discussion, and backup slides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10.1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Backup Slides — Ready for Committee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Prepared answers for the 4 most likely technical committee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Q6.8 Arithmetic Bugs Found and Fixed: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Bug 1: MAC rounding — (d×w)&gt;&gt;7 wrong → correct: ((d×w)+64)&gt;&gt;7 (round-to-nearest)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Bug 2: Missing &gt;&gt;1 in conv layer before bias add → outputs exactly 2× too large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Bug 3: AvgPool shift &gt;&gt;7 instead of &gt;&gt;8 → 2× error in global average pooling output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All 3 diagnosed via bit-true Python shadow model and fixed before hardware synthesis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DW∥PW Design Tradeoff Defense: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Eliminates one full PW1 conv bank — saves DSPs and intermediate BRAM buffer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Explicitly documented as a deliberate area/latency optimization decision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HLS uses full PW→DW→PW for rigorous comparison — not the simplified version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Power Breakdown (9.156 W):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DSP switching ~4.2 W  |  BRAM ~1.8 W  |  Routing + clock ~2.1 W  |  Logic ~1.0 W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▸  Split Synthesis Flow Rationale: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•  Group 3 OOC crashed at 28 GB RAM → split to G3-no-FC + fc_core separately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91695" cy="594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9231" y="1005840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5184" y="1124712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11135" y="1243584"/>
            <a:ext cx="4434840" cy="9144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27087" y="1362456"/>
            <a:ext cx="4818888" cy="822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3039" y="1481328"/>
            <a:ext cx="5202936" cy="8229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" y="5805343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0" y="822960"/>
            <a:ext cx="12191695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800" b="1" i="0">
                <a:solidFill>
                  <a:srgbClr val="48A9C9"/>
                </a:solidFill>
                <a:latin typeface="Segoe UI"/>
              </a:rPr>
              <a:t>Q&amp;A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520440"/>
            <a:ext cx="7616952" cy="5943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0" y="3584448"/>
            <a:ext cx="6702552" cy="2743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0" y="3749039"/>
            <a:ext cx="12191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 i="0">
                <a:solidFill>
                  <a:srgbClr val="FAF9F6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617720"/>
            <a:ext cx="70710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8AABB"/>
                </a:solidFill>
                <a:latin typeface="Segoe UI"/>
              </a:rPr>
              <a:t>We are ready to defend every design decision.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0FA1E"/>
                </a:solidFill>
                <a:latin typeface="Segoe UI"/>
              </a:rPr>
              <a:t>Team XLR8  |  Graduation Project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3551</Words>
  <Application>Microsoft Office PowerPoint</Application>
  <PresentationFormat>Widescreen</PresentationFormat>
  <Paragraphs>423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Ahmed</cp:lastModifiedBy>
  <cp:revision>2</cp:revision>
  <dcterms:created xsi:type="dcterms:W3CDTF">2013-01-27T09:14:16Z</dcterms:created>
  <dcterms:modified xsi:type="dcterms:W3CDTF">2026-06-28T16:03:08Z</dcterms:modified>
  <cp:category/>
</cp:coreProperties>
</file>